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67" r:id="rId4"/>
    <p:sldId id="276" r:id="rId5"/>
    <p:sldId id="268" r:id="rId6"/>
    <p:sldId id="269" r:id="rId7"/>
    <p:sldId id="270" r:id="rId8"/>
    <p:sldId id="271" r:id="rId9"/>
    <p:sldId id="272" r:id="rId10"/>
    <p:sldId id="273" r:id="rId11"/>
    <p:sldId id="277" r:id="rId12"/>
    <p:sldId id="278" r:id="rId13"/>
    <p:sldId id="275" r:id="rId14"/>
    <p:sldId id="281" r:id="rId15"/>
    <p:sldId id="279" r:id="rId16"/>
    <p:sldId id="283" r:id="rId17"/>
    <p:sldId id="284" r:id="rId18"/>
    <p:sldId id="282" r:id="rId19"/>
    <p:sldId id="274" r:id="rId20"/>
    <p:sldId id="266" r:id="rId21"/>
  </p:sldIdLst>
  <p:sldSz cx="4610100" cy="3460750"/>
  <p:notesSz cx="4610100" cy="346075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7079" autoAdjust="0"/>
  </p:normalViewPr>
  <p:slideViewPr>
    <p:cSldViewPr>
      <p:cViewPr>
        <p:scale>
          <a:sx n="70" d="100"/>
          <a:sy n="70" d="100"/>
        </p:scale>
        <p:origin x="2382"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6C248D4F-4833-4A18-8C3F-F85FD19F7818}" type="datetimeFigureOut">
              <a:rPr lang="es-AR" smtClean="0"/>
              <a:t>10/5/2022</a:t>
            </a:fld>
            <a:endParaRPr lang="es-AR"/>
          </a:p>
        </p:txBody>
      </p:sp>
      <p:sp>
        <p:nvSpPr>
          <p:cNvPr id="4" name="Marcador de imagen de diapositiva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F479C52E-53D7-4F7D-87B2-09C1F709BFF4}" type="slidenum">
              <a:rPr lang="es-AR" smtClean="0"/>
              <a:t>‹Nº›</a:t>
            </a:fld>
            <a:endParaRPr lang="es-AR"/>
          </a:p>
        </p:txBody>
      </p:sp>
    </p:spTree>
    <p:extLst>
      <p:ext uri="{BB962C8B-B14F-4D97-AF65-F5344CB8AC3E}">
        <p14:creationId xmlns:p14="http://schemas.microsoft.com/office/powerpoint/2010/main" val="910667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r>
              <a:rPr lang="es-AR" sz="1200" dirty="0">
                <a:latin typeface="Times New Roman" panose="02020603050405020304" pitchFamily="18" charset="0"/>
                <a:cs typeface="Times New Roman" panose="02020603050405020304" pitchFamily="18" charset="0"/>
              </a:rPr>
              <a:t>Hola. Buenos días. Espero que estén bien.</a:t>
            </a:r>
          </a:p>
          <a:p>
            <a:pPr algn="just"/>
            <a:endParaRPr lang="es-AR" sz="1200" dirty="0">
              <a:latin typeface="Times New Roman" panose="02020603050405020304" pitchFamily="18" charset="0"/>
              <a:cs typeface="Times New Roman" panose="02020603050405020304" pitchFamily="18" charset="0"/>
            </a:endParaRPr>
          </a:p>
          <a:p>
            <a:pPr algn="just"/>
            <a:r>
              <a:rPr lang="es-AR" sz="1200" dirty="0">
                <a:latin typeface="Times New Roman" panose="02020603050405020304" pitchFamily="18" charset="0"/>
                <a:cs typeface="Times New Roman" panose="02020603050405020304" pitchFamily="18" charset="0"/>
              </a:rPr>
              <a:t>A continuación, les presentaré una síntesis de lo abordado en mi trabajo de tesis de Maestría en Economía, titulado “Evolución de la pobreza monetaria en Colombia: Un análisis de descomposiciones y microsimulaciones”, dirigido por Javier Alejo y codirigido por Leonardo Gasparini.</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a:t>
            </a:fld>
            <a:endParaRPr lang="es-AR"/>
          </a:p>
        </p:txBody>
      </p:sp>
    </p:spTree>
    <p:extLst>
      <p:ext uri="{BB962C8B-B14F-4D97-AF65-F5344CB8AC3E}">
        <p14:creationId xmlns:p14="http://schemas.microsoft.com/office/powerpoint/2010/main" val="2299610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r>
              <a:rPr lang="es-AR" dirty="0">
                <a:latin typeface="Times New Roman" panose="02020603050405020304" pitchFamily="18" charset="0"/>
                <a:cs typeface="Times New Roman" panose="02020603050405020304" pitchFamily="18" charset="0"/>
              </a:rPr>
              <a:t>Sintéticamente, la presentación consta de:</a:t>
            </a:r>
          </a:p>
          <a:p>
            <a:pPr algn="just"/>
            <a:endParaRPr lang="es-AR" dirty="0">
              <a:latin typeface="Times New Roman" panose="02020603050405020304" pitchFamily="18" charset="0"/>
              <a:cs typeface="Times New Roman" panose="02020603050405020304" pitchFamily="18" charset="0"/>
            </a:endParaRPr>
          </a:p>
          <a:p>
            <a:pPr marL="228600" indent="-228600" algn="just">
              <a:buAutoNum type="arabicParenBoth"/>
            </a:pPr>
            <a:r>
              <a:rPr lang="es-AR" dirty="0">
                <a:latin typeface="Times New Roman" panose="02020603050405020304" pitchFamily="18" charset="0"/>
                <a:cs typeface="Times New Roman" panose="02020603050405020304" pitchFamily="18" charset="0"/>
              </a:rPr>
              <a:t>Una breve introducción.</a:t>
            </a:r>
          </a:p>
          <a:p>
            <a:pPr marL="228600" indent="-228600" algn="just">
              <a:buAutoNum type="arabicParenBoth"/>
            </a:pPr>
            <a:r>
              <a:rPr lang="es-AR" dirty="0">
                <a:latin typeface="Times New Roman" panose="02020603050405020304" pitchFamily="18" charset="0"/>
                <a:cs typeface="Times New Roman" panose="02020603050405020304" pitchFamily="18" charset="0"/>
              </a:rPr>
              <a:t>El objetivo del trabajo.</a:t>
            </a:r>
          </a:p>
          <a:p>
            <a:pPr marL="228600" indent="-228600" algn="just">
              <a:buAutoNum type="arabicParenBoth"/>
            </a:pPr>
            <a:r>
              <a:rPr lang="es-AR" dirty="0">
                <a:latin typeface="Times New Roman" panose="02020603050405020304" pitchFamily="18" charset="0"/>
                <a:cs typeface="Times New Roman" panose="02020603050405020304" pitchFamily="18" charset="0"/>
              </a:rPr>
              <a:t>La descripción de la fuente de datos y estadísticas descriptivas de la pobreza monetaria en Colombia para el período 2002-2018.</a:t>
            </a:r>
          </a:p>
          <a:p>
            <a:pPr marL="228600" indent="-228600" algn="just">
              <a:buAutoNum type="arabicParenBoth"/>
            </a:pPr>
            <a:r>
              <a:rPr lang="es-AR" dirty="0">
                <a:latin typeface="Times New Roman" panose="02020603050405020304" pitchFamily="18" charset="0"/>
                <a:cs typeface="Times New Roman" panose="02020603050405020304" pitchFamily="18" charset="0"/>
              </a:rPr>
              <a:t>La metodología.</a:t>
            </a:r>
          </a:p>
          <a:p>
            <a:pPr marL="228600" indent="-228600" algn="just">
              <a:buAutoNum type="arabicParenBoth"/>
            </a:pPr>
            <a:r>
              <a:rPr lang="es-AR" dirty="0">
                <a:latin typeface="Times New Roman" panose="02020603050405020304" pitchFamily="18" charset="0"/>
                <a:cs typeface="Times New Roman" panose="02020603050405020304" pitchFamily="18" charset="0"/>
              </a:rPr>
              <a:t>Los principales resultados.</a:t>
            </a:r>
          </a:p>
          <a:p>
            <a:pPr marL="228600" indent="-228600" algn="just">
              <a:buAutoNum type="arabicParenBoth"/>
            </a:pPr>
            <a:r>
              <a:rPr lang="es-AR" dirty="0">
                <a:latin typeface="Times New Roman" panose="02020603050405020304" pitchFamily="18" charset="0"/>
                <a:cs typeface="Times New Roman" panose="02020603050405020304" pitchFamily="18" charset="0"/>
              </a:rPr>
              <a:t>Y, finalmente, las conclusiones.</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2</a:t>
            </a:fld>
            <a:endParaRPr lang="es-AR"/>
          </a:p>
        </p:txBody>
      </p:sp>
    </p:spTree>
    <p:extLst>
      <p:ext uri="{BB962C8B-B14F-4D97-AF65-F5344CB8AC3E}">
        <p14:creationId xmlns:p14="http://schemas.microsoft.com/office/powerpoint/2010/main" val="3918826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dirty="0">
                <a:latin typeface="Times New Roman" panose="02020603050405020304" pitchFamily="18" charset="0"/>
                <a:cs typeface="Times New Roman" panose="02020603050405020304" pitchFamily="18" charset="0"/>
              </a:rPr>
              <a:t>Como veremos más adelante, en Colombia, la pobreza monetaria se redujo de manera significativa en las últimas dos décadas, al unísono con lo acontecido en la mayoría de los países de la región.</a:t>
            </a:r>
          </a:p>
          <a:p>
            <a:pPr marL="228600" indent="-228600" algn="just">
              <a:buAutoNum type="arabicParenBoth"/>
            </a:pPr>
            <a:r>
              <a:rPr lang="es-AR" dirty="0">
                <a:latin typeface="Times New Roman" panose="02020603050405020304" pitchFamily="18" charset="0"/>
                <a:cs typeface="Times New Roman" panose="02020603050405020304" pitchFamily="18" charset="0"/>
              </a:rPr>
              <a:t>Sin embargo, al observar las tasas de incidencia de la pobreza monetaria, se tienen importantes diferencias entre grandes y pequeñas ciudades.</a:t>
            </a:r>
          </a:p>
          <a:p>
            <a:pPr marL="228600" indent="-228600" algn="just">
              <a:buAutoNum type="arabicParenBoth"/>
            </a:pPr>
            <a:r>
              <a:rPr lang="es-AR" dirty="0">
                <a:latin typeface="Times New Roman" panose="02020603050405020304" pitchFamily="18" charset="0"/>
                <a:cs typeface="Times New Roman" panose="02020603050405020304" pitchFamily="18" charset="0"/>
              </a:rPr>
              <a:t>Por ejemplo, para el año 2018, en ciudades pequeñas como Quibdó y Riohacha, la tasa de incidencia superó el 47 por ciento, mientras que, en ciudades grandes como Bogotá y Medellín, estuvo por debajo del 14 por ciento.</a:t>
            </a:r>
          </a:p>
          <a:p>
            <a:pPr marL="228600" indent="-228600" algn="just">
              <a:buAutoNum type="arabicParenBoth"/>
            </a:pPr>
            <a:r>
              <a:rPr lang="es-AR" dirty="0">
                <a:latin typeface="Times New Roman" panose="02020603050405020304" pitchFamily="18" charset="0"/>
                <a:cs typeface="Times New Roman" panose="02020603050405020304" pitchFamily="18" charset="0"/>
              </a:rPr>
              <a:t>Es así que entender los factores asociados a la dinámica de la pobreza monetaria desde una perspectiva agregada y regional es de gran interés y relevancia para la política pública colombiana.</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3</a:t>
            </a:fld>
            <a:endParaRPr lang="es-AR"/>
          </a:p>
        </p:txBody>
      </p:sp>
    </p:spTree>
    <p:extLst>
      <p:ext uri="{BB962C8B-B14F-4D97-AF65-F5344CB8AC3E}">
        <p14:creationId xmlns:p14="http://schemas.microsoft.com/office/powerpoint/2010/main" val="2149738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effectLst/>
                <a:latin typeface="Times New Roman" panose="02020603050405020304" pitchFamily="18" charset="0"/>
                <a:ea typeface="Calibri" panose="020F0502020204030204" pitchFamily="34" charset="0"/>
              </a:rPr>
              <a:t>En esta línea, el objetivo de este trabajo fue estudiar la influencia que han tenido, por un lado, el crecimiento de los ingresos, los cambios distributivos y la variación de los precios locales y, por otro lado, las características económicas y sociodemográficas de los hogares sobre la evolución de la pobreza monetaria en Colombia durante el período 2002-2018, siempre considerando la heterogeneidad a lo largo del país.</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4</a:t>
            </a:fld>
            <a:endParaRPr lang="es-AR"/>
          </a:p>
        </p:txBody>
      </p:sp>
    </p:spTree>
    <p:extLst>
      <p:ext uri="{BB962C8B-B14F-4D97-AF65-F5344CB8AC3E}">
        <p14:creationId xmlns:p14="http://schemas.microsoft.com/office/powerpoint/2010/main" val="249938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latin typeface="Times New Roman" panose="02020603050405020304" pitchFamily="18" charset="0"/>
                <a:cs typeface="Times New Roman" panose="02020603050405020304" pitchFamily="18" charset="0"/>
              </a:rPr>
              <a:t>La información que se utiliza a lo largo del trabajo proviene de los microdatos de la Encuesta Continua de Hogares para el período 2002-2005 y de la Gran Encuesta Integrada de Hogares para el período 2008-2018, realizadas por el Departamento Administrativo Nacional de Estadística - DANE.</a:t>
            </a:r>
          </a:p>
          <a:p>
            <a:pPr marL="228600" indent="-228600" algn="just">
              <a:buAutoNum type="arabicParenBoth"/>
            </a:pPr>
            <a:r>
              <a:rPr lang="es-AR" sz="1200" dirty="0">
                <a:latin typeface="Times New Roman" panose="02020603050405020304" pitchFamily="18" charset="0"/>
                <a:cs typeface="Times New Roman" panose="02020603050405020304" pitchFamily="18" charset="0"/>
              </a:rPr>
              <a:t>Las cifras del período 2002-2005 están empalmadas tomando como referencia la metodología utilizada por la GEIH, trabajo que realizó la Misión para el Empalme de las Series de Empleo, Pobreza y Desigualdad - MESEP.</a:t>
            </a:r>
          </a:p>
          <a:p>
            <a:pPr marL="228600" indent="-228600" algn="just">
              <a:buAutoNum type="arabicParenBoth"/>
            </a:pPr>
            <a:r>
              <a:rPr lang="es-AR" sz="1200" dirty="0">
                <a:latin typeface="Times New Roman" panose="02020603050405020304" pitchFamily="18" charset="0"/>
                <a:cs typeface="Times New Roman" panose="02020603050405020304" pitchFamily="18" charset="0"/>
              </a:rPr>
              <a:t>El trabajo realizado por esta misión de empalmar las bases de ingresos desde 2002 a 2018 hacen posible la comparabilidad entre las dos fuentes de datos.</a:t>
            </a:r>
          </a:p>
          <a:p>
            <a:pPr marL="228600" indent="-228600" algn="just">
              <a:buAutoNum type="arabicParenBoth"/>
            </a:pPr>
            <a:r>
              <a:rPr lang="es-AR" sz="1200" dirty="0">
                <a:latin typeface="Times New Roman" panose="02020603050405020304" pitchFamily="18" charset="0"/>
                <a:cs typeface="Times New Roman" panose="02020603050405020304" pitchFamily="18" charset="0"/>
              </a:rPr>
              <a:t>Sin embargo, en las estimaciones que comparan los cambios en la pobreza monetaria, se presentan también dos subperíodos, 2002-2005 y 2008-2018, </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para tener en cuenta los posibles efectos del cambio de encuesta que se dio en 2006 y ver si los cambios que se tienen al comparar 2002 y 2018 son resultado de tendencias que se verifican en ambos subperíodos o si, por el contrario, dentro del período, hay tendencias contrarias.</a:t>
            </a:r>
          </a:p>
          <a:p>
            <a:pPr marL="228600" indent="-228600" algn="just">
              <a:buAutoNum type="arabicParenBoth"/>
            </a:pPr>
            <a:r>
              <a:rPr lang="es-AR" sz="1200" dirty="0">
                <a:effectLst/>
                <a:latin typeface="Times New Roman" panose="02020603050405020304" pitchFamily="18" charset="0"/>
                <a:cs typeface="Times New Roman" panose="02020603050405020304" pitchFamily="18" charset="0"/>
              </a:rPr>
              <a:t>En esta instancia, cabe aclarar que n</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o se hacen estimaciones para 2006 y 2007, ya que no hay microdatos disponibles de las encuestas de hogares para esos años.</a:t>
            </a:r>
            <a:endParaRPr lang="es-AR" sz="1200" dirty="0">
              <a:latin typeface="Times New Roman" panose="02020603050405020304" pitchFamily="18"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5</a:t>
            </a:fld>
            <a:endParaRPr lang="es-AR"/>
          </a:p>
        </p:txBody>
      </p:sp>
    </p:spTree>
    <p:extLst>
      <p:ext uri="{BB962C8B-B14F-4D97-AF65-F5344CB8AC3E}">
        <p14:creationId xmlns:p14="http://schemas.microsoft.com/office/powerpoint/2010/main" val="235384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latin typeface="Times New Roman" panose="02020603050405020304" pitchFamily="18" charset="0"/>
                <a:cs typeface="Times New Roman" panose="02020603050405020304" pitchFamily="18" charset="0"/>
              </a:rPr>
              <a:t>En la Tabla 2 del trabajo, </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se presentan estadísticas descriptivas sobre las características económicas y sociodemográficas de los hogares en Colombia por área geográfica para los años 2002 y </a:t>
            </a:r>
            <a:r>
              <a:rPr lang="es-AR" sz="1200">
                <a:effectLst/>
                <a:latin typeface="Times New Roman" panose="02020603050405020304" pitchFamily="18" charset="0"/>
                <a:ea typeface="Calibri" panose="020F0502020204030204" pitchFamily="34" charset="0"/>
                <a:cs typeface="Times New Roman" panose="02020603050405020304" pitchFamily="18" charset="0"/>
              </a:rPr>
              <a:t>2018.</a:t>
            </a:r>
            <a:endParaRPr lang="es-AR"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Estas características están relacionadas con la probabilidad de pobreza de los hogares y, posteriormente, serán empleadas en una de las descomposiciones realizada en este trabajo.</a:t>
            </a:r>
          </a:p>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Como áreas geográficas, opté por discriminar entre los principales centros urbanos, que corresponden a las trece ciudades principales y sus áreas metropolitanas, el resto urbano (es decir, el resto de ciudades y cabeceras urbanas) y, por último, los centros poblados y rural disperso.</a:t>
            </a:r>
          </a:p>
          <a:p>
            <a:pPr marL="228600" indent="-228600" algn="just">
              <a:buAutoNum type="arabicParenBoth"/>
            </a:pPr>
            <a:r>
              <a:rPr lang="es-AR" sz="1200" dirty="0">
                <a:effectLst/>
                <a:latin typeface="Times New Roman" panose="02020603050405020304" pitchFamily="18" charset="0"/>
                <a:cs typeface="Times New Roman" panose="02020603050405020304" pitchFamily="18" charset="0"/>
              </a:rPr>
              <a:t>A grandes rasgos, lo que se observa en la Tabla 2 es que los menores niveles de ingreso los tiene el área rural, lo cual se observa en las dos primeras filas, mediante el ingreso per cápita de la unidad de gasto y el ingreso no laboral del hogar.</a:t>
            </a:r>
          </a:p>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Luego, se observa que los hogares rurales tienen, en promedio, mayor cantidad de miembros, una menor tasa de desempleo y considerablemente menos años de educación, en comparación a las principales ciudades y al resto urbano.</a:t>
            </a:r>
            <a:endParaRPr lang="es-AR" sz="1200" dirty="0">
              <a:latin typeface="Times New Roman" panose="02020603050405020304" pitchFamily="18"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6</a:t>
            </a:fld>
            <a:endParaRPr lang="es-AR"/>
          </a:p>
        </p:txBody>
      </p:sp>
    </p:spTree>
    <p:extLst>
      <p:ext uri="{BB962C8B-B14F-4D97-AF65-F5344CB8AC3E}">
        <p14:creationId xmlns:p14="http://schemas.microsoft.com/office/powerpoint/2010/main" val="945869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lnSpc>
                <a:spcPct val="150000"/>
              </a:lnSpc>
              <a:spcAft>
                <a:spcPts val="0"/>
              </a:spcAft>
              <a:buAutoNum type="arabicParenBoth"/>
            </a:pPr>
            <a:r>
              <a:rPr lang="es-AR" sz="1200" dirty="0">
                <a:effectLst/>
                <a:latin typeface="Times New Roman" panose="02020603050405020304" pitchFamily="18" charset="0"/>
                <a:ea typeface="Times New Roman" panose="02020603050405020304" pitchFamily="18" charset="0"/>
                <a:cs typeface="Times New Roman" panose="02020603050405020304" pitchFamily="18" charset="0"/>
              </a:rPr>
              <a:t>La pobreza monetaria en Colombia entre 2002 y 2018 se ha reducido de manera significativa en cada una de las áreas geográficas consideradas, tomando cualquier indicador de pobreza FGT, los cuales serán los indicadores que se tomarán como referencia en este trabajo.</a:t>
            </a:r>
          </a:p>
          <a:p>
            <a:pPr marL="228600" indent="-228600" algn="just">
              <a:lnSpc>
                <a:spcPct val="150000"/>
              </a:lnSpc>
              <a:spcAft>
                <a:spcPts val="0"/>
              </a:spcAft>
              <a:buAutoNum type="arabicParenBoth"/>
            </a:pPr>
            <a:r>
              <a:rPr lang="es-AR" sz="1200" dirty="0">
                <a:effectLst/>
                <a:latin typeface="Times New Roman" panose="02020603050405020304" pitchFamily="18" charset="0"/>
                <a:ea typeface="Times New Roman" panose="02020603050405020304" pitchFamily="18" charset="0"/>
                <a:cs typeface="Times New Roman" panose="02020603050405020304" pitchFamily="18" charset="0"/>
              </a:rPr>
              <a:t>En esta instancia, en la Figura 1, se muestra la incidencia de la pobreza por área geográfica para este período. Para el agregado nacional, en 2002, la incidencia de la pobreza era de 49,7% y, en 2018, de 27,0%. Cuando se desagrega el total nacional, se observa que la pobreza es notablemente menor en las principales ciudades. A su vez, se puede ver que el área rural es la que ha tenido los mayores niveles de pobreza.</a:t>
            </a:r>
          </a:p>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Estas tendencias son similares cuando se considera cualquier indicador de pobreza FGT, incidencia, brecha o severidad, y también cuando se consideran estos mismos indicadores pero para la pobreza extrema.</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7</a:t>
            </a:fld>
            <a:endParaRPr lang="es-AR"/>
          </a:p>
        </p:txBody>
      </p:sp>
    </p:spTree>
    <p:extLst>
      <p:ext uri="{BB962C8B-B14F-4D97-AF65-F5344CB8AC3E}">
        <p14:creationId xmlns:p14="http://schemas.microsoft.com/office/powerpoint/2010/main" val="2955154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rPr>
              <a:t>En la Figura 4, se muestran las tasas de incidencia por ciudades principales, en donde se puede notar que la distribución de la pobreza es bastante heterogénea a nivel ciudad.</a:t>
            </a:r>
          </a:p>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rPr>
              <a:t>En particular, la ciudad más afectada es Cúcuta, en donde, en 2002, el 52,9% de la población de esta ciudad fronteriza con Venezuela era pobre y el 11,1% indigente.</a:t>
            </a:r>
          </a:p>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rPr>
              <a:t>Ciudades de la costa atlántica, como Montería, Cartagena y Barranquilla, al igual que Pasto, en 2002, registraron tasas de incidencia de la pobreza superiores al 40,0% y de la pobreza extrema superiores al 8,5%.</a:t>
            </a:r>
          </a:p>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rPr>
              <a:t>Por otra parte, aunque Bogotá, Pereira y Cali fueron las ciudades con menores niveles de incidencia de la pobreza y de la pobreza extrema en 2002, más del 30% de su población se ubicaba por debajo de la línea de pobreza.</a:t>
            </a:r>
          </a:p>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rPr>
              <a:t>En general, el respectivo </a:t>
            </a:r>
            <a:r>
              <a:rPr lang="es-AR" sz="1200" i="1" dirty="0">
                <a:effectLst/>
                <a:latin typeface="Times New Roman" panose="02020603050405020304" pitchFamily="18" charset="0"/>
                <a:ea typeface="Calibri" panose="020F0502020204030204" pitchFamily="34" charset="0"/>
              </a:rPr>
              <a:t>“ranking”</a:t>
            </a:r>
            <a:r>
              <a:rPr lang="es-AR" sz="1200" dirty="0">
                <a:effectLst/>
                <a:latin typeface="Times New Roman" panose="02020603050405020304" pitchFamily="18" charset="0"/>
                <a:ea typeface="Calibri" panose="020F0502020204030204" pitchFamily="34" charset="0"/>
              </a:rPr>
              <a:t> de los indicadores de brecha y de severidad de la pobreza y de la pobreza extrema a nivel de las principales ciudades se corresponden con lo mostrado aquí para el caso de la incidencia.</a:t>
            </a:r>
            <a:endParaRPr lang="es-AR"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8</a:t>
            </a:fld>
            <a:endParaRPr lang="es-AR"/>
          </a:p>
        </p:txBody>
      </p:sp>
    </p:spTree>
    <p:extLst>
      <p:ext uri="{BB962C8B-B14F-4D97-AF65-F5344CB8AC3E}">
        <p14:creationId xmlns:p14="http://schemas.microsoft.com/office/powerpoint/2010/main" val="35538795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rPr>
              <a:t>En la Tabla 9, se computan las variaciones de la incidencia para las ciudades principales para los diferentes períodos considerados.</a:t>
            </a:r>
          </a:p>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rPr>
              <a:t>Se puede observar que las mayores reducciones (en puntos porcentuales) en el caso de la pobreza para el período 2002-2018 se dieron en Manizales, Medellín y Barranquilla. Para el caso de la pobreza extrema, las mayores reducciones en este mismo período se dieron en Pasto, Barranquilla y Cartagena, siendo estas tres ciudades de las cinco ciudades con mayores niveles de incidencia de la pobreza extrema en el 2002, como se vio en la figura anterior.</a:t>
            </a:r>
          </a:p>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rPr>
              <a:t>Adicionalmente, cabe notar que, excepto casos puntuales en el subperíodo 2002-2005, todas las variaciones son estadísticamente significativas al 5%.</a:t>
            </a:r>
            <a:endParaRPr lang="es-AR"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9</a:t>
            </a:fld>
            <a:endParaRPr lang="es-AR"/>
          </a:p>
        </p:txBody>
      </p:sp>
    </p:spTree>
    <p:extLst>
      <p:ext uri="{BB962C8B-B14F-4D97-AF65-F5344CB8AC3E}">
        <p14:creationId xmlns:p14="http://schemas.microsoft.com/office/powerpoint/2010/main" val="115007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effectLst/>
                <a:latin typeface="Times New Roman" panose="02020603050405020304" pitchFamily="18" charset="0"/>
                <a:ea typeface="Calibri" panose="020F0502020204030204" pitchFamily="34" charset="0"/>
              </a:rPr>
              <a:t>Siguiendo con la metodología, dado que los indicadores de pobreza monetaria FGT utilizan especificaciones paramétricas de la curva de Lorenz, es posible descomponer los cambios en la pobreza monetaria en factores asociados a los cambios de los ingresos, a los cambios distributivos y a los cambios en la línea de pobreza.</a:t>
            </a:r>
          </a:p>
          <a:p>
            <a:pPr marL="228600" marR="0" lvl="0" indent="-228600" algn="just" defTabSz="914400" rtl="0" eaLnBrk="1" fontAlgn="auto" latinLnBrk="0" hangingPunct="1">
              <a:lnSpc>
                <a:spcPct val="100000"/>
              </a:lnSpc>
              <a:spcBef>
                <a:spcPts val="0"/>
              </a:spcBef>
              <a:spcAft>
                <a:spcPts val="0"/>
              </a:spcAft>
              <a:buClrTx/>
              <a:buSzTx/>
              <a:buFontTx/>
              <a:buAutoNum type="arabicParenBoth"/>
              <a:tabLst/>
              <a:defRPr/>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Con el propósito de considerar las heterogeneidades regionales en precios en el análisis de los cambios en la pobreza, Kolenikov y Shorrocks (2005) proponen una metodología que, además de considerar los efectos crecimiento y redistribución, incorpora el efecto de los precios locales (o efecto línea de pobreza) a la descomposición.</a:t>
            </a:r>
          </a:p>
          <a:p>
            <a:pPr marL="228600" marR="0" lvl="0" indent="-228600" algn="just" defTabSz="914400" rtl="0" eaLnBrk="1" fontAlgn="auto" latinLnBrk="0" hangingPunct="1">
              <a:lnSpc>
                <a:spcPct val="100000"/>
              </a:lnSpc>
              <a:spcBef>
                <a:spcPts val="0"/>
              </a:spcBef>
              <a:spcAft>
                <a:spcPts val="0"/>
              </a:spcAft>
              <a:buClrTx/>
              <a:buSzTx/>
              <a:buFontTx/>
              <a:buAutoNum type="arabicParenBoth"/>
              <a:tabLst/>
              <a:defRPr/>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Básicamente, la propuesta divide el ingreso real per cápita entre el ingreso nominal per cápita</a:t>
            </a:r>
            <a:r>
              <a:rPr lang="es-AR" sz="1200" baseline="0" dirty="0">
                <a:effectLst/>
                <a:latin typeface="Times New Roman" panose="02020603050405020304" pitchFamily="18" charset="0"/>
                <a:ea typeface="Calibri" panose="020F0502020204030204" pitchFamily="34" charset="0"/>
                <a:cs typeface="Times New Roman" panose="02020603050405020304" pitchFamily="18" charset="0"/>
              </a:rPr>
              <a:t> </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y la línea de pobreza (a nivel regional). De esta forma, se obtiene la contribución individual de tres componentes: el ingreso nominal medio, la desigualdad y la línea de pobreza. En este caso, este último efecto reflejaría el comportamiento del nivel de precios de las diferentes regiones.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10</a:t>
            </a:fld>
            <a:endParaRPr lang="es-AR"/>
          </a:p>
        </p:txBody>
      </p:sp>
    </p:spTree>
    <p:extLst>
      <p:ext uri="{BB962C8B-B14F-4D97-AF65-F5344CB8AC3E}">
        <p14:creationId xmlns:p14="http://schemas.microsoft.com/office/powerpoint/2010/main" val="26298663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spcAft>
                <a:spcPts val="400"/>
              </a:spcAft>
              <a:buFont typeface="Wingdings" panose="05000000000000000000" pitchFamily="2" charset="2"/>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Para profundizar sobre el papel de los factores microeconómicos, se estudia el cambio en la pobreza a partir de la metodología semiparamétrica de descomposición propuesta por Fortin </a:t>
            </a:r>
            <a:r>
              <a:rPr lang="es-AR" sz="1200" i="1" dirty="0">
                <a:effectLst/>
                <a:latin typeface="Times New Roman" panose="02020603050405020304" pitchFamily="18" charset="0"/>
                <a:ea typeface="Calibri" panose="020F0502020204030204" pitchFamily="34" charset="0"/>
                <a:cs typeface="Times New Roman" panose="02020603050405020304" pitchFamily="18" charset="0"/>
              </a:rPr>
              <a:t>et al</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(2011).</a:t>
            </a:r>
          </a:p>
          <a:p>
            <a:pPr marL="228600" indent="-228600" algn="just">
              <a:spcAft>
                <a:spcPts val="400"/>
              </a:spcAft>
              <a:buFont typeface="Wingdings" panose="05000000000000000000" pitchFamily="2" charset="2"/>
              <a:buAutoNum type="arabicParenBoth"/>
            </a:pPr>
            <a:r>
              <a:rPr lang="es-AR" sz="1200" dirty="0">
                <a:latin typeface="Times New Roman" panose="02020603050405020304" pitchFamily="18" charset="0"/>
                <a:ea typeface="Calibri" panose="020F0502020204030204" pitchFamily="34" charset="0"/>
                <a:cs typeface="Times New Roman" panose="02020603050405020304" pitchFamily="18" charset="0"/>
              </a:rPr>
              <a:t>Este</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procedimiento combina una descomposición basada en regresiones RIF con una estrategia de reponderación, que permite descomponer el cambio en la distribución de la pobreza más allá de la media.</a:t>
            </a:r>
          </a:p>
          <a:p>
            <a:pPr marL="228600" indent="-228600" algn="just">
              <a:spcAft>
                <a:spcPts val="400"/>
              </a:spcAft>
              <a:buFont typeface="Wingdings" panose="05000000000000000000" pitchFamily="2" charset="2"/>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Esta metodología permite calcular la contribución sobre el cambio en la pobreza monetaria de cada covariable al “efecto composición” y al “efecto estructura”.</a:t>
            </a:r>
          </a:p>
          <a:p>
            <a:pPr marL="228600" marR="0" lvl="0" indent="-228600" algn="just" defTabSz="914400" rtl="0" eaLnBrk="1" fontAlgn="auto" latinLnBrk="0" hangingPunct="1">
              <a:lnSpc>
                <a:spcPct val="100000"/>
              </a:lnSpc>
              <a:spcBef>
                <a:spcPts val="0"/>
              </a:spcBef>
              <a:spcAft>
                <a:spcPts val="400"/>
              </a:spcAft>
              <a:buClrTx/>
              <a:buSzTx/>
              <a:buFont typeface="Wingdings" panose="05000000000000000000" pitchFamily="2" charset="2"/>
              <a:buAutoNum type="arabicParenBoth"/>
              <a:tabLst/>
              <a:defRPr/>
            </a:pPr>
            <a:r>
              <a:rPr lang="es-AR" sz="1200" dirty="0">
                <a:latin typeface="Times New Roman" panose="02020603050405020304" pitchFamily="18" charset="0"/>
                <a:ea typeface="Calibri" panose="020F0502020204030204" pitchFamily="34" charset="0"/>
                <a:cs typeface="Times New Roman" panose="02020603050405020304" pitchFamily="18" charset="0"/>
              </a:rPr>
              <a:t>Para la implementación de esta metodología, se construyó una distribución contrafactual del nivel de pobreza monetaria resultante si los hogares en 2018 hubieran tenido las características de los hogares en 2002.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p>
            <a:pPr marL="228600" indent="-228600" algn="just">
              <a:spcAft>
                <a:spcPts val="400"/>
              </a:spcAft>
              <a:buFont typeface="Wingdings" panose="05000000000000000000" pitchFamily="2" charset="2"/>
              <a:buAutoNum type="arabicParenBoth"/>
            </a:pPr>
            <a:r>
              <a:rPr lang="es-AR" sz="1800" dirty="0">
                <a:effectLst/>
                <a:latin typeface="Times New Roman" panose="02020603050405020304" pitchFamily="18" charset="0"/>
                <a:ea typeface="Calibri" panose="020F0502020204030204" pitchFamily="34" charset="0"/>
              </a:rPr>
              <a:t>Este procedimiento requiere estimar un modelo </a:t>
            </a:r>
            <a:r>
              <a:rPr lang="es-AR" sz="1800" i="1" dirty="0">
                <a:effectLst/>
                <a:latin typeface="Times New Roman" panose="02020603050405020304" pitchFamily="18" charset="0"/>
                <a:ea typeface="Calibri" panose="020F0502020204030204" pitchFamily="34" charset="0"/>
              </a:rPr>
              <a:t>logit</a:t>
            </a:r>
            <a:r>
              <a:rPr lang="es-AR" sz="1800" dirty="0">
                <a:effectLst/>
                <a:latin typeface="Times New Roman" panose="02020603050405020304" pitchFamily="18" charset="0"/>
                <a:ea typeface="Calibri" panose="020F0502020204030204" pitchFamily="34" charset="0"/>
              </a:rPr>
              <a:t> para obtener la probabilidad que tiene un hogar de pertenecer al grupo de hogares de 2002, dado un vector de características. </a:t>
            </a:r>
            <a:r>
              <a:rPr lang="es-AR" sz="1200" dirty="0">
                <a:effectLst/>
                <a:latin typeface="Times New Roman" panose="02020603050405020304" pitchFamily="18" charset="0"/>
                <a:ea typeface="Calibri" panose="020F0502020204030204" pitchFamily="34" charset="0"/>
              </a:rPr>
              <a:t>La variable dependiente de este modelo es una </a:t>
            </a:r>
            <a:r>
              <a:rPr lang="es-AR" sz="1200" i="1" dirty="0">
                <a:effectLst/>
                <a:latin typeface="Times New Roman" panose="02020603050405020304" pitchFamily="18" charset="0"/>
                <a:ea typeface="Calibri" panose="020F0502020204030204" pitchFamily="34" charset="0"/>
              </a:rPr>
              <a:t>dummy</a:t>
            </a:r>
            <a:r>
              <a:rPr lang="es-AR" sz="1200" dirty="0">
                <a:effectLst/>
                <a:latin typeface="Times New Roman" panose="02020603050405020304" pitchFamily="18" charset="0"/>
                <a:ea typeface="Calibri" panose="020F0502020204030204" pitchFamily="34" charset="0"/>
              </a:rPr>
              <a:t> indicativa de la pertenencia del hogar al año 2002.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11</a:t>
            </a:fld>
            <a:endParaRPr lang="es-AR"/>
          </a:p>
        </p:txBody>
      </p:sp>
    </p:spTree>
    <p:extLst>
      <p:ext uri="{BB962C8B-B14F-4D97-AF65-F5344CB8AC3E}">
        <p14:creationId xmlns:p14="http://schemas.microsoft.com/office/powerpoint/2010/main" val="1538465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latin typeface="Times New Roman" panose="02020603050405020304" pitchFamily="18" charset="0"/>
                <a:cs typeface="Times New Roman" panose="02020603050405020304" pitchFamily="18" charset="0"/>
              </a:rPr>
              <a:t>Por último, se plantean diferentes escenarios contrafácticos basados en microsimulaciones.</a:t>
            </a:r>
          </a:p>
          <a:p>
            <a:pPr marL="228600" indent="-228600" algn="just">
              <a:buAutoNum type="arabicParenBoth"/>
            </a:pPr>
            <a:r>
              <a:rPr lang="es-AR" sz="1200" dirty="0">
                <a:latin typeface="Times New Roman" panose="02020603050405020304" pitchFamily="18" charset="0"/>
                <a:cs typeface="Times New Roman" panose="02020603050405020304" pitchFamily="18" charset="0"/>
              </a:rPr>
              <a:t>En particular, en este trabajo, se realizan dos microsimulaciones paramétricas con comportamiento de los agentes económicos, es decir, en donde estos modifican sus elecciones. En estos dos casos, se estima una ecuación de Mincer y un modelo de elección ocupacional.</a:t>
            </a:r>
          </a:p>
          <a:p>
            <a:pPr marL="228600" indent="-228600" algn="just">
              <a:buAutoNum type="arabicParenBoth"/>
            </a:pPr>
            <a:r>
              <a:rPr lang="es-AR" sz="1200" dirty="0">
                <a:latin typeface="Times New Roman" panose="02020603050405020304" pitchFamily="18" charset="0"/>
                <a:cs typeface="Times New Roman" panose="02020603050405020304" pitchFamily="18" charset="0"/>
              </a:rPr>
              <a:t>En el primer escenario contrafáctico, </a:t>
            </a:r>
            <a:r>
              <a:rPr lang="es-MX" sz="1800" dirty="0">
                <a:effectLst/>
                <a:latin typeface="Times New Roman" panose="02020603050405020304" pitchFamily="18" charset="0"/>
                <a:ea typeface="Calibri" panose="020F0502020204030204" pitchFamily="34" charset="0"/>
              </a:rPr>
              <a:t>se asigna educación secundaria completa a todos los individuos entre 18 y 40 años de edad que tengan un nivel educativo inferior a éste y se observa el impacto respectivo en los ingresos laborales individuales.</a:t>
            </a:r>
          </a:p>
          <a:p>
            <a:pPr marL="228600" indent="-228600" algn="just">
              <a:buAutoNum type="arabicParenBoth"/>
            </a:pPr>
            <a:r>
              <a:rPr lang="es-MX" sz="1800" dirty="0">
                <a:effectLst/>
                <a:latin typeface="Times New Roman" panose="02020603050405020304" pitchFamily="18" charset="0"/>
                <a:ea typeface="Calibri" panose="020F0502020204030204" pitchFamily="34" charset="0"/>
              </a:rPr>
              <a:t>En particular, la variación en el nivel educativo cambia la elección individual de la ocupación después de que los individuos, una vez que están más educados, reevalúan su utilidad de estar en una de las tres alternativas posibles en el mercado laboral (inactivo/desempleado, asalariado, no asalariado) y deciden cambiar o no, de acuerdo a sus características y a las del hogar.</a:t>
            </a:r>
          </a:p>
          <a:p>
            <a:pPr marL="228600" indent="-228600" algn="just">
              <a:buAutoNum type="arabicParenBoth"/>
            </a:pPr>
            <a:r>
              <a:rPr lang="es-AR" sz="1800" dirty="0">
                <a:effectLst/>
                <a:latin typeface="Times New Roman" panose="02020603050405020304" pitchFamily="18" charset="0"/>
                <a:ea typeface="Calibri" panose="020F0502020204030204" pitchFamily="34" charset="0"/>
              </a:rPr>
              <a:t>En el segundo escenario contrafáctico, se reduce </a:t>
            </a:r>
            <a:r>
              <a:rPr lang="es-MX" sz="1800" dirty="0">
                <a:effectLst/>
                <a:latin typeface="Times New Roman" panose="02020603050405020304" pitchFamily="18" charset="0"/>
                <a:ea typeface="Calibri" panose="020F0502020204030204" pitchFamily="34" charset="0"/>
              </a:rPr>
              <a:t>la tasa de desempleo de la economía en 5 puntos porcentuales y el mecanismo opera igual que en el caso anterior.</a:t>
            </a:r>
            <a:endParaRPr lang="es-AR" sz="1200" dirty="0">
              <a:latin typeface="Times New Roman" panose="02020603050405020304" pitchFamily="18" charset="0"/>
              <a:cs typeface="Times New Roman" panose="02020603050405020304" pitchFamily="18" charset="0"/>
            </a:endParaRPr>
          </a:p>
          <a:p>
            <a:pPr marL="228600" indent="-228600" algn="just">
              <a:buAutoNum type="arabicParenBoth"/>
            </a:pPr>
            <a:r>
              <a:rPr lang="es-AR" sz="1200" dirty="0">
                <a:latin typeface="Times New Roman" panose="02020603050405020304" pitchFamily="18" charset="0"/>
                <a:cs typeface="Times New Roman" panose="02020603050405020304" pitchFamily="18" charset="0"/>
              </a:rPr>
              <a:t>Por último, se realiza una microsimulación no paramétrica sin comportamiento de los agentes, en donde se implementa un esquema de transferencias, </a:t>
            </a:r>
            <a:r>
              <a:rPr lang="es-MX" sz="1800" dirty="0">
                <a:effectLst/>
                <a:latin typeface="Times New Roman" panose="02020603050405020304" pitchFamily="18" charset="0"/>
                <a:ea typeface="Calibri" panose="020F0502020204030204" pitchFamily="34" charset="0"/>
              </a:rPr>
              <a:t>que consiste en asignarles una transferencia a los individuos mayores a 60 años de edad que perciben un ingreso laboral individual menor a la línea de pobreza. Esta transferencia se financia mediante el ingreso laboral de los individuos de más altos ingresos de la población.</a:t>
            </a:r>
            <a:endParaRPr lang="es-AR" sz="1200" dirty="0">
              <a:latin typeface="Times New Roman" panose="02020603050405020304" pitchFamily="18"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12</a:t>
            </a:fld>
            <a:endParaRPr lang="es-AR"/>
          </a:p>
        </p:txBody>
      </p:sp>
    </p:spTree>
    <p:extLst>
      <p:ext uri="{BB962C8B-B14F-4D97-AF65-F5344CB8AC3E}">
        <p14:creationId xmlns:p14="http://schemas.microsoft.com/office/powerpoint/2010/main" val="985575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latin typeface="Times New Roman" panose="02020603050405020304" pitchFamily="18" charset="0"/>
                <a:cs typeface="Times New Roman" panose="02020603050405020304" pitchFamily="18" charset="0"/>
              </a:rPr>
              <a:t>Comenzando con los principales resultados, se tiene que </a:t>
            </a:r>
            <a:r>
              <a:rPr lang="es-AR" sz="1800" dirty="0">
                <a:effectLst/>
                <a:latin typeface="Times New Roman" panose="02020603050405020304" pitchFamily="18" charset="0"/>
                <a:cs typeface="Times New Roman" panose="02020603050405020304" pitchFamily="18" charset="0"/>
              </a:rPr>
              <a:t>l</a:t>
            </a:r>
            <a:r>
              <a:rPr lang="es-AR" sz="1800" dirty="0">
                <a:effectLst/>
                <a:latin typeface="Times New Roman" panose="02020603050405020304" pitchFamily="18" charset="0"/>
                <a:ea typeface="Calibri" panose="020F0502020204030204" pitchFamily="34" charset="0"/>
              </a:rPr>
              <a:t>a conclusión principal no es diferente al hacer el análisis en los distintos periodos considerados, 2002-2005, 2008-2018 o el período completo: la reducción de la pobreza monetaria en Colombia ha estado emparentada, principalmente, con el crecimiento de los ingresos y no tanto con la mejora en su redistribución, con un efecto línea contrarrestando esta reducción</a:t>
            </a:r>
            <a:r>
              <a:rPr lang="es-AR" sz="1200" dirty="0">
                <a:latin typeface="Times New Roman" panose="02020603050405020304" pitchFamily="18" charset="0"/>
                <a:cs typeface="Times New Roman" panose="02020603050405020304" pitchFamily="18" charset="0"/>
              </a:rPr>
              <a:t>.</a:t>
            </a:r>
          </a:p>
          <a:p>
            <a:pPr marL="228600" indent="-228600" algn="just">
              <a:buAutoNum type="arabicParenBoth"/>
            </a:pPr>
            <a:r>
              <a:rPr lang="es-AR" sz="1200" dirty="0">
                <a:latin typeface="Times New Roman" panose="02020603050405020304" pitchFamily="18" charset="0"/>
                <a:cs typeface="Times New Roman" panose="02020603050405020304" pitchFamily="18" charset="0"/>
              </a:rPr>
              <a:t>En la Figura 6, sólo se muestra el caso de la descomposición de Kolenikov y Shorrocks para el caso del cambio en la incidencia, tanto de la pobreza como de la pobreza extrema. </a:t>
            </a:r>
          </a:p>
          <a:p>
            <a:pPr marL="228600" indent="-228600" algn="just">
              <a:buAutoNum type="arabicParenBoth"/>
            </a:pPr>
            <a:r>
              <a:rPr lang="es-AR" sz="1200" dirty="0">
                <a:latin typeface="Times New Roman" panose="02020603050405020304" pitchFamily="18" charset="0"/>
                <a:cs typeface="Times New Roman" panose="02020603050405020304" pitchFamily="18" charset="0"/>
              </a:rPr>
              <a:t>Si bien no fue mostrado en esta presentación, los niveles de desigualdad, medidos por el coeficiente de Gini, no han tenido grandes reducciones en el período considerado. Sin embargo</a:t>
            </a:r>
            <a:r>
              <a:rPr lang="es-AR" sz="1800" dirty="0">
                <a:effectLst/>
                <a:latin typeface="Times New Roman" panose="02020603050405020304" pitchFamily="18" charset="0"/>
                <a:ea typeface="Calibri" panose="020F0502020204030204" pitchFamily="34" charset="0"/>
              </a:rPr>
              <a:t>, se observa que estas pequeñas reducciones de la desigualdad tienen efectos considerables sobre la reducción de la pobreza, en especial en la severidad de la pobreza.</a:t>
            </a:r>
          </a:p>
          <a:p>
            <a:pPr marL="228600" indent="-228600" algn="just">
              <a:buAutoNum type="arabicParenBoth"/>
            </a:pPr>
            <a:r>
              <a:rPr lang="es-AR" sz="1800" dirty="0">
                <a:effectLst/>
                <a:latin typeface="Times New Roman" panose="02020603050405020304" pitchFamily="18" charset="0"/>
                <a:ea typeface="Calibri" panose="020F0502020204030204" pitchFamily="34" charset="0"/>
              </a:rPr>
              <a:t>Si bien el efecto línea no parece variar mucho entre las diferentes áreas geográficas en el caso de la incidencia de la pobreza, es un poco mayor en el área rural y menor en las principales ciudades; en el caso de la incidencia de la pobreza extrema, es bastante menor en las principales ciudades. Respecto al efecto crecimiento, se tiene que éste tiene un mayor impacto en el resto urbano, lo cual resulta un poco más claro cuando recordamos que el ingreso per cápita de la unidad de gasto promedio real de esta área aumentó alrededor de 58% en este período, por encima del resto de las áreas. También es notable el impacto casi nulo que tiene el efecto redistribución en esta área, en línea con un Gini que se redujo sólo 3% en este período. Por otra parte, la mayor contribución de las mejoras en la redistribución en la reducción de la pobreza se da en las principales ciudades, así también, en esta área, se tiene el menor impacto del efecto crecimiento (consistente con el hecho de que fue el área con menor aumento de su ingreso per cápita de la unidad de gasto promedio real). Cuando pasamos a analizar la incidencia de la pobreza extrema, se nota que, ahora, tanto el efecto crecimiento como el efecto redistribución son mayores en el área rural, indicando cómo el crecimiento de los ingresos y la mejora en su redistribución contribuyen a reducir la pobreza extrema del área más vulnerable de Colombia en términos de subsistencia mínima.</a:t>
            </a:r>
            <a:endParaRPr lang="es-AR" sz="1200" dirty="0">
              <a:latin typeface="Times New Roman" panose="02020603050405020304" pitchFamily="18"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13</a:t>
            </a:fld>
            <a:endParaRPr lang="es-AR"/>
          </a:p>
        </p:txBody>
      </p:sp>
    </p:spTree>
    <p:extLst>
      <p:ext uri="{BB962C8B-B14F-4D97-AF65-F5344CB8AC3E}">
        <p14:creationId xmlns:p14="http://schemas.microsoft.com/office/powerpoint/2010/main" val="1427208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marR="0" lvl="0" indent="-228600" algn="just" defTabSz="914400" rtl="0" eaLnBrk="1" fontAlgn="auto" latinLnBrk="0" hangingPunct="1">
              <a:lnSpc>
                <a:spcPct val="100000"/>
              </a:lnSpc>
              <a:spcBef>
                <a:spcPts val="0"/>
              </a:spcBef>
              <a:spcAft>
                <a:spcPts val="0"/>
              </a:spcAft>
              <a:buClrTx/>
              <a:buSzTx/>
              <a:buFontTx/>
              <a:buAutoNum type="arabicParenBoth"/>
              <a:tabLst/>
              <a:defRPr/>
            </a:pPr>
            <a:r>
              <a:rPr lang="es-AR" sz="1200" dirty="0">
                <a:effectLst/>
                <a:latin typeface="Times New Roman" panose="02020603050405020304" pitchFamily="18" charset="0"/>
                <a:ea typeface="Calibri" panose="020F0502020204030204" pitchFamily="34" charset="0"/>
              </a:rPr>
              <a:t>En la Tabla 15, se presentan los resultados de la descomposición de Kolenikov y Shorrocks del cambio en la incidencia de la pobreza y de la pobreza extrema por ciudades principales para el período 2002-2018.</a:t>
            </a:r>
          </a:p>
          <a:p>
            <a:pPr marL="228600" marR="0" lvl="0" indent="-228600" algn="just" defTabSz="914400" rtl="0" eaLnBrk="1" fontAlgn="auto" latinLnBrk="0" hangingPunct="1">
              <a:lnSpc>
                <a:spcPct val="100000"/>
              </a:lnSpc>
              <a:spcBef>
                <a:spcPts val="0"/>
              </a:spcBef>
              <a:spcAft>
                <a:spcPts val="0"/>
              </a:spcAft>
              <a:buClrTx/>
              <a:buSzTx/>
              <a:buFontTx/>
              <a:buAutoNum type="arabicParenBoth"/>
              <a:tabLst/>
              <a:defRPr/>
            </a:pPr>
            <a:r>
              <a:rPr lang="es-AR" sz="1200" dirty="0">
                <a:effectLst/>
                <a:latin typeface="Times New Roman" panose="02020603050405020304" pitchFamily="18" charset="0"/>
                <a:ea typeface="Calibri" panose="020F0502020204030204" pitchFamily="34" charset="0"/>
              </a:rPr>
              <a:t>En el caso de la incidencia de la pobreza, Cartagena, Manizales y Cúcuta presentaron los mayores efectos crecimiento. Por otro lado, Barranquilla, Montería y Bogotá presentaron las principales mejoras en la redistribución. Con relación al efecto línea, las ciudades que se caracterizaron por tener un componente alto, en general, fueron las ciudades con mayores niveles de pobreza a principios de la década, Cúcuta, Montería y Cartagena. Bogotá, </a:t>
            </a:r>
            <a:r>
              <a:rPr lang="es-AR" sz="1200">
                <a:effectLst/>
                <a:latin typeface="Times New Roman" panose="02020603050405020304" pitchFamily="18" charset="0"/>
                <a:ea typeface="Calibri" panose="020F0502020204030204" pitchFamily="34" charset="0"/>
              </a:rPr>
              <a:t>por otra parte, </a:t>
            </a:r>
            <a:r>
              <a:rPr lang="es-AR" sz="1200" dirty="0">
                <a:effectLst/>
                <a:latin typeface="Times New Roman" panose="02020603050405020304" pitchFamily="18" charset="0"/>
                <a:ea typeface="Calibri" panose="020F0502020204030204" pitchFamily="34" charset="0"/>
              </a:rPr>
              <a:t>es la ciudad que tiene el menor efecto crecimiento y también el menor efecto línea, en tanto que Villavicencio tiene un efecto redistribución positivo aunque casi nulo, indicando que, en este caso, hubo un empeoramiento en la redistribución que posibilitó un incremento de la pobreza.</a:t>
            </a:r>
          </a:p>
          <a:p>
            <a:pPr marL="228600" marR="0" lvl="0" indent="-228600" algn="just" defTabSz="914400" rtl="0" eaLnBrk="1" fontAlgn="auto" latinLnBrk="0" hangingPunct="1">
              <a:lnSpc>
                <a:spcPct val="100000"/>
              </a:lnSpc>
              <a:spcBef>
                <a:spcPts val="0"/>
              </a:spcBef>
              <a:spcAft>
                <a:spcPts val="0"/>
              </a:spcAft>
              <a:buClrTx/>
              <a:buSzTx/>
              <a:buFontTx/>
              <a:buAutoNum type="arabicParenBoth"/>
              <a:tabLst/>
              <a:defRPr/>
            </a:pPr>
            <a:r>
              <a:rPr lang="es-AR" sz="1200" dirty="0">
                <a:effectLst/>
                <a:latin typeface="Times New Roman" panose="02020603050405020304" pitchFamily="18" charset="0"/>
                <a:ea typeface="Calibri" panose="020F0502020204030204" pitchFamily="34" charset="0"/>
              </a:rPr>
              <a:t>En el caso de la incidencia de la pobreza extrema, el efecto línea registra un patrón similar al caso de la incidencia de la pobreza. En cambio, respecto al efecto crecimiento, ahora, son Cartagena, Cúcuta y Pasto las más beneficiadas, y Bogotá se mantiene con el menor impacto de este efecto. Y, en cuanto al efecto redistribución, las ciudades con mayores mejoras resultaron ser Barranquilla, Montería y Medellín, y, ahora, Villavicencio tiene un efecto redistribución negativo pero casi nulo.</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14</a:t>
            </a:fld>
            <a:endParaRPr lang="es-AR"/>
          </a:p>
        </p:txBody>
      </p:sp>
    </p:spTree>
    <p:extLst>
      <p:ext uri="{BB962C8B-B14F-4D97-AF65-F5344CB8AC3E}">
        <p14:creationId xmlns:p14="http://schemas.microsoft.com/office/powerpoint/2010/main" val="25126492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effectLst/>
                <a:latin typeface="Times New Roman" panose="02020603050405020304" pitchFamily="18" charset="0"/>
                <a:ea typeface="Calibri" panose="020F0502020204030204" pitchFamily="34" charset="0"/>
              </a:rPr>
              <a:t>A modo de síntesis, el resultado de esta descomposición indica que las ciudades que, en 2002, tenían los mayores niveles de pobreza, como Cúcuta, Montería, Cartagena y Pasto, presentaron importantes efectos crecimiento que tendieron a reducir la pobreza, pero que fueron contrarrestados, en buena medida, por los efectos línea, que tendieron a incrementarla.</a:t>
            </a:r>
            <a:endParaRPr lang="es-AR" sz="1200" dirty="0">
              <a:latin typeface="Times New Roman" panose="02020603050405020304" pitchFamily="18"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15</a:t>
            </a:fld>
            <a:endParaRPr lang="es-AR"/>
          </a:p>
        </p:txBody>
      </p:sp>
    </p:spTree>
    <p:extLst>
      <p:ext uri="{BB962C8B-B14F-4D97-AF65-F5344CB8AC3E}">
        <p14:creationId xmlns:p14="http://schemas.microsoft.com/office/powerpoint/2010/main" val="42872374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MX" sz="1200" dirty="0">
                <a:effectLst/>
                <a:latin typeface="Times New Roman" panose="02020603050405020304" pitchFamily="18" charset="0"/>
                <a:ea typeface="Calibri" panose="020F0502020204030204" pitchFamily="34" charset="0"/>
              </a:rPr>
              <a:t>En cuanto a las descomposiciones RIF, en la Tabla 16, se presentan los resultados de esta descomposición para los indicadores de pobreza y de pobreza extrema FGT por área geográfica para el período 2002-2018. </a:t>
            </a:r>
          </a:p>
          <a:p>
            <a:pPr marL="228600" indent="-228600" algn="just">
              <a:buAutoNum type="arabicParenBoth"/>
            </a:pPr>
            <a:r>
              <a:rPr lang="es-MX" sz="1200" dirty="0">
                <a:effectLst/>
                <a:latin typeface="Times New Roman" panose="02020603050405020304" pitchFamily="18" charset="0"/>
                <a:ea typeface="Calibri" panose="020F0502020204030204" pitchFamily="34" charset="0"/>
              </a:rPr>
              <a:t>En todos los casos, tanto el efecto composición como el efecto estructura son negativos y estadísticamente significativos. Excepto en el área rural, el efecto composición explica, en su mayoría, la reducción de la pobreza y de la pobreza extrema en Colombia entre 2002 y 2018, considerando cualquier indicador FGT.</a:t>
            </a:r>
          </a:p>
          <a:p>
            <a:pPr marL="228600" indent="-228600" algn="just">
              <a:buAutoNum type="arabicParenBoth"/>
            </a:pPr>
            <a:r>
              <a:rPr lang="es-MX" sz="1200" dirty="0">
                <a:effectLst/>
                <a:latin typeface="Times New Roman" panose="02020603050405020304" pitchFamily="18" charset="0"/>
                <a:ea typeface="Calibri" panose="020F0502020204030204" pitchFamily="34" charset="0"/>
              </a:rPr>
              <a:t>Esto significa que la disminución del número de miembros en el hogar, las mejoras en el nivel educativo de los hogares, la disminución de la tasa de desempleo en el hogar, el aumento de los ingresos no laborales y los cambios en la composición de los hogares acontecidos en Colombia entre 2002 y 2018 se relacionaron positivamente con la reducción de la pobreza y de la pobreza extrema, en los tres tipos de indicadores FGT.</a:t>
            </a:r>
          </a:p>
          <a:p>
            <a:pPr marL="228600" indent="-228600" algn="just">
              <a:buAutoNum type="arabicParenBoth"/>
            </a:pPr>
            <a:r>
              <a:rPr lang="es-MX" sz="1800" dirty="0">
                <a:effectLst/>
                <a:latin typeface="Times New Roman" panose="02020603050405020304" pitchFamily="18" charset="0"/>
                <a:ea typeface="Calibri" panose="020F0502020204030204" pitchFamily="34" charset="0"/>
              </a:rPr>
              <a:t>Dicho de otra forma, en 2018 respecto a 2002, los hogares tenían niveles de pobreza y de pobreza extrema más bajos porque, por ejemplo, tenían menor cantidad de miembros, más años de educación, una menor tasa de desempleo y percibían más ingresos no laborales.</a:t>
            </a:r>
            <a:endParaRPr lang="es-AR" sz="1200" dirty="0">
              <a:latin typeface="Times New Roman" panose="02020603050405020304" pitchFamily="18"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16</a:t>
            </a:fld>
            <a:endParaRPr lang="es-AR"/>
          </a:p>
        </p:txBody>
      </p:sp>
    </p:spTree>
    <p:extLst>
      <p:ext uri="{BB962C8B-B14F-4D97-AF65-F5344CB8AC3E}">
        <p14:creationId xmlns:p14="http://schemas.microsoft.com/office/powerpoint/2010/main" val="17438272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latin typeface="Times New Roman" panose="02020603050405020304" pitchFamily="18" charset="0"/>
                <a:cs typeface="Times New Roman" panose="02020603050405020304" pitchFamily="18" charset="0"/>
              </a:rPr>
              <a:t>En cuanto a las microsimulaciones, en la Tabla 17, </a:t>
            </a:r>
            <a:r>
              <a:rPr lang="es-MX" sz="1200" dirty="0">
                <a:effectLst/>
                <a:latin typeface="Times New Roman" panose="02020603050405020304" pitchFamily="18" charset="0"/>
                <a:ea typeface="Calibri" panose="020F0502020204030204" pitchFamily="34" charset="0"/>
              </a:rPr>
              <a:t>se comparan los resultados en los indicadores de pobreza y de pobreza extrema FGT obtenidos tras las microsimulaciones con estos mismos indicadores en 2018. En la primera columna, se recuerda el valor de los indicadores para el año 2018 por área geográfica y en la siguientes columnas se muestra el nivel y la variación porcentual de cada escenario contrafáctico respecto del escenario original.</a:t>
            </a:r>
          </a:p>
          <a:p>
            <a:pPr marL="228600" indent="-228600" algn="just">
              <a:buAutoNum type="arabicParenBoth"/>
            </a:pPr>
            <a:r>
              <a:rPr lang="es-AR" sz="1200" dirty="0">
                <a:latin typeface="Times New Roman" panose="02020603050405020304" pitchFamily="18" charset="0"/>
                <a:cs typeface="Times New Roman" panose="02020603050405020304" pitchFamily="18" charset="0"/>
              </a:rPr>
              <a:t>En todos los casos, los indicadores de pobreza y de pobreza extrema disminuyen, aunque el impacto es mayor en el caso de la microsimulación </a:t>
            </a:r>
            <a:r>
              <a:rPr lang="es-AR" sz="1200" i="0" dirty="0">
                <a:latin typeface="Times New Roman" panose="02020603050405020304" pitchFamily="18" charset="0"/>
                <a:cs typeface="Times New Roman" panose="02020603050405020304" pitchFamily="18" charset="0"/>
              </a:rPr>
              <a:t>que reduce la tasa de desempleo de la economía en 5 puntos porcentuales. En la microsimulación correspondiente al esquema de transferencias, las reducciones son sustancialmente menores.</a:t>
            </a:r>
          </a:p>
          <a:p>
            <a:pPr marL="228600" marR="0" lvl="0" indent="-228600" algn="just" defTabSz="914400" rtl="0" eaLnBrk="1" fontAlgn="auto" latinLnBrk="0" hangingPunct="1">
              <a:lnSpc>
                <a:spcPct val="100000"/>
              </a:lnSpc>
              <a:spcBef>
                <a:spcPts val="0"/>
              </a:spcBef>
              <a:spcAft>
                <a:spcPts val="0"/>
              </a:spcAft>
              <a:buClrTx/>
              <a:buSzTx/>
              <a:buFontTx/>
              <a:buAutoNum type="arabicParenBoth"/>
              <a:tabLst/>
              <a:defRPr/>
            </a:pPr>
            <a:r>
              <a:rPr lang="es-AR" sz="1800" dirty="0">
                <a:effectLst/>
                <a:latin typeface="Times New Roman" panose="02020603050405020304" pitchFamily="18" charset="0"/>
                <a:ea typeface="Calibri" panose="020F0502020204030204" pitchFamily="34" charset="0"/>
                <a:cs typeface="Times New Roman" panose="02020603050405020304" pitchFamily="18" charset="0"/>
              </a:rPr>
              <a:t>Cuando comparamos entre áreas geográficas, se nota que, en el caso de la microsimulación</a:t>
            </a:r>
            <a:r>
              <a:rPr lang="es-AR" sz="1800" i="0" dirty="0">
                <a:effectLst/>
                <a:latin typeface="Times New Roman" panose="02020603050405020304" pitchFamily="18" charset="0"/>
                <a:ea typeface="Calibri" panose="020F0502020204030204" pitchFamily="34" charset="0"/>
                <a:cs typeface="Times New Roman" panose="02020603050405020304" pitchFamily="18" charset="0"/>
              </a:rPr>
              <a:t> que asigna secundario completo a los individuos entre 18 y 40 años de edad con nivel inferior a éste</a:t>
            </a:r>
            <a:r>
              <a:rPr lang="es-AR" sz="1800" dirty="0">
                <a:effectLst/>
                <a:latin typeface="Times New Roman" panose="02020603050405020304" pitchFamily="18" charset="0"/>
                <a:ea typeface="Calibri" panose="020F0502020204030204" pitchFamily="34" charset="0"/>
                <a:cs typeface="Times New Roman" panose="02020603050405020304" pitchFamily="18" charset="0"/>
              </a:rPr>
              <a:t>, los impactos son mayores en el área rural. En cambio, en el caso de la microsimulación que reduce la tasa de desempleo, los impactos son mayores en las principales ciudades, con un impacto relativamente reducido en el área rural. Lo anterior es consecuente con lo presentado en la Tabla 2, en donde se vio, por un lado, que los hogares rurales tienen, en promedio, cons</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iderablemente menos años de educación y una menor tasa de desempleo que las demás áreas y, por otro lado, que los hogares de las principales ciudades tienen una tasa de desempleo promedio por encima de la correspondiente al agregado nacional.</a:t>
            </a:r>
          </a:p>
          <a:p>
            <a:pPr marL="228600" marR="0" lvl="0" indent="-228600" algn="just" defTabSz="914400" rtl="0" eaLnBrk="1" fontAlgn="auto" latinLnBrk="0" hangingPunct="1">
              <a:lnSpc>
                <a:spcPct val="100000"/>
              </a:lnSpc>
              <a:spcBef>
                <a:spcPts val="0"/>
              </a:spcBef>
              <a:spcAft>
                <a:spcPts val="0"/>
              </a:spcAft>
              <a:buClrTx/>
              <a:buSzTx/>
              <a:buFontTx/>
              <a:buAutoNum type="arabicParenBoth"/>
              <a:tabLst/>
              <a:defRPr/>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En síntesis, en todas las microsimulaciones, se puede observar cómo los impactos en la reducción de la pobreza son mayores en los más pobres, lo cual se refleja, por un lado, en que las caídas son mayores en los indicadores de pobreza extrema en comparación a los de pobreza y, por otro lado, en que las caídas son mayores en la severidad de la pobreza en comparación a la incidencia.</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17</a:t>
            </a:fld>
            <a:endParaRPr lang="es-AR"/>
          </a:p>
        </p:txBody>
      </p:sp>
    </p:spTree>
    <p:extLst>
      <p:ext uri="{BB962C8B-B14F-4D97-AF65-F5344CB8AC3E}">
        <p14:creationId xmlns:p14="http://schemas.microsoft.com/office/powerpoint/2010/main" val="2358341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latin typeface="Times New Roman" panose="02020603050405020304" pitchFamily="18" charset="0"/>
                <a:cs typeface="Times New Roman" panose="02020603050405020304" pitchFamily="18" charset="0"/>
              </a:rPr>
              <a:t>Con el fin de presentar una breve ilustración gráfica de lo dicho anteriormente, en la Figura 8 del trabajo, </a:t>
            </a:r>
            <a:r>
              <a:rPr lang="es-MX" sz="1200" dirty="0">
                <a:effectLst/>
                <a:latin typeface="Times New Roman" panose="02020603050405020304" pitchFamily="18" charset="0"/>
                <a:ea typeface="Calibri" panose="020F0502020204030204" pitchFamily="34" charset="0"/>
              </a:rPr>
              <a:t>se presentan curvas de incidencia del crecimiento </a:t>
            </a:r>
            <a:r>
              <a:rPr lang="es-AR" sz="1200" dirty="0">
                <a:effectLst/>
                <a:latin typeface="Times New Roman" panose="02020603050405020304" pitchFamily="18" charset="0"/>
                <a:ea typeface="Calibri" panose="020F0502020204030204" pitchFamily="34" charset="0"/>
              </a:rPr>
              <a:t>para el agregado nacional </a:t>
            </a:r>
            <a:r>
              <a:rPr lang="es-MX" sz="1200" dirty="0">
                <a:effectLst/>
                <a:latin typeface="Times New Roman" panose="02020603050405020304" pitchFamily="18" charset="0"/>
                <a:ea typeface="Calibri" panose="020F0502020204030204" pitchFamily="34" charset="0"/>
              </a:rPr>
              <a:t>para las tres microsimulaciones.</a:t>
            </a:r>
          </a:p>
          <a:p>
            <a:pPr marL="228600" indent="-228600" algn="just">
              <a:buAutoNum type="arabicParenBoth"/>
            </a:pPr>
            <a:r>
              <a:rPr lang="es-MX" sz="1200" dirty="0">
                <a:effectLst/>
                <a:latin typeface="Times New Roman" panose="02020603050405020304" pitchFamily="18" charset="0"/>
                <a:cs typeface="Times New Roman" panose="02020603050405020304" pitchFamily="18" charset="0"/>
              </a:rPr>
              <a:t>En todos los casos, dado que las curvas se encuentran por encima del eje y tienen pendiente negativa, se puede concluir que la pobreza y la desigualdad disminuyen respecto del escenario original 2018.</a:t>
            </a:r>
            <a:endParaRPr lang="es-AR" sz="1200" dirty="0">
              <a:latin typeface="Times New Roman" panose="02020603050405020304" pitchFamily="18"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18</a:t>
            </a:fld>
            <a:endParaRPr lang="es-AR"/>
          </a:p>
        </p:txBody>
      </p:sp>
    </p:spTree>
    <p:extLst>
      <p:ext uri="{BB962C8B-B14F-4D97-AF65-F5344CB8AC3E}">
        <p14:creationId xmlns:p14="http://schemas.microsoft.com/office/powerpoint/2010/main" val="32577156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spcAft>
                <a:spcPts val="400"/>
              </a:spcAft>
              <a:buFont typeface="Wingdings" panose="05000000000000000000" pitchFamily="2" charset="2"/>
              <a:buAutoNum type="arabicParenBoth"/>
            </a:pPr>
            <a:r>
              <a:rPr lang="es-AR" sz="1200" dirty="0">
                <a:effectLst/>
                <a:latin typeface="Times New Roman" panose="02020603050405020304" pitchFamily="18" charset="0"/>
                <a:ea typeface="Calibri" panose="020F0502020204030204" pitchFamily="34" charset="0"/>
              </a:rPr>
              <a:t>Finalmente, como principales resultados, se encontró que el efecto crecimiento y el efecto redistribución tendieron a reducir la pobreza, en tanto que el efecto línea tendió a incrementarla, patrón que se mantiene a lo largo de las diferentes áreas geográficas y de cada una de las principales ciudades.</a:t>
            </a:r>
          </a:p>
          <a:p>
            <a:pPr marL="228600" indent="-228600" algn="just">
              <a:spcAft>
                <a:spcPts val="400"/>
              </a:spcAft>
              <a:buFont typeface="Wingdings" panose="05000000000000000000" pitchFamily="2" charset="2"/>
              <a:buAutoNum type="arabicParenBoth"/>
            </a:pPr>
            <a:r>
              <a:rPr lang="es-AR" sz="1200" dirty="0">
                <a:effectLst/>
                <a:latin typeface="Times New Roman" panose="02020603050405020304" pitchFamily="18" charset="0"/>
                <a:ea typeface="Calibri" panose="020F0502020204030204" pitchFamily="34" charset="0"/>
              </a:rPr>
              <a:t>También, se obtuvo que los cambios en las características de los hogares acontecidos en Colombia entre 2002 y 2018 se relacionaron positivamente con la reducción de la pobreza.</a:t>
            </a:r>
          </a:p>
          <a:p>
            <a:pPr marL="228600" indent="-228600" algn="just">
              <a:spcAft>
                <a:spcPts val="400"/>
              </a:spcAft>
              <a:buFont typeface="Wingdings" panose="05000000000000000000" pitchFamily="2" charset="2"/>
              <a:buAutoNum type="arabicParenBoth"/>
            </a:pPr>
            <a:r>
              <a:rPr lang="es-AR" sz="1200" dirty="0">
                <a:effectLst/>
                <a:latin typeface="Times New Roman" panose="02020603050405020304" pitchFamily="18" charset="0"/>
                <a:ea typeface="Calibri" panose="020F0502020204030204" pitchFamily="34" charset="0"/>
              </a:rPr>
              <a:t>Además, aumentar tanto el nivel educativo de la población como la tasa de empleo tienen un efecto aliviador de la pobreza, con mayor impacto en los más pobres.</a:t>
            </a:r>
            <a:endParaRPr lang="es-AR" sz="1200" dirty="0">
              <a:latin typeface="Times New Roman" panose="02020603050405020304" pitchFamily="18"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19</a:t>
            </a:fld>
            <a:endParaRPr lang="es-AR"/>
          </a:p>
        </p:txBody>
      </p:sp>
    </p:spTree>
    <p:extLst>
      <p:ext uri="{BB962C8B-B14F-4D97-AF65-F5344CB8AC3E}">
        <p14:creationId xmlns:p14="http://schemas.microsoft.com/office/powerpoint/2010/main" val="32397302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r>
              <a:rPr lang="es-AR" dirty="0">
                <a:latin typeface="Times New Roman" panose="02020603050405020304" pitchFamily="18" charset="0"/>
                <a:cs typeface="Times New Roman" panose="02020603050405020304" pitchFamily="18" charset="0"/>
              </a:rPr>
              <a:t>Muchas gracias.</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20</a:t>
            </a:fld>
            <a:endParaRPr lang="es-AR"/>
          </a:p>
        </p:txBody>
      </p:sp>
    </p:spTree>
    <p:extLst>
      <p:ext uri="{BB962C8B-B14F-4D97-AF65-F5344CB8AC3E}">
        <p14:creationId xmlns:p14="http://schemas.microsoft.com/office/powerpoint/2010/main" val="405749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550" b="0" i="0">
                <a:solidFill>
                  <a:schemeClr val="bg1"/>
                </a:solidFill>
                <a:latin typeface="Times New Roman"/>
                <a:cs typeface="Times New Roman"/>
              </a:defRPr>
            </a:lvl1pPr>
          </a:lstStyle>
          <a:p>
            <a:pPr marL="12700">
              <a:lnSpc>
                <a:spcPts val="655"/>
              </a:lnSpc>
            </a:pPr>
            <a:r>
              <a:rPr spc="70" dirty="0"/>
              <a:t>Prof. </a:t>
            </a:r>
            <a:r>
              <a:rPr spc="75" dirty="0"/>
              <a:t>Mariana</a:t>
            </a:r>
            <a:r>
              <a:rPr spc="-60" dirty="0"/>
              <a:t> </a:t>
            </a:r>
            <a:r>
              <a:rPr spc="65" dirty="0"/>
              <a:t>Marchionni</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5/10/2022</a:t>
            </a:fld>
            <a:endParaRPr lang="en-US"/>
          </a:p>
        </p:txBody>
      </p:sp>
      <p:sp>
        <p:nvSpPr>
          <p:cNvPr id="6" name="Holder 6"/>
          <p:cNvSpPr>
            <a:spLocks noGrp="1"/>
          </p:cNvSpPr>
          <p:nvPr>
            <p:ph type="sldNum" sz="quarter" idx="7"/>
          </p:nvPr>
        </p:nvSpPr>
        <p:spPr/>
        <p:txBody>
          <a:bodyPr lIns="0" tIns="0" rIns="0" bIns="0"/>
          <a:lstStyle>
            <a:lvl1pPr>
              <a:defRPr sz="550" b="0" i="0">
                <a:solidFill>
                  <a:schemeClr val="bg1"/>
                </a:solidFill>
                <a:latin typeface="Times New Roman"/>
                <a:cs typeface="Times New Roman"/>
              </a:defRPr>
            </a:lvl1pPr>
          </a:lstStyle>
          <a:p>
            <a:pPr marL="25400">
              <a:lnSpc>
                <a:spcPts val="655"/>
              </a:lnSpc>
            </a:pPr>
            <a:fld id="{81D60167-4931-47E6-BA6A-407CBD079E47}" type="slidenum">
              <a:rPr spc="75" dirty="0"/>
              <a:t>‹Nº›</a:t>
            </a:fld>
            <a:r>
              <a:rPr spc="-60" dirty="0"/>
              <a:t> </a:t>
            </a:r>
            <a:r>
              <a:rPr spc="195" dirty="0"/>
              <a:t>/</a:t>
            </a:r>
            <a:r>
              <a:rPr spc="-55" dirty="0"/>
              <a:t> </a:t>
            </a:r>
            <a:r>
              <a:rPr spc="75" dirty="0"/>
              <a:t>46</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550" b="0" i="0">
                <a:solidFill>
                  <a:schemeClr val="bg1"/>
                </a:solidFill>
                <a:latin typeface="Times New Roman"/>
                <a:cs typeface="Times New Roman"/>
              </a:defRPr>
            </a:lvl1pPr>
          </a:lstStyle>
          <a:p>
            <a:pPr marL="12700">
              <a:lnSpc>
                <a:spcPts val="655"/>
              </a:lnSpc>
            </a:pPr>
            <a:r>
              <a:rPr spc="70" dirty="0"/>
              <a:t>Prof. </a:t>
            </a:r>
            <a:r>
              <a:rPr spc="75" dirty="0"/>
              <a:t>Mariana</a:t>
            </a:r>
            <a:r>
              <a:rPr spc="-60" dirty="0"/>
              <a:t> </a:t>
            </a:r>
            <a:r>
              <a:rPr spc="65" dirty="0"/>
              <a:t>Marchionni</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5/10/2022</a:t>
            </a:fld>
            <a:endParaRPr lang="en-US"/>
          </a:p>
        </p:txBody>
      </p:sp>
      <p:sp>
        <p:nvSpPr>
          <p:cNvPr id="6" name="Holder 6"/>
          <p:cNvSpPr>
            <a:spLocks noGrp="1"/>
          </p:cNvSpPr>
          <p:nvPr>
            <p:ph type="sldNum" sz="quarter" idx="7"/>
          </p:nvPr>
        </p:nvSpPr>
        <p:spPr/>
        <p:txBody>
          <a:bodyPr lIns="0" tIns="0" rIns="0" bIns="0"/>
          <a:lstStyle>
            <a:lvl1pPr>
              <a:defRPr sz="550" b="0" i="0">
                <a:solidFill>
                  <a:schemeClr val="bg1"/>
                </a:solidFill>
                <a:latin typeface="Times New Roman"/>
                <a:cs typeface="Times New Roman"/>
              </a:defRPr>
            </a:lvl1pPr>
          </a:lstStyle>
          <a:p>
            <a:pPr marL="25400">
              <a:lnSpc>
                <a:spcPts val="655"/>
              </a:lnSpc>
            </a:pPr>
            <a:fld id="{81D60167-4931-47E6-BA6A-407CBD079E47}" type="slidenum">
              <a:rPr spc="75" dirty="0"/>
              <a:t>‹Nº›</a:t>
            </a:fld>
            <a:r>
              <a:rPr spc="-60" dirty="0"/>
              <a:t> </a:t>
            </a:r>
            <a:r>
              <a:rPr spc="195" dirty="0"/>
              <a:t>/</a:t>
            </a:r>
            <a:r>
              <a:rPr spc="-55" dirty="0"/>
              <a:t> </a:t>
            </a:r>
            <a:r>
              <a:rPr spc="75" dirty="0"/>
              <a:t>46</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550" b="0" i="0">
                <a:solidFill>
                  <a:schemeClr val="bg1"/>
                </a:solidFill>
                <a:latin typeface="Times New Roman"/>
                <a:cs typeface="Times New Roman"/>
              </a:defRPr>
            </a:lvl1pPr>
          </a:lstStyle>
          <a:p>
            <a:pPr marL="12700">
              <a:lnSpc>
                <a:spcPts val="655"/>
              </a:lnSpc>
            </a:pPr>
            <a:r>
              <a:rPr spc="70" dirty="0"/>
              <a:t>Prof. </a:t>
            </a:r>
            <a:r>
              <a:rPr spc="75" dirty="0"/>
              <a:t>Mariana</a:t>
            </a:r>
            <a:r>
              <a:rPr spc="-60" dirty="0"/>
              <a:t> </a:t>
            </a:r>
            <a:r>
              <a:rPr spc="65" dirty="0"/>
              <a:t>Marchionni</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5/10/2022</a:t>
            </a:fld>
            <a:endParaRPr lang="en-US"/>
          </a:p>
        </p:txBody>
      </p:sp>
      <p:sp>
        <p:nvSpPr>
          <p:cNvPr id="7" name="Holder 7"/>
          <p:cNvSpPr>
            <a:spLocks noGrp="1"/>
          </p:cNvSpPr>
          <p:nvPr>
            <p:ph type="sldNum" sz="quarter" idx="7"/>
          </p:nvPr>
        </p:nvSpPr>
        <p:spPr/>
        <p:txBody>
          <a:bodyPr lIns="0" tIns="0" rIns="0" bIns="0"/>
          <a:lstStyle>
            <a:lvl1pPr>
              <a:defRPr sz="550" b="0" i="0">
                <a:solidFill>
                  <a:schemeClr val="bg1"/>
                </a:solidFill>
                <a:latin typeface="Times New Roman"/>
                <a:cs typeface="Times New Roman"/>
              </a:defRPr>
            </a:lvl1pPr>
          </a:lstStyle>
          <a:p>
            <a:pPr marL="25400">
              <a:lnSpc>
                <a:spcPts val="655"/>
              </a:lnSpc>
            </a:pPr>
            <a:fld id="{81D60167-4931-47E6-BA6A-407CBD079E47}" type="slidenum">
              <a:rPr spc="75" dirty="0"/>
              <a:t>‹Nº›</a:t>
            </a:fld>
            <a:r>
              <a:rPr spc="-60" dirty="0"/>
              <a:t> </a:t>
            </a:r>
            <a:r>
              <a:rPr spc="195" dirty="0"/>
              <a:t>/</a:t>
            </a:r>
            <a:r>
              <a:rPr spc="-55" dirty="0"/>
              <a:t> </a:t>
            </a:r>
            <a:r>
              <a:rPr spc="75" dirty="0"/>
              <a:t>46</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defRPr sz="550" b="0" i="0">
                <a:solidFill>
                  <a:schemeClr val="bg1"/>
                </a:solidFill>
                <a:latin typeface="Times New Roman"/>
                <a:cs typeface="Times New Roman"/>
              </a:defRPr>
            </a:lvl1pPr>
          </a:lstStyle>
          <a:p>
            <a:pPr marL="12700">
              <a:lnSpc>
                <a:spcPts val="655"/>
              </a:lnSpc>
            </a:pPr>
            <a:r>
              <a:rPr spc="70" dirty="0"/>
              <a:t>Prof. </a:t>
            </a:r>
            <a:r>
              <a:rPr spc="75" dirty="0"/>
              <a:t>Mariana</a:t>
            </a:r>
            <a:r>
              <a:rPr spc="-60" dirty="0"/>
              <a:t> </a:t>
            </a:r>
            <a:r>
              <a:rPr spc="65" dirty="0"/>
              <a:t>Marchionni</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5/10/2022</a:t>
            </a:fld>
            <a:endParaRPr lang="en-US"/>
          </a:p>
        </p:txBody>
      </p:sp>
      <p:sp>
        <p:nvSpPr>
          <p:cNvPr id="5" name="Holder 5"/>
          <p:cNvSpPr>
            <a:spLocks noGrp="1"/>
          </p:cNvSpPr>
          <p:nvPr>
            <p:ph type="sldNum" sz="quarter" idx="7"/>
          </p:nvPr>
        </p:nvSpPr>
        <p:spPr/>
        <p:txBody>
          <a:bodyPr lIns="0" tIns="0" rIns="0" bIns="0"/>
          <a:lstStyle>
            <a:lvl1pPr>
              <a:defRPr sz="550" b="0" i="0">
                <a:solidFill>
                  <a:schemeClr val="bg1"/>
                </a:solidFill>
                <a:latin typeface="Times New Roman"/>
                <a:cs typeface="Times New Roman"/>
              </a:defRPr>
            </a:lvl1pPr>
          </a:lstStyle>
          <a:p>
            <a:pPr marL="25400">
              <a:lnSpc>
                <a:spcPts val="655"/>
              </a:lnSpc>
            </a:pPr>
            <a:fld id="{81D60167-4931-47E6-BA6A-407CBD079E47}" type="slidenum">
              <a:rPr spc="75" dirty="0"/>
              <a:t>‹Nº›</a:t>
            </a:fld>
            <a:r>
              <a:rPr spc="-60" dirty="0"/>
              <a:t> </a:t>
            </a:r>
            <a:r>
              <a:rPr spc="195" dirty="0"/>
              <a:t>/</a:t>
            </a:r>
            <a:r>
              <a:rPr spc="-55" dirty="0"/>
              <a:t> </a:t>
            </a:r>
            <a:r>
              <a:rPr spc="75" dirty="0"/>
              <a:t>46</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550" b="0" i="0">
                <a:solidFill>
                  <a:schemeClr val="bg1"/>
                </a:solidFill>
                <a:latin typeface="Times New Roman"/>
                <a:cs typeface="Times New Roman"/>
              </a:defRPr>
            </a:lvl1pPr>
          </a:lstStyle>
          <a:p>
            <a:pPr marL="12700">
              <a:lnSpc>
                <a:spcPts val="655"/>
              </a:lnSpc>
            </a:pPr>
            <a:r>
              <a:rPr spc="70" dirty="0"/>
              <a:t>Prof. </a:t>
            </a:r>
            <a:r>
              <a:rPr spc="75" dirty="0"/>
              <a:t>Mariana</a:t>
            </a:r>
            <a:r>
              <a:rPr spc="-60" dirty="0"/>
              <a:t> </a:t>
            </a:r>
            <a:r>
              <a:rPr spc="65" dirty="0"/>
              <a:t>Marchionni</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5/10/2022</a:t>
            </a:fld>
            <a:endParaRPr lang="en-US"/>
          </a:p>
        </p:txBody>
      </p:sp>
      <p:sp>
        <p:nvSpPr>
          <p:cNvPr id="4" name="Holder 4"/>
          <p:cNvSpPr>
            <a:spLocks noGrp="1"/>
          </p:cNvSpPr>
          <p:nvPr>
            <p:ph type="sldNum" sz="quarter" idx="7"/>
          </p:nvPr>
        </p:nvSpPr>
        <p:spPr/>
        <p:txBody>
          <a:bodyPr lIns="0" tIns="0" rIns="0" bIns="0"/>
          <a:lstStyle>
            <a:lvl1pPr>
              <a:defRPr sz="550" b="0" i="0">
                <a:solidFill>
                  <a:schemeClr val="bg1"/>
                </a:solidFill>
                <a:latin typeface="Times New Roman"/>
                <a:cs typeface="Times New Roman"/>
              </a:defRPr>
            </a:lvl1pPr>
          </a:lstStyle>
          <a:p>
            <a:pPr marL="25400">
              <a:lnSpc>
                <a:spcPts val="655"/>
              </a:lnSpc>
            </a:pPr>
            <a:fld id="{81D60167-4931-47E6-BA6A-407CBD079E47}" type="slidenum">
              <a:rPr spc="75" dirty="0"/>
              <a:t>‹Nº›</a:t>
            </a:fld>
            <a:r>
              <a:rPr spc="-60" dirty="0"/>
              <a:t> </a:t>
            </a:r>
            <a:r>
              <a:rPr spc="195" dirty="0"/>
              <a:t>/</a:t>
            </a:r>
            <a:r>
              <a:rPr spc="-55" dirty="0"/>
              <a:t> </a:t>
            </a:r>
            <a:r>
              <a:rPr spc="75" dirty="0"/>
              <a:t>46</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30505" y="138430"/>
            <a:ext cx="4149090" cy="55372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230505" y="795972"/>
            <a:ext cx="4149090"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218018" y="3348940"/>
            <a:ext cx="991235" cy="100329"/>
          </a:xfrm>
          <a:prstGeom prst="rect">
            <a:avLst/>
          </a:prstGeom>
        </p:spPr>
        <p:txBody>
          <a:bodyPr wrap="square" lIns="0" tIns="0" rIns="0" bIns="0">
            <a:spAutoFit/>
          </a:bodyPr>
          <a:lstStyle>
            <a:lvl1pPr>
              <a:defRPr sz="550" b="0" i="0">
                <a:solidFill>
                  <a:schemeClr val="bg1"/>
                </a:solidFill>
                <a:latin typeface="Times New Roman"/>
                <a:cs typeface="Times New Roman"/>
              </a:defRPr>
            </a:lvl1pPr>
          </a:lstStyle>
          <a:p>
            <a:pPr marL="12700">
              <a:lnSpc>
                <a:spcPts val="655"/>
              </a:lnSpc>
            </a:pPr>
            <a:r>
              <a:rPr spc="70" dirty="0"/>
              <a:t>Prof. </a:t>
            </a:r>
            <a:r>
              <a:rPr spc="75" dirty="0"/>
              <a:t>Mariana</a:t>
            </a:r>
            <a:r>
              <a:rPr spc="-60" dirty="0"/>
              <a:t> </a:t>
            </a:r>
            <a:r>
              <a:rPr spc="65" dirty="0"/>
              <a:t>Marchionni</a:t>
            </a: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5/10/2022</a:t>
            </a:fld>
            <a:endParaRPr lang="en-US"/>
          </a:p>
        </p:txBody>
      </p:sp>
      <p:sp>
        <p:nvSpPr>
          <p:cNvPr id="6" name="Holder 6"/>
          <p:cNvSpPr>
            <a:spLocks noGrp="1"/>
          </p:cNvSpPr>
          <p:nvPr>
            <p:ph type="sldNum" sz="quarter" idx="7"/>
          </p:nvPr>
        </p:nvSpPr>
        <p:spPr>
          <a:xfrm>
            <a:off x="4054538" y="3348940"/>
            <a:ext cx="290829" cy="100329"/>
          </a:xfrm>
          <a:prstGeom prst="rect">
            <a:avLst/>
          </a:prstGeom>
        </p:spPr>
        <p:txBody>
          <a:bodyPr wrap="square" lIns="0" tIns="0" rIns="0" bIns="0">
            <a:spAutoFit/>
          </a:bodyPr>
          <a:lstStyle>
            <a:lvl1pPr>
              <a:defRPr sz="550" b="0" i="0">
                <a:solidFill>
                  <a:schemeClr val="bg1"/>
                </a:solidFill>
                <a:latin typeface="Times New Roman"/>
                <a:cs typeface="Times New Roman"/>
              </a:defRPr>
            </a:lvl1pPr>
          </a:lstStyle>
          <a:p>
            <a:pPr marL="25400">
              <a:lnSpc>
                <a:spcPts val="655"/>
              </a:lnSpc>
            </a:pPr>
            <a:fld id="{81D60167-4931-47E6-BA6A-407CBD079E47}" type="slidenum">
              <a:rPr spc="75" dirty="0"/>
              <a:t>‹Nº›</a:t>
            </a:fld>
            <a:r>
              <a:rPr spc="-60" dirty="0"/>
              <a:t> </a:t>
            </a:r>
            <a:r>
              <a:rPr spc="195" dirty="0"/>
              <a:t>/</a:t>
            </a:r>
            <a:r>
              <a:rPr spc="-55" dirty="0"/>
              <a:t> </a:t>
            </a:r>
            <a:r>
              <a:rPr spc="75" dirty="0"/>
              <a:t>46</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13648"/>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endParaRPr sz="1200"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13648"/>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endParaRPr sz="800" dirty="0">
              <a:latin typeface="Times New Roman" panose="02020603050405020304" pitchFamily="18" charset="0"/>
              <a:cs typeface="Times New Roman" panose="02020603050405020304" pitchFamily="18" charset="0"/>
            </a:endParaRPr>
          </a:p>
        </p:txBody>
      </p:sp>
      <p:sp>
        <p:nvSpPr>
          <p:cNvPr id="40" name="object 40"/>
          <p:cNvSpPr/>
          <p:nvPr/>
        </p:nvSpPr>
        <p:spPr>
          <a:xfrm>
            <a:off x="148640" y="706763"/>
            <a:ext cx="4320000" cy="720000"/>
          </a:xfrm>
          <a:custGeom>
            <a:avLst/>
            <a:gdLst/>
            <a:ahLst/>
            <a:cxnLst/>
            <a:rect l="l" t="t" r="r" b="b"/>
            <a:pathLst>
              <a:path w="3989704" h="437515">
                <a:moveTo>
                  <a:pt x="3989652" y="0"/>
                </a:moveTo>
                <a:lnTo>
                  <a:pt x="0" y="0"/>
                </a:lnTo>
                <a:lnTo>
                  <a:pt x="0" y="386697"/>
                </a:lnTo>
                <a:lnTo>
                  <a:pt x="4008" y="406422"/>
                </a:lnTo>
                <a:lnTo>
                  <a:pt x="14922" y="422575"/>
                </a:lnTo>
                <a:lnTo>
                  <a:pt x="31075" y="433489"/>
                </a:lnTo>
                <a:lnTo>
                  <a:pt x="50800" y="437498"/>
                </a:lnTo>
                <a:lnTo>
                  <a:pt x="3938852" y="437498"/>
                </a:lnTo>
                <a:lnTo>
                  <a:pt x="3958576" y="433489"/>
                </a:lnTo>
                <a:lnTo>
                  <a:pt x="3974729" y="422575"/>
                </a:lnTo>
                <a:lnTo>
                  <a:pt x="3985644" y="406422"/>
                </a:lnTo>
                <a:lnTo>
                  <a:pt x="3989652" y="386697"/>
                </a:lnTo>
                <a:lnTo>
                  <a:pt x="3989652" y="0"/>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lstStyle/>
          <a:p>
            <a:pPr algn="ctr"/>
            <a:r>
              <a:rPr lang="es-AR" sz="1600" i="1" dirty="0">
                <a:solidFill>
                  <a:schemeClr val="bg1"/>
                </a:solidFill>
                <a:latin typeface="Times New Roman" panose="02020603050405020304" pitchFamily="18" charset="0"/>
                <a:cs typeface="Times New Roman" panose="02020603050405020304" pitchFamily="18" charset="0"/>
              </a:rPr>
              <a:t>Evolución de la pobreza monetaria en Colombia: Un análisis de descomposiciones y microsimulaciones</a:t>
            </a:r>
          </a:p>
        </p:txBody>
      </p:sp>
      <p:sp>
        <p:nvSpPr>
          <p:cNvPr id="46" name="object 46"/>
          <p:cNvSpPr txBox="1"/>
          <p:nvPr/>
        </p:nvSpPr>
        <p:spPr>
          <a:xfrm>
            <a:off x="501461" y="1637179"/>
            <a:ext cx="3600000" cy="1393330"/>
          </a:xfrm>
          <a:prstGeom prst="rect">
            <a:avLst/>
          </a:prstGeom>
        </p:spPr>
        <p:txBody>
          <a:bodyPr vert="horz" wrap="square" lIns="0" tIns="635" rIns="0" bIns="0" rtlCol="0">
            <a:spAutoFit/>
          </a:bodyPr>
          <a:lstStyle/>
          <a:p>
            <a:pPr marR="5080" algn="ctr"/>
            <a:r>
              <a:rPr lang="es-AR" sz="1000" b="1" spc="-10" dirty="0">
                <a:latin typeface="Times New Roman"/>
                <a:cs typeface="Times New Roman"/>
              </a:rPr>
              <a:t>Tesista:</a:t>
            </a:r>
            <a:r>
              <a:rPr lang="es-AR" sz="1000" spc="-10" dirty="0">
                <a:latin typeface="Times New Roman"/>
                <a:cs typeface="Times New Roman"/>
              </a:rPr>
              <a:t> Juan Menduiña</a:t>
            </a:r>
          </a:p>
          <a:p>
            <a:pPr marR="5080" algn="ctr"/>
            <a:endParaRPr lang="es-AR" sz="1000" spc="-10" dirty="0">
              <a:latin typeface="Times New Roman"/>
              <a:cs typeface="Times New Roman"/>
            </a:endParaRPr>
          </a:p>
          <a:p>
            <a:pPr marR="5080" algn="ctr"/>
            <a:r>
              <a:rPr lang="es-AR" sz="1000" b="1" spc="-10" dirty="0">
                <a:latin typeface="Times New Roman"/>
                <a:cs typeface="Times New Roman"/>
              </a:rPr>
              <a:t>Director:</a:t>
            </a:r>
            <a:r>
              <a:rPr lang="es-AR" sz="1000" spc="-10" dirty="0">
                <a:latin typeface="Times New Roman"/>
                <a:cs typeface="Times New Roman"/>
              </a:rPr>
              <a:t> Javier Alejo</a:t>
            </a:r>
          </a:p>
          <a:p>
            <a:pPr marR="5080" algn="ctr"/>
            <a:r>
              <a:rPr lang="es-AR" sz="1000" b="1" spc="-10" dirty="0">
                <a:latin typeface="Times New Roman"/>
                <a:cs typeface="Times New Roman"/>
              </a:rPr>
              <a:t>Co-Director:</a:t>
            </a:r>
            <a:r>
              <a:rPr lang="es-AR" sz="1000" spc="-10" dirty="0">
                <a:latin typeface="Times New Roman"/>
                <a:cs typeface="Times New Roman"/>
              </a:rPr>
              <a:t> Leonardo Gasparini</a:t>
            </a:r>
          </a:p>
          <a:p>
            <a:pPr marR="5080" algn="ctr"/>
            <a:endParaRPr lang="es-AR" sz="800" spc="-10" dirty="0">
              <a:latin typeface="Times New Roman"/>
              <a:cs typeface="Times New Roman"/>
            </a:endParaRPr>
          </a:p>
          <a:p>
            <a:pPr marR="5080" algn="ctr"/>
            <a:r>
              <a:rPr lang="es-AR" sz="800" spc="5" dirty="0">
                <a:latin typeface="Times New Roman"/>
                <a:cs typeface="Times New Roman"/>
              </a:rPr>
              <a:t>Seminario de Avance de Tesis</a:t>
            </a:r>
          </a:p>
          <a:p>
            <a:pPr marR="5080" algn="ctr"/>
            <a:r>
              <a:rPr lang="es-AR" sz="800" spc="5" dirty="0">
                <a:latin typeface="Times New Roman"/>
                <a:cs typeface="Times New Roman"/>
              </a:rPr>
              <a:t>Maestría </a:t>
            </a:r>
            <a:r>
              <a:rPr lang="es-AR" sz="800" dirty="0">
                <a:latin typeface="Times New Roman"/>
                <a:cs typeface="Times New Roman"/>
              </a:rPr>
              <a:t>en </a:t>
            </a:r>
            <a:r>
              <a:rPr lang="es-AR" sz="800" spc="-10" dirty="0">
                <a:latin typeface="Times New Roman"/>
                <a:cs typeface="Times New Roman"/>
              </a:rPr>
              <a:t>Economía</a:t>
            </a:r>
          </a:p>
          <a:p>
            <a:pPr marR="5080" algn="ctr"/>
            <a:r>
              <a:rPr lang="es-AR" sz="800" spc="-10" dirty="0">
                <a:latin typeface="Times New Roman"/>
                <a:cs typeface="Times New Roman"/>
              </a:rPr>
              <a:t>Universidad Nacional de La Plata</a:t>
            </a:r>
            <a:endParaRPr lang="es-AR" sz="800" spc="-25" dirty="0">
              <a:latin typeface="Times New Roman"/>
              <a:cs typeface="Times New Roman"/>
            </a:endParaRPr>
          </a:p>
          <a:p>
            <a:pPr marR="5080" algn="ctr"/>
            <a:endParaRPr lang="es-AR" sz="800" spc="-25" dirty="0">
              <a:latin typeface="Times New Roman"/>
              <a:cs typeface="Times New Roman"/>
            </a:endParaRPr>
          </a:p>
          <a:p>
            <a:pPr marR="5080" algn="ctr"/>
            <a:r>
              <a:rPr lang="es-AR" sz="800" spc="-25" dirty="0">
                <a:latin typeface="Times New Roman"/>
                <a:cs typeface="Times New Roman"/>
              </a:rPr>
              <a:t>Septiembre 2021</a:t>
            </a:r>
            <a:endParaRPr lang="es-AR" sz="800" dirty="0">
              <a:latin typeface="Times New Roman"/>
              <a:cs typeface="Times New Roman"/>
            </a:endParaRP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1 / </a:t>
            </a:r>
            <a:r>
              <a:rPr lang="es-AR" sz="600" spc="195" dirty="0"/>
              <a:t>20</a:t>
            </a:r>
            <a:endParaRPr spc="75"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Contenido</a:t>
            </a:r>
            <a:endParaRPr sz="1600"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endParaRPr sz="800" dirty="0">
              <a:latin typeface="Times New Roman" panose="02020603050405020304" pitchFamily="18" charset="0"/>
              <a:cs typeface="Times New Roman" panose="02020603050405020304" pitchFamily="18" charset="0"/>
            </a:endParaRP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2 / </a:t>
            </a:r>
            <a:r>
              <a:rPr lang="es-AR" sz="600" spc="195" dirty="0"/>
              <a:t>20</a:t>
            </a:r>
            <a:endParaRPr spc="75" dirty="0"/>
          </a:p>
        </p:txBody>
      </p:sp>
      <p:sp>
        <p:nvSpPr>
          <p:cNvPr id="37" name="CuadroTexto 36">
            <a:extLst>
              <a:ext uri="{FF2B5EF4-FFF2-40B4-BE49-F238E27FC236}">
                <a16:creationId xmlns:a16="http://schemas.microsoft.com/office/drawing/2014/main" id="{A62DBF5F-219F-4822-A863-892FB85239E6}"/>
              </a:ext>
            </a:extLst>
          </p:cNvPr>
          <p:cNvSpPr txBox="1"/>
          <p:nvPr/>
        </p:nvSpPr>
        <p:spPr>
          <a:xfrm>
            <a:off x="141193" y="1029678"/>
            <a:ext cx="4320000" cy="1384995"/>
          </a:xfrm>
          <a:prstGeom prst="rect">
            <a:avLst/>
          </a:prstGeom>
          <a:noFill/>
        </p:spPr>
        <p:txBody>
          <a:bodyPr wrap="square" rtlCol="0">
            <a:spAutoFit/>
          </a:bodyPr>
          <a:lstStyle/>
          <a:p>
            <a:pPr marL="342900" indent="-342900" algn="just">
              <a:buFont typeface="+mj-lt"/>
              <a:buAutoNum type="arabicPeriod"/>
            </a:pPr>
            <a:r>
              <a:rPr lang="es-AR" sz="1400" dirty="0">
                <a:latin typeface="Times New Roman" panose="02020603050405020304" pitchFamily="18" charset="0"/>
                <a:ea typeface="Tahoma" panose="020B0604030504040204" pitchFamily="34" charset="0"/>
                <a:cs typeface="Times New Roman" panose="02020603050405020304" pitchFamily="18" charset="0"/>
              </a:rPr>
              <a:t>Introducción</a:t>
            </a:r>
          </a:p>
          <a:p>
            <a:pPr marL="342900" indent="-342900" algn="just">
              <a:buFont typeface="+mj-lt"/>
              <a:buAutoNum type="arabicPeriod"/>
            </a:pPr>
            <a:r>
              <a:rPr lang="es-AR" sz="1400" dirty="0">
                <a:latin typeface="Times New Roman" panose="02020603050405020304" pitchFamily="18" charset="0"/>
                <a:ea typeface="Tahoma" panose="020B0604030504040204" pitchFamily="34" charset="0"/>
                <a:cs typeface="Times New Roman" panose="02020603050405020304" pitchFamily="18" charset="0"/>
              </a:rPr>
              <a:t>Objetivo</a:t>
            </a:r>
          </a:p>
          <a:p>
            <a:pPr marL="342900" indent="-342900" algn="just">
              <a:buFont typeface="+mj-lt"/>
              <a:buAutoNum type="arabicPeriod"/>
            </a:pPr>
            <a:r>
              <a:rPr lang="es-AR" sz="1400" dirty="0">
                <a:latin typeface="Times New Roman" panose="02020603050405020304" pitchFamily="18" charset="0"/>
                <a:ea typeface="Tahoma" panose="020B0604030504040204" pitchFamily="34" charset="0"/>
                <a:cs typeface="Times New Roman" panose="02020603050405020304" pitchFamily="18" charset="0"/>
              </a:rPr>
              <a:t>Datos y estadísticas descriptivas</a:t>
            </a:r>
          </a:p>
          <a:p>
            <a:pPr marL="342900" indent="-342900" algn="just">
              <a:buFont typeface="+mj-lt"/>
              <a:buAutoNum type="arabicPeriod"/>
            </a:pPr>
            <a:r>
              <a:rPr lang="es-AR" sz="1400" dirty="0">
                <a:latin typeface="Times New Roman" panose="02020603050405020304" pitchFamily="18" charset="0"/>
                <a:ea typeface="Tahoma" panose="020B0604030504040204" pitchFamily="34" charset="0"/>
                <a:cs typeface="Times New Roman" panose="02020603050405020304" pitchFamily="18" charset="0"/>
              </a:rPr>
              <a:t>Metodología</a:t>
            </a:r>
          </a:p>
          <a:p>
            <a:pPr marL="342900" indent="-342900" algn="just">
              <a:buFont typeface="+mj-lt"/>
              <a:buAutoNum type="arabicPeriod"/>
            </a:pPr>
            <a:r>
              <a:rPr lang="es-AR" sz="1400" dirty="0">
                <a:latin typeface="Times New Roman" panose="02020603050405020304" pitchFamily="18" charset="0"/>
                <a:ea typeface="Tahoma" panose="020B0604030504040204" pitchFamily="34" charset="0"/>
                <a:cs typeface="Times New Roman" panose="02020603050405020304" pitchFamily="18" charset="0"/>
              </a:rPr>
              <a:t>Resultados</a:t>
            </a:r>
          </a:p>
          <a:p>
            <a:pPr marL="342900" indent="-342900" algn="just">
              <a:buFont typeface="+mj-lt"/>
              <a:buAutoNum type="arabicPeriod"/>
            </a:pPr>
            <a:r>
              <a:rPr lang="es-AR" sz="1400" dirty="0">
                <a:latin typeface="Times New Roman" panose="02020603050405020304" pitchFamily="18" charset="0"/>
                <a:ea typeface="Tahoma" panose="020B0604030504040204" pitchFamily="34" charset="0"/>
                <a:cs typeface="Times New Roman" panose="02020603050405020304" pitchFamily="18" charset="0"/>
              </a:rPr>
              <a:t>Conclusiones</a:t>
            </a:r>
          </a:p>
        </p:txBody>
      </p:sp>
    </p:spTree>
    <p:extLst>
      <p:ext uri="{BB962C8B-B14F-4D97-AF65-F5344CB8AC3E}">
        <p14:creationId xmlns:p14="http://schemas.microsoft.com/office/powerpoint/2010/main" val="1396780325"/>
      </p:ext>
    </p:extLst>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Introducción</a:t>
            </a:r>
            <a:endParaRPr sz="1600"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endParaRPr sz="800" dirty="0">
              <a:latin typeface="Times New Roman" panose="02020603050405020304" pitchFamily="18" charset="0"/>
              <a:cs typeface="Times New Roman" panose="02020603050405020304" pitchFamily="18" charset="0"/>
            </a:endParaRP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3 / </a:t>
            </a:r>
            <a:r>
              <a:rPr lang="es-AR" sz="600" spc="195" dirty="0"/>
              <a:t>20</a:t>
            </a:r>
            <a:endParaRPr spc="75" dirty="0"/>
          </a:p>
        </p:txBody>
      </p:sp>
      <p:sp>
        <p:nvSpPr>
          <p:cNvPr id="37" name="CuadroTexto 36">
            <a:extLst>
              <a:ext uri="{FF2B5EF4-FFF2-40B4-BE49-F238E27FC236}">
                <a16:creationId xmlns:a16="http://schemas.microsoft.com/office/drawing/2014/main" id="{A62DBF5F-219F-4822-A863-892FB85239E6}"/>
              </a:ext>
            </a:extLst>
          </p:cNvPr>
          <p:cNvSpPr txBox="1"/>
          <p:nvPr/>
        </p:nvSpPr>
        <p:spPr>
          <a:xfrm>
            <a:off x="151353" y="587375"/>
            <a:ext cx="4320000" cy="2298065"/>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La pobreza monetaria en Colombia se ha reducido de manera significativa en las últimas dos décadas.</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Sin embargo, su distribución a lo largo de los territorios es bastante heterogénea.</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La diferencia en las tasas de incidencia de la pobreza monetaria entre grandes y pequeñas ciudades es amplia.</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Por ejemplo, en 2018, en ciudades pequeñas como Quibdó y Riohacha, la tasa de incidencia superó el 47 por ciento, mientras que, en </a:t>
            </a:r>
            <a:r>
              <a:rPr lang="es-AR" sz="1000">
                <a:latin typeface="Times New Roman" panose="02020603050405020304" pitchFamily="18" charset="0"/>
                <a:ea typeface="Tahoma" panose="020B0604030504040204" pitchFamily="34" charset="0"/>
                <a:cs typeface="Times New Roman" panose="02020603050405020304" pitchFamily="18" charset="0"/>
              </a:rPr>
              <a:t>ciudades grandes como </a:t>
            </a:r>
            <a:r>
              <a:rPr lang="es-AR" sz="1000" dirty="0">
                <a:latin typeface="Times New Roman" panose="02020603050405020304" pitchFamily="18" charset="0"/>
                <a:ea typeface="Tahoma" panose="020B0604030504040204" pitchFamily="34" charset="0"/>
                <a:cs typeface="Times New Roman" panose="02020603050405020304" pitchFamily="18" charset="0"/>
              </a:rPr>
              <a:t>Bogotá y Medellín, estuvo por debajo del 14 por ciento (DANE, 2019).</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En este contexto, entender los factores asociados a la dinámica de la pobreza desde una perspectiva agregada y regional resulta de gran interés y relevancia en el plano de la política pública nacional.</a:t>
            </a:r>
          </a:p>
        </p:txBody>
      </p:sp>
    </p:spTree>
    <p:extLst>
      <p:ext uri="{BB962C8B-B14F-4D97-AF65-F5344CB8AC3E}">
        <p14:creationId xmlns:p14="http://schemas.microsoft.com/office/powerpoint/2010/main" val="3049932749"/>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Objetivo</a:t>
            </a:r>
            <a:endParaRPr sz="1600"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endParaRPr sz="800" dirty="0">
              <a:latin typeface="Times New Roman" panose="02020603050405020304" pitchFamily="18" charset="0"/>
              <a:cs typeface="Times New Roman" panose="02020603050405020304" pitchFamily="18" charset="0"/>
            </a:endParaRP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4 / </a:t>
            </a:r>
            <a:r>
              <a:rPr lang="es-AR" sz="600" spc="195" dirty="0"/>
              <a:t>20</a:t>
            </a:r>
            <a:endParaRPr spc="75" dirty="0"/>
          </a:p>
        </p:txBody>
      </p:sp>
      <p:sp>
        <p:nvSpPr>
          <p:cNvPr id="37" name="CuadroTexto 36">
            <a:extLst>
              <a:ext uri="{FF2B5EF4-FFF2-40B4-BE49-F238E27FC236}">
                <a16:creationId xmlns:a16="http://schemas.microsoft.com/office/drawing/2014/main" id="{A62DBF5F-219F-4822-A863-892FB85239E6}"/>
              </a:ext>
            </a:extLst>
          </p:cNvPr>
          <p:cNvSpPr txBox="1"/>
          <p:nvPr/>
        </p:nvSpPr>
        <p:spPr>
          <a:xfrm>
            <a:off x="151353" y="1077582"/>
            <a:ext cx="4320000" cy="1326004"/>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
            </a:pPr>
            <a:r>
              <a:rPr lang="es-AR" sz="1050" dirty="0">
                <a:effectLst/>
                <a:latin typeface="Times New Roman" panose="02020603050405020304" pitchFamily="18" charset="0"/>
                <a:ea typeface="Calibri" panose="020F0502020204030204" pitchFamily="34" charset="0"/>
              </a:rPr>
              <a:t>En esta línea, el objetivo de este trabajo fue estudiar la influencia que han tenido sobre la evolución de la pobreza monetaria en Colombia durante el período 2002-2018:</a:t>
            </a:r>
          </a:p>
          <a:p>
            <a:pPr marL="742950" lvl="1" indent="-285750" algn="just">
              <a:spcAft>
                <a:spcPts val="400"/>
              </a:spcAft>
              <a:buFont typeface="Wingdings" panose="05000000000000000000" pitchFamily="2" charset="2"/>
              <a:buChar char="ü"/>
            </a:pPr>
            <a:r>
              <a:rPr lang="es-AR" sz="1050" dirty="0">
                <a:effectLst/>
                <a:latin typeface="Times New Roman" panose="02020603050405020304" pitchFamily="18" charset="0"/>
                <a:ea typeface="Calibri" panose="020F0502020204030204" pitchFamily="34" charset="0"/>
              </a:rPr>
              <a:t>por un lado, el crecimiento de los ingresos, los cambios distributivos y la variación de los precios locales; y</a:t>
            </a:r>
          </a:p>
          <a:p>
            <a:pPr marL="742950" lvl="1" indent="-285750" algn="just">
              <a:spcAft>
                <a:spcPts val="400"/>
              </a:spcAft>
              <a:buFont typeface="Wingdings" panose="05000000000000000000" pitchFamily="2" charset="2"/>
              <a:buChar char="ü"/>
            </a:pPr>
            <a:r>
              <a:rPr lang="es-AR" sz="1050" dirty="0">
                <a:effectLst/>
                <a:latin typeface="Times New Roman" panose="02020603050405020304" pitchFamily="18" charset="0"/>
                <a:ea typeface="Calibri" panose="020F0502020204030204" pitchFamily="34" charset="0"/>
              </a:rPr>
              <a:t>por otro lado, las características económicas y sociodemográficas de los hogares.</a:t>
            </a:r>
          </a:p>
        </p:txBody>
      </p:sp>
    </p:spTree>
    <p:extLst>
      <p:ext uri="{BB962C8B-B14F-4D97-AF65-F5344CB8AC3E}">
        <p14:creationId xmlns:p14="http://schemas.microsoft.com/office/powerpoint/2010/main" val="2611856587"/>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Datos y estadísticas descriptivas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Fuente de datos</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Caracterización de los hogares</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Evolución de la pobreza monetaria</a:t>
            </a:r>
            <a:endParaRPr sz="800" dirty="0">
              <a:solidFill>
                <a:schemeClr val="bg1"/>
              </a:solidFill>
              <a:latin typeface="Times New Roman" panose="02020603050405020304" pitchFamily="18" charset="0"/>
              <a:cs typeface="Times New Roman" panose="02020603050405020304" pitchFamily="18" charset="0"/>
            </a:endParaRP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5 / </a:t>
            </a:r>
            <a:r>
              <a:rPr lang="es-AR" sz="600" spc="195" dirty="0"/>
              <a:t>20</a:t>
            </a:r>
            <a:endParaRPr spc="75" dirty="0"/>
          </a:p>
        </p:txBody>
      </p:sp>
      <p:sp>
        <p:nvSpPr>
          <p:cNvPr id="37" name="CuadroTexto 36">
            <a:extLst>
              <a:ext uri="{FF2B5EF4-FFF2-40B4-BE49-F238E27FC236}">
                <a16:creationId xmlns:a16="http://schemas.microsoft.com/office/drawing/2014/main" id="{A62DBF5F-219F-4822-A863-892FB85239E6}"/>
              </a:ext>
            </a:extLst>
          </p:cNvPr>
          <p:cNvSpPr txBox="1"/>
          <p:nvPr/>
        </p:nvSpPr>
        <p:spPr>
          <a:xfrm>
            <a:off x="151353" y="587375"/>
            <a:ext cx="4320000" cy="2554545"/>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La información que se utilizará a lo largo de todo el trabajo proviene de los microdatos de la Encuesta Continua de Hogares (ECH) para el período 2002-2005 y de la Gran Encuesta Integrada de Hogares (GEIH) para el período 2008-2018, realizadas por el DANE.</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Las cifras entre 2002 y 2005 están empalmadas tomando como referencia la metodología utilizada por la encuesta que se viene aplicando desde 2006 (la GEIH), trabajo realizado por la MESEP.</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A pesar de que hubo un cambio metodológico entre la ECH y la GEIH, el trabajo de la MESEP y la disponibilidad de las bases de ingresos empalmadas desde 2002 a 2018 hacen posible la comparabilidad entre las dos fuentes de datos.</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A pesar de ello, en las estimaciones que comparan los cambios en la pobreza monetaria en Colombia durante el período 2002-2018, también se presentarán tomando dos subperíodos (2002-2005 y 2008-2018), considerando la misma encuesta y en función de la disponibilidad de datos.</a:t>
            </a:r>
          </a:p>
        </p:txBody>
      </p:sp>
    </p:spTree>
    <p:extLst>
      <p:ext uri="{BB962C8B-B14F-4D97-AF65-F5344CB8AC3E}">
        <p14:creationId xmlns:p14="http://schemas.microsoft.com/office/powerpoint/2010/main" val="587815496"/>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Datos y estadísticas descriptivas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Fuente de datos</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Caracterización de los hogares</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Evolución de la pobreza monetaria</a:t>
            </a:r>
            <a:endParaRPr sz="800" dirty="0">
              <a:solidFill>
                <a:schemeClr val="bg1"/>
              </a:solidFill>
              <a:latin typeface="Times New Roman" panose="02020603050405020304" pitchFamily="18" charset="0"/>
              <a:cs typeface="Times New Roman" panose="02020603050405020304" pitchFamily="18" charset="0"/>
            </a:endParaRP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6 / </a:t>
            </a:r>
            <a:r>
              <a:rPr lang="es-AR" sz="600" spc="195" dirty="0"/>
              <a:t>20</a:t>
            </a:r>
            <a:endParaRPr spc="75" dirty="0"/>
          </a:p>
        </p:txBody>
      </p:sp>
      <p:pic>
        <p:nvPicPr>
          <p:cNvPr id="35" name="Imagen 34">
            <a:extLst>
              <a:ext uri="{FF2B5EF4-FFF2-40B4-BE49-F238E27FC236}">
                <a16:creationId xmlns:a16="http://schemas.microsoft.com/office/drawing/2014/main" id="{BA195EFD-7EA3-48AB-B47C-FD818D6E67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461" y="479461"/>
            <a:ext cx="3600000" cy="2637000"/>
          </a:xfrm>
          <a:prstGeom prst="rect">
            <a:avLst/>
          </a:prstGeom>
        </p:spPr>
      </p:pic>
    </p:spTree>
    <p:extLst>
      <p:ext uri="{BB962C8B-B14F-4D97-AF65-F5344CB8AC3E}">
        <p14:creationId xmlns:p14="http://schemas.microsoft.com/office/powerpoint/2010/main" val="285980940"/>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Datos y estadísticas descriptivas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Fuente de datos</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Caracterización de los hogares</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Evolución de la pobreza monetaria</a:t>
            </a:r>
            <a:endParaRPr sz="800" b="1" dirty="0">
              <a:solidFill>
                <a:schemeClr val="bg1"/>
              </a:solidFill>
              <a:latin typeface="Times New Roman" panose="02020603050405020304" pitchFamily="18" charset="0"/>
              <a:cs typeface="Times New Roman" panose="02020603050405020304" pitchFamily="18" charset="0"/>
            </a:endParaRP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7 / </a:t>
            </a:r>
            <a:r>
              <a:rPr lang="es-AR" sz="600" spc="195" dirty="0"/>
              <a:t>20</a:t>
            </a:r>
            <a:endParaRPr lang="es-AR" sz="700" spc="75" dirty="0"/>
          </a:p>
        </p:txBody>
      </p:sp>
      <p:pic>
        <p:nvPicPr>
          <p:cNvPr id="35" name="Imagen 34">
            <a:extLst>
              <a:ext uri="{FF2B5EF4-FFF2-40B4-BE49-F238E27FC236}">
                <a16:creationId xmlns:a16="http://schemas.microsoft.com/office/drawing/2014/main" id="{428A6CE9-EB90-4473-AA35-75282208960D}"/>
              </a:ext>
            </a:extLst>
          </p:cNvPr>
          <p:cNvPicPr>
            <a:picLocks noChangeAspect="1"/>
          </p:cNvPicPr>
          <p:nvPr/>
        </p:nvPicPr>
        <p:blipFill>
          <a:blip r:embed="rId3"/>
          <a:stretch>
            <a:fillRect/>
          </a:stretch>
        </p:blipFill>
        <p:spPr>
          <a:xfrm>
            <a:off x="141193" y="466824"/>
            <a:ext cx="4320000" cy="1833962"/>
          </a:xfrm>
          <a:prstGeom prst="rect">
            <a:avLst/>
          </a:prstGeom>
        </p:spPr>
      </p:pic>
      <p:sp>
        <p:nvSpPr>
          <p:cNvPr id="42" name="CuadroTexto 41">
            <a:extLst>
              <a:ext uri="{FF2B5EF4-FFF2-40B4-BE49-F238E27FC236}">
                <a16:creationId xmlns:a16="http://schemas.microsoft.com/office/drawing/2014/main" id="{23C59BAF-A76F-4ABE-B590-37BF4EF32126}"/>
              </a:ext>
            </a:extLst>
          </p:cNvPr>
          <p:cNvSpPr txBox="1"/>
          <p:nvPr/>
        </p:nvSpPr>
        <p:spPr>
          <a:xfrm>
            <a:off x="141193" y="2417061"/>
            <a:ext cx="4320000" cy="759182"/>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Ø"/>
            </a:pPr>
            <a:r>
              <a:rPr lang="es-AR" sz="1000" dirty="0">
                <a:latin typeface="Times New Roman" panose="02020603050405020304" pitchFamily="18" charset="0"/>
                <a:ea typeface="Tahoma" panose="020B0604030504040204" pitchFamily="34" charset="0"/>
                <a:cs typeface="Times New Roman" panose="02020603050405020304" pitchFamily="18" charset="0"/>
              </a:rPr>
              <a:t>Marcada reducción de la pobreza en todo el período, tanto para el agregado nacional como por área geográfica.</a:t>
            </a:r>
          </a:p>
          <a:p>
            <a:pPr marL="285750" indent="-285750" algn="just">
              <a:spcAft>
                <a:spcPts val="400"/>
              </a:spcAft>
              <a:buFont typeface="Wingdings" panose="05000000000000000000" pitchFamily="2" charset="2"/>
              <a:buChar char="Ø"/>
            </a:pPr>
            <a:r>
              <a:rPr lang="es-AR" sz="1000" dirty="0">
                <a:latin typeface="Times New Roman" panose="02020603050405020304" pitchFamily="18" charset="0"/>
                <a:ea typeface="Tahoma" panose="020B0604030504040204" pitchFamily="34" charset="0"/>
                <a:cs typeface="Times New Roman" panose="02020603050405020304" pitchFamily="18" charset="0"/>
              </a:rPr>
              <a:t>La pobreza es notablemente menor en las principales ciudades y el área rural es quien tiene los mayores niveles de pobreza.</a:t>
            </a:r>
          </a:p>
        </p:txBody>
      </p:sp>
    </p:spTree>
    <p:extLst>
      <p:ext uri="{BB962C8B-B14F-4D97-AF65-F5344CB8AC3E}">
        <p14:creationId xmlns:p14="http://schemas.microsoft.com/office/powerpoint/2010/main" val="1640438260"/>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Datos y estadísticas descriptivas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Fuente de datos</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Caracterización de los hogares</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Evolución de la pobreza monetaria</a:t>
            </a:r>
            <a:endParaRPr sz="800" b="1" dirty="0">
              <a:solidFill>
                <a:schemeClr val="bg1"/>
              </a:solidFill>
              <a:latin typeface="Times New Roman" panose="02020603050405020304" pitchFamily="18" charset="0"/>
              <a:cs typeface="Times New Roman" panose="02020603050405020304" pitchFamily="18" charset="0"/>
            </a:endParaRP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8 / </a:t>
            </a:r>
            <a:r>
              <a:rPr lang="es-AR" sz="600" spc="195" dirty="0"/>
              <a:t>20</a:t>
            </a:r>
            <a:endParaRPr lang="es-AR" sz="700" spc="75" dirty="0"/>
          </a:p>
        </p:txBody>
      </p:sp>
      <p:sp>
        <p:nvSpPr>
          <p:cNvPr id="42" name="CuadroTexto 41">
            <a:extLst>
              <a:ext uri="{FF2B5EF4-FFF2-40B4-BE49-F238E27FC236}">
                <a16:creationId xmlns:a16="http://schemas.microsoft.com/office/drawing/2014/main" id="{23C59BAF-A76F-4ABE-B590-37BF4EF32126}"/>
              </a:ext>
            </a:extLst>
          </p:cNvPr>
          <p:cNvSpPr txBox="1"/>
          <p:nvPr/>
        </p:nvSpPr>
        <p:spPr>
          <a:xfrm>
            <a:off x="141193" y="2417061"/>
            <a:ext cx="4320000" cy="836126"/>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Ø"/>
            </a:pPr>
            <a:r>
              <a:rPr lang="es-AR" sz="900" dirty="0">
                <a:effectLst/>
                <a:latin typeface="Times New Roman" panose="02020603050405020304" pitchFamily="18" charset="0"/>
                <a:ea typeface="Calibri" panose="020F0502020204030204" pitchFamily="34" charset="0"/>
              </a:rPr>
              <a:t>La ciudad más afectada es Cúcuta, en donde el 52,9% de la población es pobre y el 11,1% indigente.</a:t>
            </a:r>
          </a:p>
          <a:p>
            <a:pPr marL="285750" indent="-285750" algn="just">
              <a:spcAft>
                <a:spcPts val="400"/>
              </a:spcAft>
              <a:buFont typeface="Wingdings" panose="05000000000000000000" pitchFamily="2" charset="2"/>
              <a:buChar char="Ø"/>
            </a:pPr>
            <a:r>
              <a:rPr lang="es-AR" sz="900" dirty="0">
                <a:effectLst/>
                <a:latin typeface="Times New Roman" panose="02020603050405020304" pitchFamily="18" charset="0"/>
                <a:ea typeface="Calibri" panose="020F0502020204030204" pitchFamily="34" charset="0"/>
              </a:rPr>
              <a:t>Ciudades de la costa atlántica, como Montería, Cartagena y Barranquilla, al igual que Pasto, en 2002, registraron tasas de incidencia de la pobreza superiores al 40,0% y de la pobreza extrema superiores al 8,5%.</a:t>
            </a:r>
            <a:endParaRPr lang="es-AR" sz="9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36" name="Imagen 35">
            <a:extLst>
              <a:ext uri="{FF2B5EF4-FFF2-40B4-BE49-F238E27FC236}">
                <a16:creationId xmlns:a16="http://schemas.microsoft.com/office/drawing/2014/main" id="{BC5429A3-7A4E-4100-86AB-7E43CE32BC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640" y="435886"/>
            <a:ext cx="3600000" cy="2018691"/>
          </a:xfrm>
          <a:prstGeom prst="rect">
            <a:avLst/>
          </a:prstGeom>
        </p:spPr>
      </p:pic>
    </p:spTree>
    <p:extLst>
      <p:ext uri="{BB962C8B-B14F-4D97-AF65-F5344CB8AC3E}">
        <p14:creationId xmlns:p14="http://schemas.microsoft.com/office/powerpoint/2010/main" val="475886691"/>
      </p:ext>
    </p:extLst>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Datos y estadísticas descriptivas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Fuente de datos</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Caracterización de los hogares</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Evolución de la pobreza monetaria</a:t>
            </a:r>
            <a:endParaRPr sz="800" b="1" dirty="0">
              <a:solidFill>
                <a:schemeClr val="bg1"/>
              </a:solidFill>
              <a:latin typeface="Times New Roman" panose="02020603050405020304" pitchFamily="18" charset="0"/>
              <a:cs typeface="Times New Roman" panose="02020603050405020304" pitchFamily="18" charset="0"/>
            </a:endParaRP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9 / </a:t>
            </a:r>
            <a:r>
              <a:rPr lang="es-AR" sz="600" spc="195" dirty="0"/>
              <a:t>20</a:t>
            </a:r>
            <a:endParaRPr spc="75" dirty="0"/>
          </a:p>
        </p:txBody>
      </p:sp>
      <p:sp>
        <p:nvSpPr>
          <p:cNvPr id="42" name="CuadroTexto 41">
            <a:extLst>
              <a:ext uri="{FF2B5EF4-FFF2-40B4-BE49-F238E27FC236}">
                <a16:creationId xmlns:a16="http://schemas.microsoft.com/office/drawing/2014/main" id="{23C59BAF-A76F-4ABE-B590-37BF4EF32126}"/>
              </a:ext>
            </a:extLst>
          </p:cNvPr>
          <p:cNvSpPr txBox="1"/>
          <p:nvPr/>
        </p:nvSpPr>
        <p:spPr>
          <a:xfrm>
            <a:off x="141193" y="2417061"/>
            <a:ext cx="4320000" cy="759182"/>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Ø"/>
            </a:pPr>
            <a:r>
              <a:rPr lang="es-AR" sz="1000" dirty="0">
                <a:effectLst/>
                <a:latin typeface="Times New Roman" panose="02020603050405020304" pitchFamily="18" charset="0"/>
                <a:ea typeface="Calibri" panose="020F0502020204030204" pitchFamily="34" charset="0"/>
              </a:rPr>
              <a:t>Manizales, Medellín y Barranquilla fueron las ciudades con mayores reducciones en los niveles de incidencia de la pobreza.</a:t>
            </a:r>
          </a:p>
          <a:p>
            <a:pPr marL="285750" indent="-285750" algn="just">
              <a:spcAft>
                <a:spcPts val="400"/>
              </a:spcAft>
              <a:buFont typeface="Wingdings" panose="05000000000000000000" pitchFamily="2" charset="2"/>
              <a:buChar char="Ø"/>
            </a:pPr>
            <a:r>
              <a:rPr lang="es-AR" sz="1000" dirty="0">
                <a:latin typeface="Times New Roman" panose="02020603050405020304" pitchFamily="18" charset="0"/>
                <a:ea typeface="Tahoma" panose="020B0604030504040204" pitchFamily="34" charset="0"/>
                <a:cs typeface="Times New Roman" panose="02020603050405020304" pitchFamily="18" charset="0"/>
              </a:rPr>
              <a:t>Pasto, Barranquilla y Cartagena lo fueron para el caso de la incidencia de la pobreza extrema.</a:t>
            </a:r>
          </a:p>
        </p:txBody>
      </p:sp>
      <p:pic>
        <p:nvPicPr>
          <p:cNvPr id="35" name="Imagen 34">
            <a:extLst>
              <a:ext uri="{FF2B5EF4-FFF2-40B4-BE49-F238E27FC236}">
                <a16:creationId xmlns:a16="http://schemas.microsoft.com/office/drawing/2014/main" id="{906D1FC7-E405-4C9D-A320-F63B0D00BE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640" y="455799"/>
            <a:ext cx="3600000" cy="1869692"/>
          </a:xfrm>
          <a:prstGeom prst="rect">
            <a:avLst/>
          </a:prstGeom>
        </p:spPr>
      </p:pic>
    </p:spTree>
    <p:extLst>
      <p:ext uri="{BB962C8B-B14F-4D97-AF65-F5344CB8AC3E}">
        <p14:creationId xmlns:p14="http://schemas.microsoft.com/office/powerpoint/2010/main" val="4117027746"/>
      </p:ext>
    </p:extLst>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Metodología</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Descomposición Kolenikov y Shorrocks (2005)</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Descomposición RIF</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Microsimulaciones</a:t>
            </a: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10 / </a:t>
            </a:r>
            <a:r>
              <a:rPr lang="es-AR" sz="600" spc="195" dirty="0"/>
              <a:t>20</a:t>
            </a:r>
            <a:endParaRPr spc="75" dirty="0"/>
          </a:p>
        </p:txBody>
      </p:sp>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A62DBF5F-219F-4822-A863-892FB85239E6}"/>
                  </a:ext>
                </a:extLst>
              </p:cNvPr>
              <p:cNvSpPr txBox="1"/>
              <p:nvPr/>
            </p:nvSpPr>
            <p:spPr>
              <a:xfrm>
                <a:off x="151353" y="587375"/>
                <a:ext cx="4320000" cy="2400657"/>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Dado que los indicadores de pobreza monetaria FGT utilizan especificaciones paramétricas de la curva de Lorenz, es posible descomponer los cambios en la pobreza monetaria en factores asociados, por ejemplo, a los cambios de los ingresos y a los cambios distributivos. Y, si no se supone constante, a cambios en la línea de pobreza.</a:t>
                </a:r>
              </a:p>
              <a:p>
                <a:pPr marL="285750" indent="-285750" algn="just">
                  <a:spcAft>
                    <a:spcPts val="400"/>
                  </a:spcAft>
                  <a:buFont typeface="Wingdings" panose="05000000000000000000" pitchFamily="2" charset="2"/>
                  <a:buChar char="§"/>
                </a:pPr>
                <a:r>
                  <a:rPr lang="es-AR" sz="1000" dirty="0">
                    <a:effectLst/>
                    <a:latin typeface="Times New Roman" panose="02020603050405020304" pitchFamily="18" charset="0"/>
                    <a:ea typeface="Calibri" panose="020F0502020204030204" pitchFamily="34" charset="0"/>
                  </a:rPr>
                  <a:t>En particular, el indicador de pobreza </a:t>
                </a:r>
                <a14:m>
                  <m:oMath xmlns:m="http://schemas.openxmlformats.org/officeDocument/2006/math">
                    <m:r>
                      <a:rPr lang="es-AR" sz="1000" i="1">
                        <a:effectLst/>
                        <a:latin typeface="Cambria Math" panose="02040503050406030204" pitchFamily="18" charset="0"/>
                        <a:ea typeface="Calibri" panose="020F0502020204030204" pitchFamily="34" charset="0"/>
                        <a:cs typeface="Times New Roman" panose="02020603050405020304" pitchFamily="18" charset="0"/>
                      </a:rPr>
                      <m:t>𝑃</m:t>
                    </m:r>
                  </m:oMath>
                </a14:m>
                <a:r>
                  <a:rPr lang="es-AR" sz="1000" dirty="0">
                    <a:effectLst/>
                    <a:latin typeface="Times New Roman" panose="02020603050405020304" pitchFamily="18" charset="0"/>
                    <a:ea typeface="Calibri" panose="020F0502020204030204" pitchFamily="34" charset="0"/>
                  </a:rPr>
                  <a:t> en un período </a:t>
                </a:r>
                <a14:m>
                  <m:oMath xmlns:m="http://schemas.openxmlformats.org/officeDocument/2006/math">
                    <m:r>
                      <a:rPr lang="es-AR" sz="1000" i="1">
                        <a:effectLst/>
                        <a:latin typeface="Cambria Math" panose="02040503050406030204" pitchFamily="18" charset="0"/>
                        <a:ea typeface="Calibri" panose="020F0502020204030204" pitchFamily="34" charset="0"/>
                        <a:cs typeface="Times New Roman" panose="02020603050405020304" pitchFamily="18" charset="0"/>
                      </a:rPr>
                      <m:t>𝑡</m:t>
                    </m:r>
                  </m:oMath>
                </a14:m>
                <a:r>
                  <a:rPr lang="es-AR" sz="1000" dirty="0">
                    <a:effectLst/>
                    <a:latin typeface="Times New Roman" panose="02020603050405020304" pitchFamily="18" charset="0"/>
                    <a:ea typeface="Calibri" panose="020F0502020204030204" pitchFamily="34" charset="0"/>
                  </a:rPr>
                  <a:t> puede expresarse como:</a:t>
                </a:r>
              </a:p>
              <a:p>
                <a:pPr algn="ctr">
                  <a:spcAft>
                    <a:spcPts val="400"/>
                  </a:spcAft>
                </a:pPr>
                <a14:m>
                  <m:oMathPara xmlns:m="http://schemas.openxmlformats.org/officeDocument/2006/math">
                    <m:oMathParaPr>
                      <m:jc m:val="center"/>
                    </m:oMathParaPr>
                    <m:oMath xmlns:m="http://schemas.openxmlformats.org/officeDocument/2006/math">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𝑡</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r>
                        <a:rPr lang="es-AR" sz="1000" i="1">
                          <a:effectLst/>
                          <a:latin typeface="Cambria Math" panose="02040503050406030204" pitchFamily="18" charset="0"/>
                          <a:ea typeface="Calibri" panose="020F0502020204030204" pitchFamily="34" charset="0"/>
                          <a:cs typeface="Times New Roman" panose="02020603050405020304" pitchFamily="18" charset="0"/>
                        </a:rPr>
                        <m:t>𝐹</m:t>
                      </m:r>
                      <m:d>
                        <m:d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AR" sz="1000" i="1">
                                  <a:latin typeface="Cambria Math" panose="02040503050406030204" pitchFamily="18" charset="0"/>
                                  <a:ea typeface="Calibri" panose="020F0502020204030204" pitchFamily="34" charset="0"/>
                                  <a:cs typeface="Times New Roman" panose="02020603050405020304" pitchFamily="18" charset="0"/>
                                </a:rPr>
                              </m:ctrlPr>
                            </m:sSubPr>
                            <m:e>
                              <m:r>
                                <a:rPr lang="es-AR" sz="1000" b="0" i="1" smtClean="0">
                                  <a:latin typeface="Cambria Math" panose="02040503050406030204" pitchFamily="18" charset="0"/>
                                  <a:ea typeface="Calibri" panose="020F0502020204030204" pitchFamily="34" charset="0"/>
                                  <a:cs typeface="Times New Roman" panose="02020603050405020304" pitchFamily="18" charset="0"/>
                                </a:rPr>
                                <m:t>𝑧</m:t>
                              </m:r>
                            </m:e>
                            <m:sub>
                              <m:r>
                                <a:rPr lang="es-AR" sz="1000" i="1">
                                  <a:latin typeface="Cambria Math" panose="02040503050406030204" pitchFamily="18" charset="0"/>
                                  <a:ea typeface="Calibri" panose="020F0502020204030204" pitchFamily="34" charset="0"/>
                                  <a:cs typeface="Times New Roman" panose="02020603050405020304" pitchFamily="18" charset="0"/>
                                </a:rPr>
                                <m:t>𝑡</m:t>
                              </m:r>
                            </m:sub>
                          </m:sSub>
                        </m:e>
                      </m:d>
                      <m:r>
                        <a:rPr lang="es-AR" sz="1000" i="1">
                          <a:effectLst/>
                          <a:latin typeface="Cambria Math" panose="02040503050406030204" pitchFamily="18" charset="0"/>
                          <a:ea typeface="Calibri" panose="020F0502020204030204" pitchFamily="34" charset="0"/>
                          <a:cs typeface="Times New Roman" panose="02020603050405020304" pitchFamily="18" charset="0"/>
                        </a:rPr>
                        <m:t>=</m:t>
                      </m:r>
                      <m:r>
                        <a:rPr lang="es-AR" sz="1000"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𝜇</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𝑡</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𝑡</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latin typeface="Cambria Math" panose="02040503050406030204" pitchFamily="18" charset="0"/>
                                  <a:ea typeface="Calibri" panose="020F0502020204030204" pitchFamily="34" charset="0"/>
                                  <a:cs typeface="Times New Roman" panose="02020603050405020304" pitchFamily="18" charset="0"/>
                                </a:rPr>
                              </m:ctrlPr>
                            </m:sSubPr>
                            <m:e>
                              <m:r>
                                <a:rPr lang="es-AR" sz="1000" b="0" i="1" smtClean="0">
                                  <a:latin typeface="Cambria Math" panose="02040503050406030204" pitchFamily="18" charset="0"/>
                                  <a:ea typeface="Calibri" panose="020F0502020204030204" pitchFamily="34" charset="0"/>
                                  <a:cs typeface="Times New Roman" panose="02020603050405020304" pitchFamily="18" charset="0"/>
                                </a:rPr>
                                <m:t>𝑧</m:t>
                              </m:r>
                            </m:e>
                            <m:sub>
                              <m:r>
                                <a:rPr lang="es-AR" sz="1000" i="1">
                                  <a:latin typeface="Cambria Math" panose="02040503050406030204" pitchFamily="18" charset="0"/>
                                  <a:ea typeface="Calibri" panose="020F0502020204030204" pitchFamily="34" charset="0"/>
                                  <a:cs typeface="Times New Roman" panose="02020603050405020304" pitchFamily="18" charset="0"/>
                                </a:rPr>
                                <m:t>𝑡</m:t>
                              </m:r>
                            </m:sub>
                          </m:sSub>
                        </m:e>
                      </m:d>
                    </m:oMath>
                  </m:oMathPara>
                </a14:m>
                <a:endParaRPr lang="es-AR" sz="1000"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Denotando </a:t>
                </a:r>
                <a14:m>
                  <m:oMath xmlns:m="http://schemas.openxmlformats.org/officeDocument/2006/math">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𝑃</m:t>
                    </m:r>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s-AR" sz="1000" dirty="0">
                    <a:latin typeface="Times New Roman" panose="02020603050405020304" pitchFamily="18" charset="0"/>
                    <a:ea typeface="Tahoma" panose="020B0604030504040204" pitchFamily="34" charset="0"/>
                    <a:cs typeface="Times New Roman" panose="02020603050405020304" pitchFamily="18" charset="0"/>
                  </a:rPr>
                  <a:t> </a:t>
                </a:r>
                <a:r>
                  <a:rPr lang="es-AR" sz="1000" dirty="0">
                    <a:latin typeface="Times New Roman" panose="02020603050405020304" pitchFamily="18" charset="0"/>
                    <a:cs typeface="Times New Roman" panose="02020603050405020304" pitchFamily="18" charset="0"/>
                  </a:rPr>
                  <a:t>al cambio en la pobreza entre el período 1 y 2 y dada la ecuación anterior, el cambio en el indicador de pobreza entre estos dos períodos viene dado por:</a:t>
                </a:r>
              </a:p>
              <a:p>
                <a:pPr algn="ctr">
                  <a:spcAft>
                    <a:spcPts val="400"/>
                  </a:spcAft>
                </a:pPr>
                <a14:m>
                  <m:oMathPara xmlns:m="http://schemas.openxmlformats.org/officeDocument/2006/math">
                    <m:oMathParaPr>
                      <m:jc m:val="center"/>
                    </m:oMathParaPr>
                    <m:oMath xmlns:m="http://schemas.openxmlformats.org/officeDocument/2006/math">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𝑃</m:t>
                      </m:r>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𝜇</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latin typeface="Cambria Math" panose="02040503050406030204" pitchFamily="18" charset="0"/>
                                  <a:ea typeface="Calibri" panose="020F0502020204030204" pitchFamily="34" charset="0"/>
                                  <a:cs typeface="Times New Roman" panose="02020603050405020304" pitchFamily="18" charset="0"/>
                                </a:rPr>
                              </m:ctrlPr>
                            </m:sSubPr>
                            <m:e>
                              <m:r>
                                <a:rPr lang="es-AR" sz="1000" b="0" i="1" smtClean="0">
                                  <a:latin typeface="Cambria Math" panose="02040503050406030204" pitchFamily="18" charset="0"/>
                                  <a:ea typeface="Calibri" panose="020F0502020204030204" pitchFamily="34" charset="0"/>
                                  <a:cs typeface="Times New Roman" panose="02020603050405020304" pitchFamily="18" charset="0"/>
                                </a:rPr>
                                <m:t>𝑧</m:t>
                              </m:r>
                            </m:e>
                            <m:sub>
                              <m:r>
                                <a:rPr lang="es-AR" sz="1000" b="0" i="1" smtClean="0">
                                  <a:latin typeface="Cambria Math" panose="02040503050406030204" pitchFamily="18" charset="0"/>
                                  <a:ea typeface="Calibri" panose="020F0502020204030204" pitchFamily="34" charset="0"/>
                                  <a:cs typeface="Times New Roman" panose="02020603050405020304" pitchFamily="18" charset="0"/>
                                </a:rPr>
                                <m:t>2</m:t>
                              </m:r>
                            </m:sub>
                          </m:sSub>
                        </m:e>
                      </m:d>
                      <m:r>
                        <a:rPr lang="es-AR" sz="1000" i="1">
                          <a:effectLst/>
                          <a:latin typeface="Cambria Math" panose="02040503050406030204" pitchFamily="18" charset="0"/>
                          <a:ea typeface="Calibri" panose="020F0502020204030204" pitchFamily="34" charset="0"/>
                          <a:cs typeface="Times New Roman" panose="02020603050405020304" pitchFamily="18" charset="0"/>
                        </a:rPr>
                        <m:t>−</m:t>
                      </m:r>
                      <m:r>
                        <a:rPr lang="es-AR" sz="1000"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𝜇</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latin typeface="Cambria Math" panose="02040503050406030204" pitchFamily="18" charset="0"/>
                                  <a:ea typeface="Calibri" panose="020F0502020204030204" pitchFamily="34" charset="0"/>
                                  <a:cs typeface="Times New Roman" panose="02020603050405020304" pitchFamily="18" charset="0"/>
                                </a:rPr>
                              </m:ctrlPr>
                            </m:sSubPr>
                            <m:e>
                              <m:r>
                                <a:rPr lang="es-AR" sz="1000" b="0" i="1" smtClean="0">
                                  <a:latin typeface="Cambria Math" panose="02040503050406030204" pitchFamily="18" charset="0"/>
                                  <a:ea typeface="Calibri" panose="020F0502020204030204" pitchFamily="34" charset="0"/>
                                  <a:cs typeface="Times New Roman" panose="02020603050405020304" pitchFamily="18" charset="0"/>
                                </a:rPr>
                                <m:t>𝑧</m:t>
                              </m:r>
                            </m:e>
                            <m:sub>
                              <m:r>
                                <a:rPr lang="es-AR" sz="1000" i="1">
                                  <a:latin typeface="Cambria Math" panose="02040503050406030204" pitchFamily="18" charset="0"/>
                                  <a:ea typeface="Calibri" panose="020F0502020204030204" pitchFamily="34" charset="0"/>
                                  <a:cs typeface="Times New Roman" panose="02020603050405020304" pitchFamily="18" charset="0"/>
                                </a:rPr>
                                <m:t>1</m:t>
                              </m:r>
                            </m:sub>
                          </m:sSub>
                        </m:e>
                      </m:d>
                    </m:oMath>
                  </m:oMathPara>
                </a14:m>
                <a:endParaRPr lang="es-AR" sz="1000" dirty="0">
                  <a:latin typeface="Times New Roman" panose="02020603050405020304" pitchFamily="18" charset="0"/>
                  <a:ea typeface="Tahoma" panose="020B0604030504040204" pitchFamily="34" charset="0"/>
                  <a:cs typeface="Times New Roman" panose="02020603050405020304" pitchFamily="18" charset="0"/>
                </a:endParaRPr>
              </a:p>
              <a:p>
                <a:pPr algn="ctr">
                  <a:spcAft>
                    <a:spcPts val="400"/>
                  </a:spcAft>
                </a:pPr>
                <a14:m>
                  <m:oMathPara xmlns:m="http://schemas.openxmlformats.org/officeDocument/2006/math">
                    <m:oMathParaPr>
                      <m:jc m:val="center"/>
                    </m:oMathParaPr>
                    <m:oMath xmlns:m="http://schemas.openxmlformats.org/officeDocument/2006/math">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𝑃</m:t>
                      </m:r>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𝐶</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𝑅</m:t>
                          </m:r>
                        </m:sub>
                      </m:sSub>
                      <m:r>
                        <a:rPr lang="es-AR" sz="10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000" i="1">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latin typeface="Cambria Math" panose="02040503050406030204" pitchFamily="18" charset="0"/>
                              <a:ea typeface="Calibri" panose="020F0502020204030204" pitchFamily="34" charset="0"/>
                              <a:cs typeface="Times New Roman" panose="02020603050405020304" pitchFamily="18" charset="0"/>
                            </a:rPr>
                          </m:ctrlPr>
                        </m:sSubPr>
                        <m:e>
                          <m:r>
                            <a:rPr lang="es-AR" sz="1000" i="1">
                              <a:latin typeface="Cambria Math" panose="02040503050406030204" pitchFamily="18" charset="0"/>
                              <a:ea typeface="Calibri" panose="020F0502020204030204" pitchFamily="34" charset="0"/>
                              <a:cs typeface="Times New Roman" panose="02020603050405020304" pitchFamily="18" charset="0"/>
                            </a:rPr>
                            <m:t>𝑃</m:t>
                          </m:r>
                        </m:e>
                        <m:sub>
                          <m:r>
                            <a:rPr lang="es-AR" sz="1000" b="0" i="1" smtClean="0">
                              <a:latin typeface="Cambria Math" panose="02040503050406030204" pitchFamily="18" charset="0"/>
                              <a:ea typeface="Calibri" panose="020F0502020204030204" pitchFamily="34" charset="0"/>
                              <a:cs typeface="Times New Roman" panose="02020603050405020304" pitchFamily="18" charset="0"/>
                            </a:rPr>
                            <m:t>𝐿</m:t>
                          </m:r>
                        </m:sub>
                      </m:sSub>
                    </m:oMath>
                  </m:oMathPara>
                </a14:m>
                <a:endParaRPr lang="es-AR" sz="1000" dirty="0">
                  <a:latin typeface="Times New Roman" panose="02020603050405020304" pitchFamily="18" charset="0"/>
                  <a:ea typeface="Tahoma" panose="020B0604030504040204" pitchFamily="34" charset="0"/>
                  <a:cs typeface="Times New Roman" panose="02020603050405020304" pitchFamily="18" charset="0"/>
                </a:endParaRPr>
              </a:p>
            </p:txBody>
          </p:sp>
        </mc:Choice>
        <mc:Fallback xmlns="">
          <p:sp>
            <p:nvSpPr>
              <p:cNvPr id="37" name="CuadroTexto 36">
                <a:extLst>
                  <a:ext uri="{FF2B5EF4-FFF2-40B4-BE49-F238E27FC236}">
                    <a16:creationId xmlns:a16="http://schemas.microsoft.com/office/drawing/2014/main" id="{A62DBF5F-219F-4822-A863-892FB85239E6}"/>
                  </a:ext>
                </a:extLst>
              </p:cNvPr>
              <p:cNvSpPr txBox="1">
                <a:spLocks noRot="1" noChangeAspect="1" noMove="1" noResize="1" noEditPoints="1" noAdjustHandles="1" noChangeArrowheads="1" noChangeShapeType="1" noTextEdit="1"/>
              </p:cNvSpPr>
              <p:nvPr/>
            </p:nvSpPr>
            <p:spPr>
              <a:xfrm>
                <a:off x="151353" y="587375"/>
                <a:ext cx="4320000" cy="2400657"/>
              </a:xfrm>
              <a:prstGeom prst="rect">
                <a:avLst/>
              </a:prstGeom>
              <a:blipFill>
                <a:blip r:embed="rId3"/>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2050435927"/>
      </p:ext>
    </p:extLst>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Metodología</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Descomposición Kolenikov y Shorrocks (2005)</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Descomposición RIF</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Microsimulaciones</a:t>
            </a: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11 / </a:t>
            </a:r>
            <a:r>
              <a:rPr lang="es-AR" sz="600" spc="195" dirty="0"/>
              <a:t>20</a:t>
            </a:r>
            <a:endParaRPr spc="75" dirty="0"/>
          </a:p>
        </p:txBody>
      </p:sp>
      <p:sp>
        <p:nvSpPr>
          <p:cNvPr id="37" name="CuadroTexto 36">
            <a:extLst>
              <a:ext uri="{FF2B5EF4-FFF2-40B4-BE49-F238E27FC236}">
                <a16:creationId xmlns:a16="http://schemas.microsoft.com/office/drawing/2014/main" id="{A62DBF5F-219F-4822-A863-892FB85239E6}"/>
              </a:ext>
            </a:extLst>
          </p:cNvPr>
          <p:cNvSpPr txBox="1"/>
          <p:nvPr/>
        </p:nvSpPr>
        <p:spPr>
          <a:xfrm>
            <a:off x="151353" y="587375"/>
            <a:ext cx="4320000" cy="2246769"/>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
            </a:pP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Para profundizar sobre el papel de los factores microeconómicos, se estudia el cambio en la pobreza monetaria a partir de la metodología semiparamétrica de descomposición propuesta por Fortin </a:t>
            </a:r>
            <a:r>
              <a:rPr lang="es-AR" sz="1000" i="1" dirty="0">
                <a:effectLst/>
                <a:latin typeface="Times New Roman" panose="02020603050405020304" pitchFamily="18" charset="0"/>
                <a:ea typeface="Calibri" panose="020F0502020204030204" pitchFamily="34" charset="0"/>
                <a:cs typeface="Times New Roman" panose="02020603050405020304" pitchFamily="18" charset="0"/>
              </a:rPr>
              <a:t>et al</a:t>
            </a: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 (</a:t>
            </a:r>
            <a:r>
              <a:rPr lang="es-AR" sz="1000" dirty="0">
                <a:latin typeface="Times New Roman" panose="02020603050405020304" pitchFamily="18" charset="0"/>
                <a:ea typeface="Calibri" panose="020F0502020204030204" pitchFamily="34" charset="0"/>
                <a:cs typeface="Times New Roman" panose="02020603050405020304" pitchFamily="18" charset="0"/>
              </a:rPr>
              <a:t>2011</a:t>
            </a: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Calibri" panose="020F0502020204030204" pitchFamily="34" charset="0"/>
                <a:cs typeface="Times New Roman" panose="02020603050405020304" pitchFamily="18" charset="0"/>
              </a:rPr>
              <a:t>Este</a:t>
            </a: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 procedimiento combina una descomposición basada en regresiones RIF (</a:t>
            </a:r>
            <a:r>
              <a:rPr lang="es-AR" sz="1000" i="1" dirty="0">
                <a:effectLst/>
                <a:latin typeface="Times New Roman" panose="02020603050405020304" pitchFamily="18" charset="0"/>
                <a:ea typeface="Calibri" panose="020F0502020204030204" pitchFamily="34" charset="0"/>
                <a:cs typeface="Times New Roman" panose="02020603050405020304" pitchFamily="18" charset="0"/>
              </a:rPr>
              <a:t>Recentered Influence Function</a:t>
            </a: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 (Firpo </a:t>
            </a:r>
            <a:r>
              <a:rPr lang="es-AR" sz="1000" i="1" dirty="0">
                <a:effectLst/>
                <a:latin typeface="Times New Roman" panose="02020603050405020304" pitchFamily="18" charset="0"/>
                <a:ea typeface="Calibri" panose="020F0502020204030204" pitchFamily="34" charset="0"/>
                <a:cs typeface="Times New Roman" panose="02020603050405020304" pitchFamily="18" charset="0"/>
              </a:rPr>
              <a:t>et al</a:t>
            </a: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 2009) con una estrategia de reponderación (DiNardo </a:t>
            </a:r>
            <a:r>
              <a:rPr lang="es-AR" sz="1000" i="1" dirty="0">
                <a:effectLst/>
                <a:latin typeface="Times New Roman" panose="02020603050405020304" pitchFamily="18" charset="0"/>
                <a:ea typeface="Calibri" panose="020F0502020204030204" pitchFamily="34" charset="0"/>
                <a:cs typeface="Times New Roman" panose="02020603050405020304" pitchFamily="18" charset="0"/>
              </a:rPr>
              <a:t>et al</a:t>
            </a: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 1996), que permite descomponer el cambio en la distribución de la pobreza más allá de la media.</a:t>
            </a:r>
          </a:p>
          <a:p>
            <a:pPr marL="285750" indent="-285750" algn="just">
              <a:spcAft>
                <a:spcPts val="400"/>
              </a:spcAft>
              <a:buFont typeface="Wingdings" panose="05000000000000000000" pitchFamily="2" charset="2"/>
              <a:buChar char="§"/>
            </a:pP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Esta metodología permite calcular la contribución sobre el cambio en la pobreza monetaria de cada covariable al “efecto composición” y al “efecto estructura” (Firpo </a:t>
            </a:r>
            <a:r>
              <a:rPr lang="es-AR" sz="1000" i="1" dirty="0">
                <a:effectLst/>
                <a:latin typeface="Times New Roman" panose="02020603050405020304" pitchFamily="18" charset="0"/>
                <a:ea typeface="Calibri" panose="020F0502020204030204" pitchFamily="34" charset="0"/>
                <a:cs typeface="Times New Roman" panose="02020603050405020304" pitchFamily="18" charset="0"/>
              </a:rPr>
              <a:t>et al</a:t>
            </a: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 2018).</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Calibri" panose="020F0502020204030204" pitchFamily="34" charset="0"/>
                <a:cs typeface="Times New Roman" panose="02020603050405020304" pitchFamily="18" charset="0"/>
              </a:rPr>
              <a:t>Para la implementación de esta metodología, se construyó una distribución contrafactual del nivel de pobreza monetaria resultante si los hogares en 2018 hubieran tenido las características de los hogares en 2002.</a:t>
            </a:r>
            <a:endParaRPr lang="es-AR" sz="1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79877396"/>
      </p:ext>
    </p:extLst>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Metodología</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Descomposición Kolenikov y Shorrocks (2005)</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Descomposición RIF</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Microsimulaciones</a:t>
            </a: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12 / </a:t>
            </a:r>
            <a:r>
              <a:rPr lang="es-AR" sz="600" spc="195" dirty="0"/>
              <a:t>20</a:t>
            </a:r>
            <a:endParaRPr spc="75" dirty="0"/>
          </a:p>
        </p:txBody>
      </p:sp>
      <p:sp>
        <p:nvSpPr>
          <p:cNvPr id="37" name="CuadroTexto 36">
            <a:extLst>
              <a:ext uri="{FF2B5EF4-FFF2-40B4-BE49-F238E27FC236}">
                <a16:creationId xmlns:a16="http://schemas.microsoft.com/office/drawing/2014/main" id="{A62DBF5F-219F-4822-A863-892FB85239E6}"/>
              </a:ext>
            </a:extLst>
          </p:cNvPr>
          <p:cNvSpPr txBox="1"/>
          <p:nvPr/>
        </p:nvSpPr>
        <p:spPr>
          <a:xfrm>
            <a:off x="151353" y="587375"/>
            <a:ext cx="4320000" cy="1733808"/>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
            </a:pPr>
            <a:r>
              <a:rPr lang="es-AR" sz="1000" dirty="0">
                <a:effectLst/>
                <a:latin typeface="Times New Roman" panose="02020603050405020304" pitchFamily="18" charset="0"/>
                <a:ea typeface="Calibri" panose="020F0502020204030204" pitchFamily="34" charset="0"/>
              </a:rPr>
              <a:t>Esta metodología consiste en plantear diferentes escenarios contrafácticos basados en microsimulaciones.</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En este trabajo, se realizan dos microsimulaciones paramétricas con comportamiento de los agentes económicos (es decir, que modifican sus elecciones), en las cuales se estima una ecuación de Mincer y un modelo de elección ocupacional.</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Adicionalmente, se realiza una microsimulación no paramétrica sin comportamiento de los agentes económicos (es decir, que no modifican sus elecciones), en la cual se buscan individuos “similares” en algún atributo para simular el cambio.</a:t>
            </a:r>
          </a:p>
        </p:txBody>
      </p:sp>
    </p:spTree>
    <p:extLst>
      <p:ext uri="{BB962C8B-B14F-4D97-AF65-F5344CB8AC3E}">
        <p14:creationId xmlns:p14="http://schemas.microsoft.com/office/powerpoint/2010/main" val="344123089"/>
      </p:ext>
    </p:extLst>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Resultados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Descomposición Kolenikov y Shorrocks (2005)</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Descomposición RIF</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Microsimulaciones</a:t>
            </a: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13 / </a:t>
            </a:r>
            <a:r>
              <a:rPr lang="es-AR" sz="600" spc="195" dirty="0"/>
              <a:t>20</a:t>
            </a:r>
            <a:endParaRPr spc="75" dirty="0"/>
          </a:p>
        </p:txBody>
      </p:sp>
      <p:sp>
        <p:nvSpPr>
          <p:cNvPr id="37" name="CuadroTexto 36">
            <a:extLst>
              <a:ext uri="{FF2B5EF4-FFF2-40B4-BE49-F238E27FC236}">
                <a16:creationId xmlns:a16="http://schemas.microsoft.com/office/drawing/2014/main" id="{A62DBF5F-219F-4822-A863-892FB85239E6}"/>
              </a:ext>
            </a:extLst>
          </p:cNvPr>
          <p:cNvSpPr txBox="1"/>
          <p:nvPr/>
        </p:nvSpPr>
        <p:spPr>
          <a:xfrm>
            <a:off x="154857" y="2592679"/>
            <a:ext cx="4320000" cy="553998"/>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Ø"/>
            </a:pPr>
            <a:r>
              <a:rPr lang="es-AR" sz="1000" dirty="0">
                <a:latin typeface="Times New Roman" panose="02020603050405020304" pitchFamily="18" charset="0"/>
                <a:ea typeface="Tahoma" panose="020B0604030504040204" pitchFamily="34" charset="0"/>
                <a:cs typeface="Times New Roman" panose="02020603050405020304" pitchFamily="18" charset="0"/>
              </a:rPr>
              <a:t>La reducción de la pobreza monetaria en Colombia ha estado emparentada, principalmente, con el crecimiento de los ingresos y no tanto con la mejora en su redistribución, con un efecto línea contrarrestando esta reducción.</a:t>
            </a:r>
          </a:p>
        </p:txBody>
      </p:sp>
      <p:pic>
        <p:nvPicPr>
          <p:cNvPr id="35" name="Imagen 34">
            <a:extLst>
              <a:ext uri="{FF2B5EF4-FFF2-40B4-BE49-F238E27FC236}">
                <a16:creationId xmlns:a16="http://schemas.microsoft.com/office/drawing/2014/main" id="{E6AE5509-040A-4E47-9FE1-67DCCE91D6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461" y="483682"/>
            <a:ext cx="3600000" cy="2033111"/>
          </a:xfrm>
          <a:prstGeom prst="rect">
            <a:avLst/>
          </a:prstGeom>
        </p:spPr>
      </p:pic>
    </p:spTree>
    <p:extLst>
      <p:ext uri="{BB962C8B-B14F-4D97-AF65-F5344CB8AC3E}">
        <p14:creationId xmlns:p14="http://schemas.microsoft.com/office/powerpoint/2010/main" val="1795168324"/>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Resultados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Descomposición Kolenikov y Shorrocks (2005)</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Descomposición RIF</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Microsimulaciones</a:t>
            </a: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14 / </a:t>
            </a:r>
            <a:r>
              <a:rPr lang="es-AR" sz="600" spc="195" dirty="0"/>
              <a:t>20</a:t>
            </a:r>
            <a:endParaRPr spc="75" dirty="0"/>
          </a:p>
        </p:txBody>
      </p:sp>
      <p:sp>
        <p:nvSpPr>
          <p:cNvPr id="37" name="CuadroTexto 36">
            <a:extLst>
              <a:ext uri="{FF2B5EF4-FFF2-40B4-BE49-F238E27FC236}">
                <a16:creationId xmlns:a16="http://schemas.microsoft.com/office/drawing/2014/main" id="{A62DBF5F-219F-4822-A863-892FB85239E6}"/>
              </a:ext>
            </a:extLst>
          </p:cNvPr>
          <p:cNvSpPr txBox="1"/>
          <p:nvPr/>
        </p:nvSpPr>
        <p:spPr>
          <a:xfrm>
            <a:off x="148640" y="2384121"/>
            <a:ext cx="4320000" cy="974626"/>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Ø"/>
            </a:pPr>
            <a:r>
              <a:rPr lang="es-AR" sz="900" dirty="0">
                <a:latin typeface="Times New Roman" panose="02020603050405020304" pitchFamily="18" charset="0"/>
                <a:ea typeface="Tahoma" panose="020B0604030504040204" pitchFamily="34" charset="0"/>
                <a:cs typeface="Times New Roman" panose="02020603050405020304" pitchFamily="18" charset="0"/>
              </a:rPr>
              <a:t>En el caso de la incidencia de la pobreza, Cartagena, Manizales y Cúcuta con los mayores efectos crecimiento, en tanto que Barranquilla, Montería y Bogotá con principales mejoras en la redistribución.</a:t>
            </a:r>
          </a:p>
          <a:p>
            <a:pPr marL="285750" indent="-285750" algn="just">
              <a:spcAft>
                <a:spcPts val="400"/>
              </a:spcAft>
              <a:buFont typeface="Wingdings" panose="05000000000000000000" pitchFamily="2" charset="2"/>
              <a:buChar char="Ø"/>
            </a:pPr>
            <a:r>
              <a:rPr lang="es-AR" sz="900" dirty="0">
                <a:latin typeface="Times New Roman" panose="02020603050405020304" pitchFamily="18" charset="0"/>
                <a:ea typeface="Tahoma" panose="020B0604030504040204" pitchFamily="34" charset="0"/>
                <a:cs typeface="Times New Roman" panose="02020603050405020304" pitchFamily="18" charset="0"/>
              </a:rPr>
              <a:t>En el caso de la incidencia de la pobreza extrema, Cartagena, Cúcuta y Pasto las más beneficiadas del crecimiento y Barranquilla, Montería y Medellín de su redistribución.</a:t>
            </a:r>
          </a:p>
        </p:txBody>
      </p:sp>
      <p:pic>
        <p:nvPicPr>
          <p:cNvPr id="35" name="Imagen 34">
            <a:extLst>
              <a:ext uri="{FF2B5EF4-FFF2-40B4-BE49-F238E27FC236}">
                <a16:creationId xmlns:a16="http://schemas.microsoft.com/office/drawing/2014/main" id="{F557FF24-3D06-49AD-91C5-4C270E8D88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361" y="488969"/>
            <a:ext cx="3600000" cy="1922564"/>
          </a:xfrm>
          <a:prstGeom prst="rect">
            <a:avLst/>
          </a:prstGeom>
        </p:spPr>
      </p:pic>
    </p:spTree>
    <p:extLst>
      <p:ext uri="{BB962C8B-B14F-4D97-AF65-F5344CB8AC3E}">
        <p14:creationId xmlns:p14="http://schemas.microsoft.com/office/powerpoint/2010/main" val="3023159668"/>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Resultados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Descomposición Kolenikov y Shorrocks (2005)</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Descomposición RIF</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Microsimulaciones</a:t>
            </a: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15 / </a:t>
            </a:r>
            <a:r>
              <a:rPr lang="es-AR" sz="600" spc="195" dirty="0"/>
              <a:t>20</a:t>
            </a:r>
            <a:endParaRPr spc="75" dirty="0"/>
          </a:p>
        </p:txBody>
      </p:sp>
      <p:sp>
        <p:nvSpPr>
          <p:cNvPr id="37" name="CuadroTexto 36">
            <a:extLst>
              <a:ext uri="{FF2B5EF4-FFF2-40B4-BE49-F238E27FC236}">
                <a16:creationId xmlns:a16="http://schemas.microsoft.com/office/drawing/2014/main" id="{A62DBF5F-219F-4822-A863-892FB85239E6}"/>
              </a:ext>
            </a:extLst>
          </p:cNvPr>
          <p:cNvSpPr txBox="1"/>
          <p:nvPr/>
        </p:nvSpPr>
        <p:spPr>
          <a:xfrm>
            <a:off x="151353" y="1222543"/>
            <a:ext cx="4320000" cy="1015663"/>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A modo de síntesis, el resultado de la descomposición KS indica que las ciudades que iniciaron la década con mayores niveles de pobreza, como Cúcuta, Montería, Cartagena y Pasto, presentaron importantes efectos crecimiento que tendieron a reducir la pobreza, pero que fueron contrarrestados, en buena medida, por los efectos línea, que tendieron a incrementarla.</a:t>
            </a:r>
          </a:p>
        </p:txBody>
      </p:sp>
    </p:spTree>
    <p:extLst>
      <p:ext uri="{BB962C8B-B14F-4D97-AF65-F5344CB8AC3E}">
        <p14:creationId xmlns:p14="http://schemas.microsoft.com/office/powerpoint/2010/main" val="4187462711"/>
      </p:ext>
    </p:extLst>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Resultados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Descomposición Kolenikov y Shorrocks (2005)</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Descomposición RIF</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Microsimulaciones</a:t>
            </a: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16 / </a:t>
            </a:r>
            <a:r>
              <a:rPr lang="es-AR" sz="600" spc="195" dirty="0"/>
              <a:t>20</a:t>
            </a:r>
            <a:endParaRPr spc="75" dirty="0"/>
          </a:p>
        </p:txBody>
      </p:sp>
      <p:sp>
        <p:nvSpPr>
          <p:cNvPr id="37" name="CuadroTexto 36">
            <a:extLst>
              <a:ext uri="{FF2B5EF4-FFF2-40B4-BE49-F238E27FC236}">
                <a16:creationId xmlns:a16="http://schemas.microsoft.com/office/drawing/2014/main" id="{A62DBF5F-219F-4822-A863-892FB85239E6}"/>
              </a:ext>
            </a:extLst>
          </p:cNvPr>
          <p:cNvSpPr txBox="1"/>
          <p:nvPr/>
        </p:nvSpPr>
        <p:spPr>
          <a:xfrm>
            <a:off x="2971051" y="610502"/>
            <a:ext cx="1440000" cy="2144177"/>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Ø"/>
            </a:pPr>
            <a:r>
              <a:rPr lang="es-AR" sz="1000" dirty="0">
                <a:latin typeface="Times New Roman" panose="02020603050405020304" pitchFamily="18" charset="0"/>
                <a:ea typeface="Tahoma" panose="020B0604030504040204" pitchFamily="34" charset="0"/>
                <a:cs typeface="Times New Roman" panose="02020603050405020304" pitchFamily="18" charset="0"/>
              </a:rPr>
              <a:t>Coeficientes negativos y estadísticamente significativos.</a:t>
            </a:r>
          </a:p>
          <a:p>
            <a:pPr marL="285750" indent="-285750" algn="just">
              <a:spcAft>
                <a:spcPts val="400"/>
              </a:spcAft>
              <a:buFont typeface="Wingdings" panose="05000000000000000000" pitchFamily="2" charset="2"/>
              <a:buChar char="Ø"/>
            </a:pPr>
            <a:r>
              <a:rPr lang="es-AR" sz="1000" dirty="0">
                <a:latin typeface="Times New Roman" panose="02020603050405020304" pitchFamily="18" charset="0"/>
                <a:ea typeface="Tahoma" panose="020B0604030504040204" pitchFamily="34" charset="0"/>
                <a:cs typeface="Times New Roman" panose="02020603050405020304" pitchFamily="18" charset="0"/>
              </a:rPr>
              <a:t>El efecto composición explica, en su mayoría, la reducción de la pobreza y de la pobreza extrema, excepto en el área rural.</a:t>
            </a:r>
          </a:p>
        </p:txBody>
      </p:sp>
      <p:pic>
        <p:nvPicPr>
          <p:cNvPr id="35" name="Imagen 34">
            <a:extLst>
              <a:ext uri="{FF2B5EF4-FFF2-40B4-BE49-F238E27FC236}">
                <a16:creationId xmlns:a16="http://schemas.microsoft.com/office/drawing/2014/main" id="{AA5C0A73-16C5-4CD6-A69B-AC81026358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93741"/>
            <a:ext cx="2880000" cy="2512341"/>
          </a:xfrm>
          <a:prstGeom prst="rect">
            <a:avLst/>
          </a:prstGeom>
        </p:spPr>
      </p:pic>
    </p:spTree>
    <p:extLst>
      <p:ext uri="{BB962C8B-B14F-4D97-AF65-F5344CB8AC3E}">
        <p14:creationId xmlns:p14="http://schemas.microsoft.com/office/powerpoint/2010/main" val="2571962840"/>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Resultados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Descomposición Kolenikov y Shorrocks (2005)</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Descomposición RIF</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Microsimulaciones</a:t>
            </a: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17 / </a:t>
            </a:r>
            <a:r>
              <a:rPr lang="es-AR" sz="600" spc="195" dirty="0"/>
              <a:t>20</a:t>
            </a:r>
            <a:endParaRPr spc="75" dirty="0"/>
          </a:p>
        </p:txBody>
      </p:sp>
      <p:sp>
        <p:nvSpPr>
          <p:cNvPr id="37" name="CuadroTexto 36">
            <a:extLst>
              <a:ext uri="{FF2B5EF4-FFF2-40B4-BE49-F238E27FC236}">
                <a16:creationId xmlns:a16="http://schemas.microsoft.com/office/drawing/2014/main" id="{A62DBF5F-219F-4822-A863-892FB85239E6}"/>
              </a:ext>
            </a:extLst>
          </p:cNvPr>
          <p:cNvSpPr txBox="1"/>
          <p:nvPr/>
        </p:nvSpPr>
        <p:spPr>
          <a:xfrm>
            <a:off x="2971051" y="610502"/>
            <a:ext cx="1440000" cy="1887696"/>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Ø"/>
            </a:pPr>
            <a:r>
              <a:rPr lang="es-AR" sz="1000" dirty="0">
                <a:latin typeface="Times New Roman" panose="02020603050405020304" pitchFamily="18" charset="0"/>
                <a:ea typeface="Tahoma" panose="020B0604030504040204" pitchFamily="34" charset="0"/>
                <a:cs typeface="Times New Roman" panose="02020603050405020304" pitchFamily="18" charset="0"/>
              </a:rPr>
              <a:t>En todos los escenarios contrafácticos, se reducen los indicadores de pobreza y de pobreza extrema.</a:t>
            </a:r>
          </a:p>
          <a:p>
            <a:pPr marL="285750" indent="-285750" algn="just">
              <a:spcAft>
                <a:spcPts val="400"/>
              </a:spcAft>
              <a:buFont typeface="Wingdings" panose="05000000000000000000" pitchFamily="2" charset="2"/>
              <a:buChar char="Ø"/>
            </a:pPr>
            <a:r>
              <a:rPr lang="es-AR" sz="1000" dirty="0">
                <a:latin typeface="Times New Roman" panose="02020603050405020304" pitchFamily="18" charset="0"/>
                <a:ea typeface="Tahoma" panose="020B0604030504040204" pitchFamily="34" charset="0"/>
                <a:cs typeface="Times New Roman" panose="02020603050405020304" pitchFamily="18" charset="0"/>
              </a:rPr>
              <a:t>Mayor impacto en el caso de </a:t>
            </a:r>
            <a:r>
              <a:rPr lang="es-AR" sz="1000" i="1" dirty="0">
                <a:latin typeface="Times New Roman" panose="02020603050405020304" pitchFamily="18" charset="0"/>
                <a:ea typeface="Tahoma" panose="020B0604030504040204" pitchFamily="34" charset="0"/>
                <a:cs typeface="Times New Roman" panose="02020603050405020304" pitchFamily="18" charset="0"/>
              </a:rPr>
              <a:t>desemp</a:t>
            </a:r>
            <a:r>
              <a:rPr lang="es-AR" sz="1000" dirty="0">
                <a:latin typeface="Times New Roman" panose="02020603050405020304" pitchFamily="18" charset="0"/>
                <a:ea typeface="Tahoma" panose="020B0604030504040204" pitchFamily="34" charset="0"/>
                <a:cs typeface="Times New Roman" panose="02020603050405020304" pitchFamily="18" charset="0"/>
              </a:rPr>
              <a:t>.</a:t>
            </a:r>
          </a:p>
          <a:p>
            <a:pPr marL="285750" indent="-285750" algn="just">
              <a:spcAft>
                <a:spcPts val="400"/>
              </a:spcAft>
              <a:buFont typeface="Wingdings" panose="05000000000000000000" pitchFamily="2" charset="2"/>
              <a:buChar char="Ø"/>
            </a:pPr>
            <a:r>
              <a:rPr lang="es-AR" sz="1000" dirty="0">
                <a:latin typeface="Times New Roman" panose="02020603050405020304" pitchFamily="18" charset="0"/>
                <a:ea typeface="Tahoma" panose="020B0604030504040204" pitchFamily="34" charset="0"/>
                <a:cs typeface="Times New Roman" panose="02020603050405020304" pitchFamily="18" charset="0"/>
              </a:rPr>
              <a:t>Mayor impacto en los más pobres.</a:t>
            </a:r>
          </a:p>
        </p:txBody>
      </p:sp>
      <p:pic>
        <p:nvPicPr>
          <p:cNvPr id="36" name="Imagen 35">
            <a:extLst>
              <a:ext uri="{FF2B5EF4-FFF2-40B4-BE49-F238E27FC236}">
                <a16:creationId xmlns:a16="http://schemas.microsoft.com/office/drawing/2014/main" id="{2C10EE39-CC44-4F04-886C-87ABCB64A8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5" y="467378"/>
            <a:ext cx="2880000" cy="2777509"/>
          </a:xfrm>
          <a:prstGeom prst="rect">
            <a:avLst/>
          </a:prstGeom>
        </p:spPr>
      </p:pic>
    </p:spTree>
    <p:extLst>
      <p:ext uri="{BB962C8B-B14F-4D97-AF65-F5344CB8AC3E}">
        <p14:creationId xmlns:p14="http://schemas.microsoft.com/office/powerpoint/2010/main" val="3407559814"/>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Resultados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Descomposición Kolenikov y Shorrocks (2005)</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Descomposición RIF</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Microsimulaciones</a:t>
            </a: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18 / </a:t>
            </a:r>
            <a:r>
              <a:rPr lang="es-AR" sz="600" spc="195" dirty="0"/>
              <a:t>20</a:t>
            </a:r>
            <a:endParaRPr spc="75" dirty="0"/>
          </a:p>
        </p:txBody>
      </p:sp>
      <p:sp>
        <p:nvSpPr>
          <p:cNvPr id="37" name="CuadroTexto 36">
            <a:extLst>
              <a:ext uri="{FF2B5EF4-FFF2-40B4-BE49-F238E27FC236}">
                <a16:creationId xmlns:a16="http://schemas.microsoft.com/office/drawing/2014/main" id="{A62DBF5F-219F-4822-A863-892FB85239E6}"/>
              </a:ext>
            </a:extLst>
          </p:cNvPr>
          <p:cNvSpPr txBox="1"/>
          <p:nvPr/>
        </p:nvSpPr>
        <p:spPr>
          <a:xfrm>
            <a:off x="151383" y="2142325"/>
            <a:ext cx="4320000" cy="605294"/>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Ø"/>
            </a:pPr>
            <a:r>
              <a:rPr lang="es-AR" sz="1000" dirty="0">
                <a:latin typeface="Times New Roman" panose="02020603050405020304" pitchFamily="18" charset="0"/>
                <a:ea typeface="Tahoma" panose="020B0604030504040204" pitchFamily="34" charset="0"/>
                <a:cs typeface="Times New Roman" panose="02020603050405020304" pitchFamily="18" charset="0"/>
              </a:rPr>
              <a:t>La pobreza disminuye en todos escenarios contrafácticos respecto del escenario original.</a:t>
            </a:r>
          </a:p>
          <a:p>
            <a:pPr marL="285750" indent="-285750" algn="just">
              <a:spcAft>
                <a:spcPts val="400"/>
              </a:spcAft>
              <a:buFont typeface="Wingdings" panose="05000000000000000000" pitchFamily="2" charset="2"/>
              <a:buChar char="Ø"/>
            </a:pPr>
            <a:r>
              <a:rPr lang="es-AR" sz="1000" dirty="0">
                <a:latin typeface="Times New Roman" panose="02020603050405020304" pitchFamily="18" charset="0"/>
                <a:ea typeface="Tahoma" panose="020B0604030504040204" pitchFamily="34" charset="0"/>
                <a:cs typeface="Times New Roman" panose="02020603050405020304" pitchFamily="18" charset="0"/>
              </a:rPr>
              <a:t>Adicionalmente, la desigualdad también lo hace.</a:t>
            </a:r>
          </a:p>
        </p:txBody>
      </p:sp>
      <p:pic>
        <p:nvPicPr>
          <p:cNvPr id="35" name="Imagen 34">
            <a:extLst>
              <a:ext uri="{FF2B5EF4-FFF2-40B4-BE49-F238E27FC236}">
                <a16:creationId xmlns:a16="http://schemas.microsoft.com/office/drawing/2014/main" id="{A997D2D9-891E-4CF1-81C2-7FC06E9A59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033" y="603290"/>
            <a:ext cx="3600000" cy="1295745"/>
          </a:xfrm>
          <a:prstGeom prst="rect">
            <a:avLst/>
          </a:prstGeom>
        </p:spPr>
      </p:pic>
    </p:spTree>
    <p:extLst>
      <p:ext uri="{BB962C8B-B14F-4D97-AF65-F5344CB8AC3E}">
        <p14:creationId xmlns:p14="http://schemas.microsoft.com/office/powerpoint/2010/main" val="3688802622"/>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Conclusiones</a:t>
            </a:r>
            <a:endParaRPr sz="1600"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endParaRPr sz="800" dirty="0">
              <a:latin typeface="Times New Roman" panose="02020603050405020304" pitchFamily="18" charset="0"/>
              <a:cs typeface="Times New Roman" panose="02020603050405020304" pitchFamily="18" charset="0"/>
            </a:endParaRP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19 / </a:t>
            </a:r>
            <a:r>
              <a:rPr lang="es-AR" sz="600" spc="195" dirty="0"/>
              <a:t>20</a:t>
            </a:r>
            <a:endParaRPr spc="75" dirty="0"/>
          </a:p>
        </p:txBody>
      </p:sp>
      <p:sp>
        <p:nvSpPr>
          <p:cNvPr id="37" name="CuadroTexto 36">
            <a:extLst>
              <a:ext uri="{FF2B5EF4-FFF2-40B4-BE49-F238E27FC236}">
                <a16:creationId xmlns:a16="http://schemas.microsoft.com/office/drawing/2014/main" id="{A62DBF5F-219F-4822-A863-892FB85239E6}"/>
              </a:ext>
            </a:extLst>
          </p:cNvPr>
          <p:cNvSpPr txBox="1"/>
          <p:nvPr/>
        </p:nvSpPr>
        <p:spPr>
          <a:xfrm>
            <a:off x="151353" y="587375"/>
            <a:ext cx="4320000" cy="2477601"/>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
            </a:pPr>
            <a:r>
              <a:rPr lang="es-AR" sz="1050" dirty="0">
                <a:effectLst/>
                <a:latin typeface="Times New Roman" panose="02020603050405020304" pitchFamily="18" charset="0"/>
                <a:ea typeface="Calibri" panose="020F0502020204030204" pitchFamily="34" charset="0"/>
              </a:rPr>
              <a:t>Como principales resultados, se encontró que el efecto crecimiento y el efecto redistribución tendieron a reducir la pobreza, en tanto que el efecto línea tendió a incrementarla, patrón que se mantiene a lo largo de las diferentes áreas geográficas y de cada una de las principales ciudades.</a:t>
            </a:r>
          </a:p>
          <a:p>
            <a:pPr marL="285750" indent="-285750" algn="just">
              <a:spcAft>
                <a:spcPts val="400"/>
              </a:spcAft>
              <a:buFont typeface="Wingdings" panose="05000000000000000000" pitchFamily="2" charset="2"/>
              <a:buChar char="§"/>
            </a:pPr>
            <a:r>
              <a:rPr lang="es-AR" sz="1050" dirty="0">
                <a:latin typeface="Times New Roman" panose="02020603050405020304" pitchFamily="18" charset="0"/>
                <a:ea typeface="Calibri" panose="020F0502020204030204" pitchFamily="34" charset="0"/>
              </a:rPr>
              <a:t>Por</a:t>
            </a:r>
            <a:r>
              <a:rPr lang="es-AR" sz="1050" dirty="0">
                <a:effectLst/>
                <a:latin typeface="Times New Roman" panose="02020603050405020304" pitchFamily="18" charset="0"/>
                <a:ea typeface="Calibri" panose="020F0502020204030204" pitchFamily="34" charset="0"/>
              </a:rPr>
              <a:t> otro lado, se obtuvo que </a:t>
            </a:r>
            <a:r>
              <a:rPr lang="es-MX" sz="1050" dirty="0">
                <a:effectLst/>
                <a:latin typeface="Times New Roman" panose="02020603050405020304" pitchFamily="18" charset="0"/>
                <a:ea typeface="Calibri" panose="020F0502020204030204" pitchFamily="34" charset="0"/>
              </a:rPr>
              <a:t>la disminución del número de miembros en el hogar, las mejoras en el nivel educativo de los hogares, la disminución de la tasa de desempleo en el hogar, el a</a:t>
            </a:r>
            <a:r>
              <a:rPr lang="es-MX" sz="1000" dirty="0">
                <a:effectLst/>
                <a:latin typeface="Times New Roman" panose="02020603050405020304" pitchFamily="18" charset="0"/>
                <a:ea typeface="Calibri" panose="020F0502020204030204" pitchFamily="34" charset="0"/>
              </a:rPr>
              <a:t>umento de los ingresos no laborales y los cambios en la composición de los hogares acontecidos en Colombia entre 2002 y 2018 se relacionaron positivamente con la reducción de la pobreza.</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Calibri" panose="020F0502020204030204" pitchFamily="34" charset="0"/>
                <a:cs typeface="Times New Roman" panose="02020603050405020304" pitchFamily="18" charset="0"/>
              </a:rPr>
              <a:t>Por último</a:t>
            </a: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 se obtuvo que aumentar tanto el nivel educativo como la tasa de empleo de la población tienen un efecto aliviador de la pobreza, con mayor impacto en los más pobres.</a:t>
            </a:r>
            <a:endParaRPr lang="es-AR" sz="10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spcAft>
                <a:spcPts val="400"/>
              </a:spcAft>
              <a:buFont typeface="Wingdings" panose="05000000000000000000" pitchFamily="2" charset="2"/>
              <a:buChar char="§"/>
            </a:pPr>
            <a:endParaRPr lang="es-AR" sz="1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76280768"/>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0668" y="3248849"/>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3" name="object 3"/>
          <p:cNvSpPr/>
          <p:nvPr/>
        </p:nvSpPr>
        <p:spPr>
          <a:xfrm>
            <a:off x="2971051" y="3244887"/>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48853" y="3244887"/>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08882" y="3258972"/>
            <a:ext cx="43180" cy="30480"/>
          </a:xfrm>
          <a:custGeom>
            <a:avLst/>
            <a:gdLst/>
            <a:ahLst/>
            <a:cxnLst/>
            <a:rect l="l" t="t" r="r" b="b"/>
            <a:pathLst>
              <a:path w="43179"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6" name="object 6"/>
          <p:cNvSpPr/>
          <p:nvPr/>
        </p:nvSpPr>
        <p:spPr>
          <a:xfrm>
            <a:off x="3319374" y="324869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329534" y="3238537"/>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8" name="object 8"/>
          <p:cNvSpPr/>
          <p:nvPr/>
        </p:nvSpPr>
        <p:spPr>
          <a:xfrm>
            <a:off x="3245713"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9" name="object 9"/>
          <p:cNvSpPr/>
          <p:nvPr/>
        </p:nvSpPr>
        <p:spPr>
          <a:xfrm>
            <a:off x="360927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0" name="object 10"/>
          <p:cNvSpPr/>
          <p:nvPr/>
        </p:nvSpPr>
        <p:spPr>
          <a:xfrm>
            <a:off x="3520365" y="324557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1" name="object 11"/>
          <p:cNvSpPr/>
          <p:nvPr/>
        </p:nvSpPr>
        <p:spPr>
          <a:xfrm>
            <a:off x="3596577" y="32385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09277" y="3263937"/>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59657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60927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5"/>
          <p:cNvSpPr/>
          <p:nvPr/>
        </p:nvSpPr>
        <p:spPr>
          <a:xfrm>
            <a:off x="3871227"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883927"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83927"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8"/>
          <p:cNvSpPr/>
          <p:nvPr/>
        </p:nvSpPr>
        <p:spPr>
          <a:xfrm>
            <a:off x="3795026" y="3244887"/>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9" name="object 19"/>
          <p:cNvSpPr/>
          <p:nvPr/>
        </p:nvSpPr>
        <p:spPr>
          <a:xfrm>
            <a:off x="3871227" y="32766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3883927" y="3289338"/>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1" name="object 21"/>
          <p:cNvSpPr/>
          <p:nvPr/>
        </p:nvSpPr>
        <p:spPr>
          <a:xfrm>
            <a:off x="4145890" y="32385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58590" y="32512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8590" y="3263937"/>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145890" y="3276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5"/>
          <p:cNvSpPr/>
          <p:nvPr/>
        </p:nvSpPr>
        <p:spPr>
          <a:xfrm>
            <a:off x="4158590" y="32893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6"/>
          <p:cNvSpPr/>
          <p:nvPr/>
        </p:nvSpPr>
        <p:spPr>
          <a:xfrm>
            <a:off x="4451033" y="3269017"/>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7" name="object 27"/>
          <p:cNvSpPr/>
          <p:nvPr/>
        </p:nvSpPr>
        <p:spPr>
          <a:xfrm>
            <a:off x="4423969" y="3242523"/>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28" name="object 28"/>
          <p:cNvSpPr/>
          <p:nvPr/>
        </p:nvSpPr>
        <p:spPr>
          <a:xfrm>
            <a:off x="4344352" y="3238537"/>
            <a:ext cx="50800" cy="50800"/>
          </a:xfrm>
          <a:custGeom>
            <a:avLst/>
            <a:gdLst/>
            <a:ahLst/>
            <a:cxnLst/>
            <a:rect l="l" t="t" r="r" b="b"/>
            <a:pathLst>
              <a:path w="50800" h="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329112"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4496754" y="3238537"/>
            <a:ext cx="50800" cy="50800"/>
          </a:xfrm>
          <a:custGeom>
            <a:avLst/>
            <a:gdLst/>
            <a:ahLst/>
            <a:cxnLst/>
            <a:rect l="l" t="t" r="r" b="b"/>
            <a:pathLst>
              <a:path w="50800" h="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ln w="5060">
            <a:solidFill>
              <a:srgbClr val="ADADE0"/>
            </a:solidFill>
          </a:ln>
        </p:spPr>
        <p:txBody>
          <a:bodyPr wrap="square" lIns="0" tIns="0" rIns="0" bIns="0" rtlCol="0"/>
          <a:lstStyle/>
          <a:p>
            <a:endParaRPr/>
          </a:p>
        </p:txBody>
      </p:sp>
      <p:sp>
        <p:nvSpPr>
          <p:cNvPr id="31" name="object 31"/>
          <p:cNvSpPr/>
          <p:nvPr/>
        </p:nvSpPr>
        <p:spPr>
          <a:xfrm>
            <a:off x="4532315" y="3256317"/>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2" name="object 32"/>
          <p:cNvSpPr/>
          <p:nvPr/>
        </p:nvSpPr>
        <p:spPr>
          <a:xfrm>
            <a:off x="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endParaRPr lang="es-AR" sz="1200"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40" y="0"/>
            <a:ext cx="2304415"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endParaRPr sz="1000" dirty="0">
              <a:latin typeface="Times New Roman" panose="02020603050405020304" pitchFamily="18" charset="0"/>
              <a:cs typeface="Times New Roman" panose="02020603050405020304" pitchFamily="18" charset="0"/>
            </a:endParaRPr>
          </a:p>
        </p:txBody>
      </p:sp>
      <p:sp>
        <p:nvSpPr>
          <p:cNvPr id="47" name="object 47"/>
          <p:cNvSpPr/>
          <p:nvPr/>
        </p:nvSpPr>
        <p:spPr>
          <a:xfrm>
            <a:off x="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a:p>
        </p:txBody>
      </p:sp>
      <p:sp>
        <p:nvSpPr>
          <p:cNvPr id="48" name="object 48"/>
          <p:cNvSpPr/>
          <p:nvPr/>
        </p:nvSpPr>
        <p:spPr>
          <a:xfrm>
            <a:off x="2308640" y="3339824"/>
            <a:ext cx="2304415"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0226" y="3348940"/>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45890" y="3342335"/>
            <a:ext cx="461440" cy="89768"/>
          </a:xfrm>
          <a:prstGeom prst="rect">
            <a:avLst/>
          </a:prstGeom>
        </p:spPr>
        <p:txBody>
          <a:bodyPr vert="horz" wrap="square" lIns="0" tIns="0" rIns="0" bIns="0" rtlCol="0">
            <a:spAutoFit/>
          </a:bodyPr>
          <a:lstStyle/>
          <a:p>
            <a:pPr marL="25400" algn="ctr">
              <a:lnSpc>
                <a:spcPts val="655"/>
              </a:lnSpc>
            </a:pPr>
            <a:r>
              <a:rPr lang="es-AR" sz="600" spc="75" dirty="0"/>
              <a:t>20 / </a:t>
            </a:r>
            <a:r>
              <a:rPr lang="es-AR" sz="600" spc="195" dirty="0"/>
              <a:t>20</a:t>
            </a:r>
            <a:endParaRPr spc="75" dirty="0"/>
          </a:p>
        </p:txBody>
      </p:sp>
      <p:sp>
        <p:nvSpPr>
          <p:cNvPr id="35" name="CuadroTexto 34">
            <a:extLst>
              <a:ext uri="{FF2B5EF4-FFF2-40B4-BE49-F238E27FC236}">
                <a16:creationId xmlns:a16="http://schemas.microsoft.com/office/drawing/2014/main" id="{4676201D-06F6-49ED-96B9-ACA1F950613C}"/>
              </a:ext>
            </a:extLst>
          </p:cNvPr>
          <p:cNvSpPr txBox="1"/>
          <p:nvPr/>
        </p:nvSpPr>
        <p:spPr>
          <a:xfrm>
            <a:off x="150341" y="1480580"/>
            <a:ext cx="4320000" cy="400110"/>
          </a:xfrm>
          <a:prstGeom prst="rect">
            <a:avLst/>
          </a:prstGeom>
          <a:noFill/>
        </p:spPr>
        <p:txBody>
          <a:bodyPr wrap="square" rtlCol="0">
            <a:spAutoFit/>
          </a:bodyPr>
          <a:lstStyle/>
          <a:p>
            <a:pPr algn="ctr">
              <a:spcAft>
                <a:spcPts val="200"/>
              </a:spcAft>
            </a:pPr>
            <a:r>
              <a:rPr lang="es-AR" sz="2000" b="1" dirty="0">
                <a:latin typeface="Times New Roman" panose="02020603050405020304" pitchFamily="18" charset="0"/>
                <a:ea typeface="Times New Roman" panose="02020603050405020304" pitchFamily="18" charset="0"/>
              </a:rPr>
              <a:t>¡ MUCHAS GRACIAS !</a:t>
            </a:r>
            <a:endParaRPr lang="es-AR" sz="20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97029968"/>
      </p:ext>
    </p:extLst>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2567</TotalTime>
  <Words>5102</Words>
  <Application>Microsoft Office PowerPoint</Application>
  <PresentationFormat>Personalizado</PresentationFormat>
  <Paragraphs>256</Paragraphs>
  <Slides>20</Slides>
  <Notes>20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Calibri</vt:lpstr>
      <vt:lpstr>Cambria Math</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Juan Menduiña</dc:creator>
  <cp:lastModifiedBy>Juan Ignacio Menduiña</cp:lastModifiedBy>
  <cp:revision>464</cp:revision>
  <dcterms:created xsi:type="dcterms:W3CDTF">2020-05-19T00:55:13Z</dcterms:created>
  <dcterms:modified xsi:type="dcterms:W3CDTF">2022-05-10T14:49:34Z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2019-08-01T00:00:00Z</vt:filetime>
  </property>
  <property fmtid="{D5CDD505-2E9C-101B-9397-08002B2CF9AE}" pid="3" name="Creator">
    <vt:lpwstr>LaTeX with Beamer class</vt:lpwstr>
  </property>
  <property fmtid="{D5CDD505-2E9C-101B-9397-08002B2CF9AE}" pid="4" name="LastSaved">
    <vt:filetime>2020-05-19T00:00:00Z</vt:filetime>
  </property>
</Properties>
</file>