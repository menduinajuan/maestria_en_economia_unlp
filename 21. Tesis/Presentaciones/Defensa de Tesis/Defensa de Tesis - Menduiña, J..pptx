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7" r:id="rId4"/>
    <p:sldId id="298" r:id="rId5"/>
    <p:sldId id="269" r:id="rId6"/>
    <p:sldId id="270" r:id="rId7"/>
    <p:sldId id="271" r:id="rId8"/>
    <p:sldId id="285" r:id="rId9"/>
    <p:sldId id="286" r:id="rId10"/>
    <p:sldId id="273" r:id="rId11"/>
    <p:sldId id="287" r:id="rId12"/>
    <p:sldId id="288" r:id="rId13"/>
    <p:sldId id="291" r:id="rId14"/>
    <p:sldId id="294" r:id="rId15"/>
    <p:sldId id="295" r:id="rId16"/>
    <p:sldId id="296" r:id="rId17"/>
    <p:sldId id="297" r:id="rId18"/>
    <p:sldId id="274" r:id="rId19"/>
    <p:sldId id="266" r:id="rId20"/>
  </p:sldIdLst>
  <p:sldSz cx="4610100" cy="3460750"/>
  <p:notesSz cx="4610100" cy="346075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278" autoAdjust="0"/>
  </p:normalViewPr>
  <p:slideViewPr>
    <p:cSldViewPr>
      <p:cViewPr varScale="1">
        <p:scale>
          <a:sx n="89" d="100"/>
          <a:sy n="89" d="100"/>
        </p:scale>
        <p:origin x="210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s-AR" dirty="0"/>
          </a:p>
        </p:txBody>
      </p:sp>
      <p:sp>
        <p:nvSpPr>
          <p:cNvPr id="3" name="Marcador de fecha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6C248D4F-4833-4A18-8C3F-F85FD19F7818}" type="datetimeFigureOut">
              <a:rPr lang="es-AR" smtClean="0"/>
              <a:t>16/5/2022</a:t>
            </a:fld>
            <a:endParaRPr lang="es-AR" dirty="0"/>
          </a:p>
        </p:txBody>
      </p:sp>
      <p:sp>
        <p:nvSpPr>
          <p:cNvPr id="4" name="Marcador de imagen de diapositiva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s-AR" dirty="0"/>
          </a:p>
        </p:txBody>
      </p:sp>
      <p:sp>
        <p:nvSpPr>
          <p:cNvPr id="5" name="Marcador de notas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s-AR" dirty="0"/>
          </a:p>
        </p:txBody>
      </p:sp>
      <p:sp>
        <p:nvSpPr>
          <p:cNvPr id="7" name="Marcador de número de diapositiva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F479C52E-53D7-4F7D-87B2-09C1F709BFF4}" type="slidenum">
              <a:rPr lang="es-AR" smtClean="0"/>
              <a:t>‹Nº›</a:t>
            </a:fld>
            <a:endParaRPr lang="es-AR" dirty="0"/>
          </a:p>
        </p:txBody>
      </p:sp>
    </p:spTree>
    <p:extLst>
      <p:ext uri="{BB962C8B-B14F-4D97-AF65-F5344CB8AC3E}">
        <p14:creationId xmlns:p14="http://schemas.microsoft.com/office/powerpoint/2010/main" val="910667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sz="1200" dirty="0">
                <a:latin typeface="Times New Roman" panose="02020603050405020304" pitchFamily="18" charset="0"/>
                <a:cs typeface="Times New Roman" panose="02020603050405020304" pitchFamily="18" charset="0"/>
              </a:rPr>
              <a:t>Hola a todos y todas. Mi nombre es Juan </a:t>
            </a:r>
            <a:r>
              <a:rPr lang="es-AR" sz="1200" dirty="0">
                <a:solidFill>
                  <a:srgbClr val="FF0000"/>
                </a:solidFill>
                <a:highlight>
                  <a:srgbClr val="FFFF00"/>
                </a:highlight>
                <a:latin typeface="Times New Roman" panose="02020603050405020304" pitchFamily="18" charset="0"/>
                <a:cs typeface="Times New Roman" panose="02020603050405020304" pitchFamily="18" charset="0"/>
              </a:rPr>
              <a:t>Menduiña y</a:t>
            </a:r>
            <a:r>
              <a:rPr lang="es-AR" sz="1200" dirty="0">
                <a:latin typeface="Times New Roman" panose="02020603050405020304" pitchFamily="18" charset="0"/>
                <a:cs typeface="Times New Roman" panose="02020603050405020304" pitchFamily="18" charset="0"/>
              </a:rPr>
              <a:t> este video constituye la defensa de mi trabajo de tesis de la Maestría en Economía, titulado “Evolución de la pobreza monetaria en Colombia: Un análisis de descomposiciones”, dirigido por Javier Alejo y codirigido por Leonardo Gasparini.</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a:t>
            </a:fld>
            <a:endParaRPr lang="es-AR" dirty="0"/>
          </a:p>
        </p:txBody>
      </p:sp>
    </p:spTree>
    <p:extLst>
      <p:ext uri="{BB962C8B-B14F-4D97-AF65-F5344CB8AC3E}">
        <p14:creationId xmlns:p14="http://schemas.microsoft.com/office/powerpoint/2010/main" val="229961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dirty="0">
                <a:latin typeface="Times New Roman" panose="02020603050405020304" pitchFamily="18" charset="0"/>
                <a:cs typeface="Times New Roman" panose="02020603050405020304" pitchFamily="18" charset="0"/>
              </a:rPr>
              <a:t>Bueno, ésta es la hoja de ruta que vamos a seguir a lo largo de la presentación:</a:t>
            </a:r>
          </a:p>
          <a:p>
            <a:pPr algn="just"/>
            <a:endParaRPr lang="es-AR" dirty="0">
              <a:latin typeface="Times New Roman" panose="02020603050405020304" pitchFamily="18" charset="0"/>
              <a:cs typeface="Times New Roman" panose="02020603050405020304" pitchFamily="18" charset="0"/>
            </a:endParaRPr>
          </a:p>
          <a:p>
            <a:pPr marL="228600" indent="-228600" algn="just">
              <a:buAutoNum type="arabicParenBoth"/>
            </a:pPr>
            <a:r>
              <a:rPr lang="es-AR" dirty="0">
                <a:latin typeface="Times New Roman" panose="02020603050405020304" pitchFamily="18" charset="0"/>
                <a:cs typeface="Times New Roman" panose="02020603050405020304" pitchFamily="18" charset="0"/>
              </a:rPr>
              <a:t>Motivación.</a:t>
            </a:r>
          </a:p>
          <a:p>
            <a:pPr marL="228600" indent="-228600" algn="just">
              <a:buAutoNum type="arabicParenBoth"/>
            </a:pPr>
            <a:r>
              <a:rPr lang="es-AR" dirty="0">
                <a:latin typeface="Times New Roman" panose="02020603050405020304" pitchFamily="18" charset="0"/>
                <a:cs typeface="Times New Roman" panose="02020603050405020304" pitchFamily="18" charset="0"/>
              </a:rPr>
              <a:t>La descripción de la fuente de datos y algunas estadísticas descriptivas.</a:t>
            </a:r>
          </a:p>
          <a:p>
            <a:pPr marL="228600" indent="-228600" algn="just">
              <a:buAutoNum type="arabicParenBoth"/>
            </a:pPr>
            <a:r>
              <a:rPr lang="es-AR" dirty="0">
                <a:latin typeface="Times New Roman" panose="02020603050405020304" pitchFamily="18" charset="0"/>
                <a:cs typeface="Times New Roman" panose="02020603050405020304" pitchFamily="18" charset="0"/>
              </a:rPr>
              <a:t>Metodología.</a:t>
            </a:r>
          </a:p>
          <a:p>
            <a:pPr marL="228600" indent="-228600" algn="just">
              <a:buAutoNum type="arabicParenBoth"/>
            </a:pPr>
            <a:r>
              <a:rPr lang="es-AR" dirty="0">
                <a:latin typeface="Times New Roman" panose="02020603050405020304" pitchFamily="18" charset="0"/>
                <a:cs typeface="Times New Roman" panose="02020603050405020304" pitchFamily="18" charset="0"/>
              </a:rPr>
              <a:t>Principales resultados.</a:t>
            </a:r>
          </a:p>
          <a:p>
            <a:pPr marL="228600" indent="-228600" algn="just">
              <a:buAutoNum type="arabicParenBoth"/>
            </a:pPr>
            <a:r>
              <a:rPr lang="es-AR" dirty="0">
                <a:latin typeface="Times New Roman" panose="02020603050405020304" pitchFamily="18" charset="0"/>
                <a:cs typeface="Times New Roman" panose="02020603050405020304" pitchFamily="18" charset="0"/>
              </a:rPr>
              <a:t>Y, finalmente, algunos comentarios finales.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2</a:t>
            </a:fld>
            <a:endParaRPr lang="es-AR" dirty="0"/>
          </a:p>
        </p:txBody>
      </p:sp>
    </p:spTree>
    <p:extLst>
      <p:ext uri="{BB962C8B-B14F-4D97-AF65-F5344CB8AC3E}">
        <p14:creationId xmlns:p14="http://schemas.microsoft.com/office/powerpoint/2010/main" val="3918826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dirty="0">
                <a:latin typeface="Times New Roman" panose="02020603050405020304" pitchFamily="18" charset="0"/>
                <a:cs typeface="Times New Roman" panose="02020603050405020304" pitchFamily="18" charset="0"/>
              </a:rPr>
              <a:t>Como veremos más adelante, en Colombia, la pobreza monetaria se redujo de manera significativa en las últimas dos décadas, al unísono con lo acontecido en la mayoría de los países de la región. Sin embargo, al observar las tasas de incidencia de la pobreza monetaria, se tienen importantes diferencias entre áreas rurales y ciudades grandes y pequeñas.</a:t>
            </a:r>
          </a:p>
          <a:p>
            <a:pPr marL="228600" indent="-228600" algn="just">
              <a:buAutoNum type="arabicParenBoth"/>
            </a:pPr>
            <a:r>
              <a:rPr lang="es-AR" dirty="0">
                <a:latin typeface="Times New Roman" panose="02020603050405020304" pitchFamily="18" charset="0"/>
                <a:cs typeface="Times New Roman" panose="02020603050405020304" pitchFamily="18" charset="0"/>
              </a:rPr>
              <a:t>Es así que entender los factores asociados a la dinámica de la pobreza monetaria desde una perspectiva agregada y regional es de gran relevancia para la política pública colombiana.</a:t>
            </a:r>
          </a:p>
          <a:p>
            <a:pPr marL="228600" indent="-228600" algn="just">
              <a:buAutoNum type="arabicParenBoth"/>
            </a:pPr>
            <a:r>
              <a:rPr lang="es-AR" sz="1200" dirty="0">
                <a:latin typeface="Times New Roman" panose="02020603050405020304" pitchFamily="18" charset="0"/>
                <a:ea typeface="Tahoma" panose="020B0604030504040204" pitchFamily="34" charset="0"/>
                <a:cs typeface="Times New Roman" panose="02020603050405020304" pitchFamily="18" charset="0"/>
              </a:rPr>
              <a:t>Siendo así, en </a:t>
            </a:r>
            <a:r>
              <a:rPr lang="es-AR" sz="1200" b="0" dirty="0">
                <a:latin typeface="Times New Roman" panose="02020603050405020304" pitchFamily="18" charset="0"/>
                <a:ea typeface="Tahoma" panose="020B0604030504040204" pitchFamily="34" charset="0"/>
                <a:cs typeface="Times New Roman" panose="02020603050405020304" pitchFamily="18" charset="0"/>
              </a:rPr>
              <a:t>este trabajo, nos propusimos </a:t>
            </a:r>
            <a:r>
              <a:rPr lang="es-AR" sz="1200" b="0" dirty="0">
                <a:effectLst/>
                <a:latin typeface="Times New Roman" panose="02020603050405020304" pitchFamily="18" charset="0"/>
                <a:ea typeface="Calibri" panose="020F0502020204030204" pitchFamily="34" charset="0"/>
              </a:rPr>
              <a:t>estudiar </a:t>
            </a:r>
            <a:r>
              <a:rPr lang="es-AR" sz="1200" dirty="0">
                <a:effectLst/>
                <a:latin typeface="Times New Roman" panose="02020603050405020304" pitchFamily="18" charset="0"/>
                <a:ea typeface="Calibri" panose="020F0502020204030204" pitchFamily="34" charset="0"/>
              </a:rPr>
              <a:t>la influencia que han tenido, por un lado, el crecimiento de los ingresos, los cambios distributivos y la variación de los precios locales y, por otro lado, las características económicas y sociodemográficas de los hogares sobre la evolución de la pobreza monetaria en Colombia durante el período 2002-2018.</a:t>
            </a:r>
            <a:endParaRPr lang="es-AR"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3</a:t>
            </a:fld>
            <a:endParaRPr lang="es-AR" dirty="0"/>
          </a:p>
        </p:txBody>
      </p:sp>
    </p:spTree>
    <p:extLst>
      <p:ext uri="{BB962C8B-B14F-4D97-AF65-F5344CB8AC3E}">
        <p14:creationId xmlns:p14="http://schemas.microsoft.com/office/powerpoint/2010/main" val="2149738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La información que utilizamos a lo largo del trabajo proviene de los microdatos de la Encuesta Continua de Hogares para el período 2002-2005 y de la Gran Encuesta Integrada de Hogares para el período 2008-2018, realizadas por el DANE. Las cifras del período 2002-2005 están empalmadas tomando como referencia la metodología utilizada por la GEIH, trabajo que realizó la MESEP.</a:t>
            </a:r>
          </a:p>
          <a:p>
            <a:pPr marL="228600" indent="-228600" algn="just">
              <a:buAutoNum type="arabicParenBoth"/>
            </a:pPr>
            <a:r>
              <a:rPr lang="es-AR" sz="1200" dirty="0">
                <a:latin typeface="Times New Roman" panose="02020603050405020304" pitchFamily="18" charset="0"/>
                <a:cs typeface="Times New Roman" panose="02020603050405020304" pitchFamily="18" charset="0"/>
              </a:rPr>
              <a:t>Este trabajo realizado por la MESEP de empalmar las bases de ingresos desde 2002 a 2018 hacen posible la comparabilidad entre las dos fuentes de datos.</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indent="-228600" algn="just">
              <a:buAutoNum type="arabicParenBoth"/>
            </a:pPr>
            <a:r>
              <a:rPr lang="es-AR" sz="1200" dirty="0">
                <a:effectLst/>
                <a:latin typeface="Times New Roman" panose="02020603050405020304" pitchFamily="18" charset="0"/>
                <a:cs typeface="Times New Roman" panose="02020603050405020304" pitchFamily="18" charset="0"/>
              </a:rPr>
              <a:t>Finalmente, </a:t>
            </a:r>
            <a:r>
              <a:rPr lang="es-AR" sz="1200" dirty="0">
                <a:latin typeface="Times New Roman" panose="02020603050405020304" pitchFamily="18" charset="0"/>
                <a:cs typeface="Times New Roman" panose="02020603050405020304" pitchFamily="18" charset="0"/>
              </a:rPr>
              <a:t>para realizar los estudios de descomposición, seleccionamos los años que tuvieran, por un lado, un crecimiento del PIB per cápita acumulado semejante y, por otro lado, inflaciones anuales relativamente bajas. Como ejercicio de robustez, además del período 2002-2018, trabajamos también con el período 2005-2015, para dirimir los potenciales efectos del éxodo migratorio de venezolanos hacia Colombia a partir del segundo semestre de 2016 en los resultados de las descomposiciones.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4</a:t>
            </a:fld>
            <a:endParaRPr lang="es-AR" dirty="0"/>
          </a:p>
        </p:txBody>
      </p:sp>
    </p:spTree>
    <p:extLst>
      <p:ext uri="{BB962C8B-B14F-4D97-AF65-F5344CB8AC3E}">
        <p14:creationId xmlns:p14="http://schemas.microsoft.com/office/powerpoint/2010/main" val="477432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cs typeface="Times New Roman" panose="02020603050405020304" pitchFamily="18" charset="0"/>
              </a:rPr>
              <a:t>En la Tabla 2 del trabajo,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se presentan estadísticas descriptivas sobre las características económicas y sociodemográficas de los hogares, las cuales están relacionadas con la probabilidad de pobreza de los hogares y fueron utilizadas en una de las descomposiciones.</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Como áreas geográficas, </a:t>
            </a:r>
            <a:r>
              <a:rPr lang="es-AR" sz="1200" b="0" dirty="0">
                <a:effectLst/>
                <a:latin typeface="Times New Roman" panose="02020603050405020304" pitchFamily="18" charset="0"/>
                <a:ea typeface="Calibri" panose="020F0502020204030204" pitchFamily="34" charset="0"/>
                <a:cs typeface="Times New Roman" panose="02020603050405020304" pitchFamily="18" charset="0"/>
              </a:rPr>
              <a:t>optamos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por discriminar entre los principales centros urbanos, que corresponden a las trece ciudades principales y sus áreas metropolitanas, el resto urbano (es decir, el resto de ciudades y cabeceras urbanas) y, por último, los centros poblados y rural disperso.</a:t>
            </a:r>
          </a:p>
          <a:p>
            <a:pPr marL="228600" indent="-228600" algn="just">
              <a:buAutoNum type="arabicParenBoth"/>
            </a:pPr>
            <a:r>
              <a:rPr lang="es-AR" sz="1200" dirty="0">
                <a:effectLst/>
                <a:latin typeface="Times New Roman" panose="02020603050405020304" pitchFamily="18" charset="0"/>
                <a:cs typeface="Times New Roman" panose="02020603050405020304" pitchFamily="18" charset="0"/>
              </a:rPr>
              <a:t>A grandes rasgos, lo que se observa en esta tabla es que </a:t>
            </a:r>
            <a:r>
              <a:rPr lang="es-AR" sz="1200" b="1" dirty="0">
                <a:effectLst/>
                <a:latin typeface="Times New Roman" panose="02020603050405020304" pitchFamily="18" charset="0"/>
                <a:cs typeface="Times New Roman" panose="02020603050405020304" pitchFamily="18" charset="0"/>
              </a:rPr>
              <a:t>los menores niveles de ingreso se encuentran en el área rural, al mirar el ingreso per cápita de la unidad de gasto y el ingreso no laboral del hogar.</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Luego, observamos que, en comparación a los hogares de las principales ciudades y a los del resto urbano, los hogares rurales tienen, en promedio, </a:t>
            </a: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mayor cantidad de miembros, considerablemente menos años de educación, una menor tasa de desempleo y es menor la participación laboral femenina, mientras que la informalidad laboral es casi el doble que la correspondiente a los hogares de las principales ciudades.</a:t>
            </a:r>
            <a:endParaRPr lang="es-AR" sz="1200" b="1" dirty="0">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5</a:t>
            </a:fld>
            <a:endParaRPr lang="es-AR" dirty="0"/>
          </a:p>
        </p:txBody>
      </p:sp>
    </p:spTree>
    <p:extLst>
      <p:ext uri="{BB962C8B-B14F-4D97-AF65-F5344CB8AC3E}">
        <p14:creationId xmlns:p14="http://schemas.microsoft.com/office/powerpoint/2010/main" val="945869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Times New Roman" panose="02020603050405020304" pitchFamily="18" charset="0"/>
                <a:cs typeface="Times New Roman" panose="02020603050405020304" pitchFamily="18" charset="0"/>
              </a:rPr>
              <a:t>Al analizar la pobreza monetaria en Colombia entre 2002 y 2018, se observa una reducción significativa en cada una de las áreas geográficas consideradas, tomando cualquier indicador de pobreza FGT, los cuales son los indicadores que se tomaron como referencia en este trabajo.</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Times New Roman" panose="02020603050405020304" pitchFamily="18" charset="0"/>
                <a:cs typeface="Times New Roman" panose="02020603050405020304" pitchFamily="18" charset="0"/>
              </a:rPr>
              <a:t>En el Panel A de la Figura 2, se muestra la incidencia de la pobreza por área geográfica. Para el agregado nacional, en 2002, la incidencia de la pobreza era de alrededor de 50 por ciento y, en 2018, de 27 por ciento. Cuando se desagrega el total nacional, se observa que la pobreza es notablemente menor en las principales ciudades, mientras que el área rural es la que ha tenido los mayores niveles de pobreza.</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Estas tendencias son similares cuando se considera cualquier indicador de pobreza FGT, incidencia, brecha o severidad, y también cuando se consideran estos mismos indicadores pero para la pobreza extrema.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6</a:t>
            </a:fld>
            <a:endParaRPr lang="es-AR" dirty="0"/>
          </a:p>
        </p:txBody>
      </p:sp>
    </p:spTree>
    <p:extLst>
      <p:ext uri="{BB962C8B-B14F-4D97-AF65-F5344CB8AC3E}">
        <p14:creationId xmlns:p14="http://schemas.microsoft.com/office/powerpoint/2010/main" val="2955154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la Tabla 3, </a:t>
            </a:r>
            <a:r>
              <a:rPr lang="es-AR" sz="1200" dirty="0">
                <a:effectLst/>
                <a:latin typeface="Times New Roman" panose="02020603050405020304" pitchFamily="18" charset="0"/>
                <a:ea typeface="Calibri" panose="020F0502020204030204" pitchFamily="34" charset="0"/>
              </a:rPr>
              <a:t>se computan las variaciones de los indicadores de pobreza y de pobreza extrema.</a:t>
            </a:r>
          </a:p>
          <a:p>
            <a:pPr marL="228600" indent="-228600" algn="just">
              <a:lnSpc>
                <a:spcPct val="150000"/>
              </a:lnSpc>
              <a:spcAft>
                <a:spcPts val="0"/>
              </a:spcAft>
              <a:buAutoNum type="arabicParenBoth"/>
            </a:pPr>
            <a:r>
              <a:rPr lang="es-AR" sz="1200" b="0" dirty="0">
                <a:effectLst/>
                <a:latin typeface="Times New Roman" panose="02020603050405020304" pitchFamily="18" charset="0"/>
                <a:ea typeface="Calibri" panose="020F0502020204030204" pitchFamily="34" charset="0"/>
              </a:rPr>
              <a:t>Como </a:t>
            </a:r>
            <a:r>
              <a:rPr lang="es-AR" sz="1200" dirty="0">
                <a:effectLst/>
                <a:latin typeface="Times New Roman" panose="02020603050405020304" pitchFamily="18" charset="0"/>
                <a:ea typeface="Calibri" panose="020F0502020204030204" pitchFamily="34" charset="0"/>
              </a:rPr>
              <a:t>se puede ver, </a:t>
            </a:r>
            <a:r>
              <a:rPr lang="es-AR" sz="1200" b="1" dirty="0">
                <a:effectLst/>
                <a:latin typeface="Times New Roman" panose="02020603050405020304" pitchFamily="18" charset="0"/>
                <a:ea typeface="Calibri" panose="020F0502020204030204" pitchFamily="34" charset="0"/>
              </a:rPr>
              <a:t>las mayores reducciones (en puntos porcentuales) se tienen en el área rural.</a:t>
            </a:r>
            <a:r>
              <a:rPr lang="es-AR" sz="1200" dirty="0">
                <a:effectLst/>
                <a:latin typeface="Times New Roman" panose="02020603050405020304" pitchFamily="18" charset="0"/>
                <a:ea typeface="Calibri" panose="020F0502020204030204" pitchFamily="34" charset="0"/>
              </a:rPr>
              <a:t> Por ejemplo, la incidencia de la pobreza y de la pobreza extrema se reducen alrededor de 25 y 17 puntos porcentuales, respectivamente.</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En esta instancia, es importante notar la gran heterogeneidad imperante en Colombia a nivel regional en términos de pobreza. En 2018, la incidencia de la pobreza en el área rural fue 2,2 veces la de las principales ciudades, mientras que, para la incidencia de la pobreza extrema, este valor asciende a 5,3. En cambio, en 2002, estos valores fueron 1,7 y 4,4, respectivamente, indicando que, si bien la reducción en puntos porcentuales fue mayor en el área rural, la caída relativa fue mayor en las principales ciudades, con lo cual estas brechas en las incidencias entre el área rural y las principales ciudades aumentaron entre 2002 y 2018.</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7</a:t>
            </a:fld>
            <a:endParaRPr lang="es-AR" dirty="0"/>
          </a:p>
        </p:txBody>
      </p:sp>
    </p:spTree>
    <p:extLst>
      <p:ext uri="{BB962C8B-B14F-4D97-AF65-F5344CB8AC3E}">
        <p14:creationId xmlns:p14="http://schemas.microsoft.com/office/powerpoint/2010/main" val="3553879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la Tabla 4, </a:t>
            </a:r>
            <a:r>
              <a:rPr lang="es-AR" sz="1200" dirty="0">
                <a:effectLst/>
                <a:latin typeface="Times New Roman" panose="02020603050405020304" pitchFamily="18" charset="0"/>
                <a:ea typeface="Calibri" panose="020F0502020204030204" pitchFamily="34" charset="0"/>
              </a:rPr>
              <a:t>se presenta la participación de cada área geográfica en los indicadores de pobreza FGT.</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A pesar de que, en el área rural, vive cerca de una cuarta parte de la población total colombiana, su participación en los indicadores de pobreza es más alta que la de las principales ciudades, donde habita alrededor del 45 por ciento de la población. En línea con esto, un aspecto a destacar es que, en el área rural, se concentra la población de más bajos ingresos, incluso dentro del conjunto de la población pobre, lo que se evidencia en la alta participación de esta área en la severidad de la pobreza.</a:t>
            </a:r>
          </a:p>
          <a:p>
            <a:pPr marL="228600" indent="-228600" algn="just">
              <a:lnSpc>
                <a:spcPct val="150000"/>
              </a:lnSpc>
              <a:spcAft>
                <a:spcPts val="0"/>
              </a:spcAft>
              <a:buAutoNum type="arabicParenBoth"/>
            </a:pPr>
            <a:r>
              <a:rPr lang="es-AR" sz="1200" b="1" dirty="0">
                <a:effectLst/>
                <a:latin typeface="Times New Roman" panose="02020603050405020304" pitchFamily="18" charset="0"/>
                <a:ea typeface="Calibri" panose="020F0502020204030204" pitchFamily="34" charset="0"/>
              </a:rPr>
              <a:t>Si bien, de 2002 a 2015, se redujo la participación en la pobreza de las principales ciudades, de 2015 a 2018, hubo un importante aumento de alrededor de 2 puntos porcentuales.</a:t>
            </a:r>
            <a:r>
              <a:rPr lang="es-AR" sz="1200" dirty="0">
                <a:effectLst/>
                <a:latin typeface="Times New Roman" panose="02020603050405020304" pitchFamily="18" charset="0"/>
                <a:ea typeface="Calibri" panose="020F0502020204030204" pitchFamily="34" charset="0"/>
              </a:rPr>
              <a:t> Esto puede ser consecuencia del impacto del éxodo migratorio de venezolanos hacia Colombia a partir del segundo semestre de 2016, suponiendo que estos se ubicaron mayoritariamente en los principales centros urbanos y dada la caída en el salario real horario provocada por el incremento en la oferta laboral en estas regiones más afectadas.</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8</a:t>
            </a:fld>
            <a:endParaRPr lang="es-AR" dirty="0"/>
          </a:p>
        </p:txBody>
      </p:sp>
    </p:spTree>
    <p:extLst>
      <p:ext uri="{BB962C8B-B14F-4D97-AF65-F5344CB8AC3E}">
        <p14:creationId xmlns:p14="http://schemas.microsoft.com/office/powerpoint/2010/main" val="3603207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Para una aproximación preliminar a los cambios en la pobreza monetaria explicados por el efecto crecimiento y el efecto redistribución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se muestran </a:t>
            </a:r>
            <a:r>
              <a:rPr lang="es-AR" sz="1200" dirty="0">
                <a:effectLst/>
                <a:latin typeface="Times New Roman" panose="02020603050405020304" pitchFamily="18" charset="0"/>
                <a:ea typeface="Calibri" panose="020F0502020204030204" pitchFamily="34" charset="0"/>
              </a:rPr>
              <a:t>funciones de densidad de la distribución del logaritmo del ingreso per cápita considerado, estimadas no paramétricamente por el método de </a:t>
            </a:r>
            <a:r>
              <a:rPr lang="es-AR" sz="1200" i="1" dirty="0">
                <a:effectLst/>
                <a:latin typeface="Times New Roman" panose="02020603050405020304" pitchFamily="18" charset="0"/>
                <a:ea typeface="Calibri" panose="020F0502020204030204" pitchFamily="34" charset="0"/>
              </a:rPr>
              <a:t>kernel</a:t>
            </a:r>
            <a:r>
              <a:rPr lang="es-AR" sz="1200" i="0" dirty="0">
                <a:effectLst/>
                <a:latin typeface="Times New Roman" panose="02020603050405020304" pitchFamily="18" charset="0"/>
                <a:ea typeface="Calibri" panose="020F0502020204030204" pitchFamily="34" charset="0"/>
              </a:rPr>
              <a:t>,</a:t>
            </a:r>
            <a:r>
              <a:rPr lang="es-AR" sz="1200" dirty="0">
                <a:effectLst/>
                <a:latin typeface="Times New Roman" panose="02020603050405020304" pitchFamily="18" charset="0"/>
                <a:ea typeface="Calibri" panose="020F0502020204030204" pitchFamily="34" charset="0"/>
              </a:rPr>
              <a:t> para cada área geográfica, para los años 2002 y 2018.</a:t>
            </a:r>
          </a:p>
          <a:p>
            <a:pPr marL="228600" indent="-228600" algn="just">
              <a:lnSpc>
                <a:spcPct val="150000"/>
              </a:lnSpc>
              <a:spcAft>
                <a:spcPts val="0"/>
              </a:spcAft>
              <a:buAutoNum type="arabicParenBoth"/>
            </a:pPr>
            <a:r>
              <a:rPr lang="es-AR" sz="1200" dirty="0">
                <a:effectLst/>
                <a:latin typeface="Times New Roman" panose="02020603050405020304" pitchFamily="18" charset="0"/>
                <a:ea typeface="Calibri" panose="020F0502020204030204" pitchFamily="34" charset="0"/>
              </a:rPr>
              <a:t>Aquí, se observa que, para todas las áreas geográficas, el cambio en la distribución del ingreso per cápita entre 2002 y 2018 se explicó, principalmente, por un desplazamiento hacia la derecha de la función de densidad, sin que cambiara su forma, lo cual daría cuenta de un importante efecto crecimiento en comparación al efecto redistribución.</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9</a:t>
            </a:fld>
            <a:endParaRPr lang="es-AR" dirty="0"/>
          </a:p>
        </p:txBody>
      </p:sp>
    </p:spTree>
    <p:extLst>
      <p:ext uri="{BB962C8B-B14F-4D97-AF65-F5344CB8AC3E}">
        <p14:creationId xmlns:p14="http://schemas.microsoft.com/office/powerpoint/2010/main" val="2040718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La metodología se dividió en dos partes:</a:t>
            </a:r>
            <a:endParaRPr lang="es-AR" sz="1200" i="0" dirty="0">
              <a:effectLst/>
              <a:latin typeface="Times New Roman" panose="02020603050405020304" pitchFamily="18" charset="0"/>
              <a:ea typeface="Calibri" panose="020F0502020204030204" pitchFamily="34" charset="0"/>
              <a:cs typeface="Times New Roman" panose="02020603050405020304" pitchFamily="18" charset="0"/>
            </a:endParaRPr>
          </a:p>
          <a:p>
            <a:pPr marL="628650" lvl="1" indent="-171450" algn="just">
              <a:buFontTx/>
              <a:buChar cha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primer lugar, mediante la metodología de descomposición de Kolenikov y Shorrocks (2005), se descompone el cambio en la pobreza en efecto crecimiento, redistribución y línea de pobreza.</a:t>
            </a:r>
          </a:p>
          <a:p>
            <a:pPr marL="628650" lvl="1" indent="-171450" algn="just">
              <a:buFontTx/>
              <a:buChar cha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segundo lugar, se combina la metodología anterior con la estrategia de reponderación planteada en DiNardo y otros</a:t>
            </a:r>
            <a:r>
              <a:rPr lang="es-AR" sz="1200" i="0" dirty="0">
                <a:effectLst/>
                <a:latin typeface="Times New Roman" panose="02020603050405020304" pitchFamily="18" charset="0"/>
                <a:ea typeface="Calibri" panose="020F0502020204030204" pitchFamily="34" charset="0"/>
                <a:cs typeface="Times New Roman" panose="02020603050405020304" pitchFamily="18" charset="0"/>
              </a:rPr>
              <a:t> (1996) para analizar la relevancia de las características económicas y sociodemográficas de los hogares en el cambio en la pobreza monetaria.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10</a:t>
            </a:fld>
            <a:endParaRPr lang="es-AR" dirty="0"/>
          </a:p>
        </p:txBody>
      </p:sp>
    </p:spTree>
    <p:extLst>
      <p:ext uri="{BB962C8B-B14F-4D97-AF65-F5344CB8AC3E}">
        <p14:creationId xmlns:p14="http://schemas.microsoft.com/office/powerpoint/2010/main" val="2629866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ea typeface="Tahoma" panose="020B0604030504040204" pitchFamily="34" charset="0"/>
                    <a:cs typeface="Times New Roman" panose="02020603050405020304" pitchFamily="18" charset="0"/>
                  </a:rPr>
                  <a:t>Los cambios en la pobreza monetaria es posible descomponerlos en factores asociados a los cambios de los ingresos, distributivos y de la línea de pobreza.</a:t>
                </a:r>
              </a:p>
              <a:p>
                <a:pPr marL="228600" indent="-228600" algn="just">
                  <a:buAutoNum type="arabicParenBoth"/>
                </a:pPr>
                <a:r>
                  <a:rPr lang="es-AR" sz="1200" dirty="0">
                    <a:effectLst/>
                    <a:latin typeface="Times New Roman" panose="02020603050405020304" pitchFamily="18" charset="0"/>
                    <a:ea typeface="Tahoma" panose="020B0604030504040204" pitchFamily="34" charset="0"/>
                    <a:cs typeface="Times New Roman" panose="02020603050405020304" pitchFamily="18" charset="0"/>
                  </a:rPr>
                  <a:t>En particular, el indicador de pobreza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𝑃</m:t>
                    </m:r>
                  </m:oMath>
                </a14:m>
                <a:r>
                  <a:rPr lang="es-AR" sz="1200" dirty="0">
                    <a:effectLst/>
                    <a:latin typeface="Times New Roman" panose="02020603050405020304" pitchFamily="18" charset="0"/>
                    <a:ea typeface="Tahoma" panose="020B0604030504040204" pitchFamily="34" charset="0"/>
                    <a:cs typeface="Times New Roman" panose="02020603050405020304" pitchFamily="18" charset="0"/>
                  </a:rPr>
                  <a:t> en un período </a:t>
                </a:r>
                <a14:m>
                  <m:oMath xmlns:m="http://schemas.openxmlformats.org/officeDocument/2006/math">
                    <m:r>
                      <a:rPr lang="es-AR" sz="1200" i="1" smtClean="0">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s-AR" sz="1200" i="0" dirty="0">
                    <a:effectLst/>
                    <a:latin typeface="Times New Roman" panose="02020603050405020304" pitchFamily="18" charset="0"/>
                    <a:ea typeface="Tahoma" panose="020B0604030504040204" pitchFamily="34" charset="0"/>
                    <a:cs typeface="Times New Roman" panose="02020603050405020304" pitchFamily="18" charset="0"/>
                  </a:rPr>
                  <a:t> es función del ingreso medio de los hogares, de la forma de la distribución del ingreso y de la línea de pobreza.</a:t>
                </a:r>
              </a:p>
              <a:p>
                <a:pPr marL="228600" indent="-228600" algn="just">
                  <a:buAutoNum type="arabicParenBoth"/>
                </a:pPr>
                <a:r>
                  <a:rPr lang="es-AR" sz="1200" i="0" dirty="0">
                    <a:effectLst/>
                    <a:latin typeface="Times New Roman" panose="02020603050405020304" pitchFamily="18" charset="0"/>
                    <a:ea typeface="Tahoma" panose="020B0604030504040204" pitchFamily="34" charset="0"/>
                    <a:cs typeface="Times New Roman" panose="02020603050405020304" pitchFamily="18" charset="0"/>
                  </a:rPr>
                  <a:t>Siendo así, el cambio en este indicador se puede denotar como en la expresión (4.2), que, a su vez, se puede descomponer como en la expresión (4.3), </a:t>
                </a:r>
                <a:r>
                  <a:rPr lang="es-AR" sz="1200" dirty="0">
                    <a:effectLst/>
                    <a:latin typeface="Times New Roman" panose="02020603050405020304" pitchFamily="18" charset="0"/>
                    <a:ea typeface="Calibri" panose="020F0502020204030204" pitchFamily="34" charset="0"/>
                  </a:rPr>
                  <a:t>donde, respectivamente, los términos corresponden al “efecto crecimiento”, al “efecto redistribución” y al “efecto línea”. El primero describe el cambio en la pobreza correspondiente al cambio en el ingreso medio (manteniendo constante el nivel de desigualdad y la línea de pobreza), mientras que el segundo describe el cambio en la pobreza correspondiente al cambio en el nivel de desigualdad (manteniendo constante el ingreso medio y la línea de pobr</a:t>
                </a:r>
                <a:r>
                  <a:rPr lang="es-AR" sz="1200" i="0" dirty="0">
                    <a:effectLst/>
                    <a:latin typeface="Times New Roman" panose="02020603050405020304" pitchFamily="18" charset="0"/>
                    <a:ea typeface="Calibri" panose="020F0502020204030204" pitchFamily="34" charset="0"/>
                  </a:rPr>
                  <a:t>eza). Lo análogo para el efecto línea.</a:t>
                </a:r>
                <a:endParaRPr lang="es-AR" sz="1200" i="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indent="-228600" algn="just">
                  <a:buAutoNum type="arabicParenBoth"/>
                </a:pPr>
                <a:r>
                  <a:rPr lang="es-AR" sz="1200" i="0" dirty="0">
                    <a:effectLst/>
                    <a:latin typeface="Times New Roman" panose="02020603050405020304" pitchFamily="18" charset="0"/>
                    <a:ea typeface="Calibri" panose="020F0502020204030204" pitchFamily="34" charset="0"/>
                    <a:cs typeface="Times New Roman" panose="02020603050405020304" pitchFamily="18" charset="0"/>
                  </a:rPr>
                  <a:t>Esto lo llevamos a cabo mediante la metodología de descomposición de Kolenikov y Shorrocks (2005).</a:t>
                </a:r>
                <a:r>
                  <a:rPr lang="es-AR" sz="1200" b="0" i="0" dirty="0">
                    <a:effectLst/>
                    <a:latin typeface="Times New Roman" panose="02020603050405020304" pitchFamily="18" charset="0"/>
                    <a:ea typeface="Calibri" panose="020F0502020204030204" pitchFamily="34" charset="0"/>
                    <a:cs typeface="Times New Roman" panose="02020603050405020304" pitchFamily="18" charset="0"/>
                  </a:rPr>
                  <a:t> De ahora en adelante, descomposición KS.</a:t>
                </a:r>
                <a:endParaRPr lang="es-AR" sz="1200" b="0" i="0" dirty="0">
                  <a:effectLst/>
                  <a:latin typeface="Times New Roman" panose="02020603050405020304" pitchFamily="18" charset="0"/>
                  <a:ea typeface="Calibri" panose="020F0502020204030204" pitchFamily="34" charset="0"/>
                </a:endParaRPr>
              </a:p>
            </p:txBody>
          </p:sp>
        </mc:Choice>
        <mc:Fallback xmlns="">
          <p:sp>
            <p:nvSpPr>
              <p:cNvPr id="3" name="Marcador de notas 2"/>
              <p:cNvSpPr>
                <a:spLocks noGrp="1"/>
              </p:cNvSpPr>
              <p:nvPr>
                <p:ph type="body" idx="1"/>
              </p:nvPr>
            </p:nvSpPr>
            <p:spPr/>
            <p:txBody>
              <a:bodyPr/>
              <a:lstStyle/>
              <a:p>
                <a:pPr marL="228600" indent="-228600" algn="just">
                  <a:buAutoNum type="arabicParenBoth"/>
                </a:pPr>
                <a:r>
                  <a:rPr lang="es-AR" sz="1200" dirty="0">
                    <a:latin typeface="Times New Roman" panose="02020603050405020304" pitchFamily="18" charset="0"/>
                    <a:ea typeface="Tahoma" panose="020B0604030504040204" pitchFamily="34" charset="0"/>
                    <a:cs typeface="Times New Roman" panose="02020603050405020304" pitchFamily="18" charset="0"/>
                  </a:rPr>
                  <a:t>Los cambios en la pobreza monetaria es posible descomponerlos en factores asociados a los cambios de los ingresos, a los cambios distributivos y a los cambios de la línea de pobreza.</a:t>
                </a:r>
              </a:p>
              <a:p>
                <a:pPr marL="228600" indent="-228600" algn="just">
                  <a:buAutoNum type="arabicParenBoth"/>
                </a:pPr>
                <a:r>
                  <a:rPr lang="es-AR" sz="1200" dirty="0">
                    <a:effectLst/>
                    <a:latin typeface="Times New Roman" panose="02020603050405020304" pitchFamily="18" charset="0"/>
                    <a:ea typeface="Tahoma" panose="020B0604030504040204" pitchFamily="34" charset="0"/>
                    <a:cs typeface="Times New Roman" panose="02020603050405020304" pitchFamily="18" charset="0"/>
                  </a:rPr>
                  <a:t>En particular, el indicador de pobreza </a:t>
                </a:r>
                <a:r>
                  <a:rPr lang="es-AR" sz="1200" i="0">
                    <a:effectLst/>
                    <a:latin typeface="Cambria Math" panose="02040503050406030204" pitchFamily="18" charset="0"/>
                    <a:ea typeface="Calibri" panose="020F0502020204030204" pitchFamily="34" charset="0"/>
                    <a:cs typeface="Times New Roman" panose="02020603050405020304" pitchFamily="18" charset="0"/>
                  </a:rPr>
                  <a:t>𝑃</a:t>
                </a:r>
                <a:r>
                  <a:rPr lang="es-AR" sz="1200" dirty="0">
                    <a:effectLst/>
                    <a:latin typeface="Times New Roman" panose="02020603050405020304" pitchFamily="18" charset="0"/>
                    <a:ea typeface="Tahoma" panose="020B0604030504040204" pitchFamily="34" charset="0"/>
                    <a:cs typeface="Times New Roman" panose="02020603050405020304" pitchFamily="18" charset="0"/>
                  </a:rPr>
                  <a:t> en un período </a:t>
                </a:r>
                <a:r>
                  <a:rPr lang="es-AR" sz="1200" i="0">
                    <a:effectLst/>
                    <a:latin typeface="Cambria Math" panose="02040503050406030204" pitchFamily="18" charset="0"/>
                    <a:ea typeface="Calibri" panose="020F0502020204030204" pitchFamily="34" charset="0"/>
                    <a:cs typeface="Times New Roman" panose="02020603050405020304" pitchFamily="18" charset="0"/>
                  </a:rPr>
                  <a:t>𝑡</a:t>
                </a:r>
                <a:r>
                  <a:rPr lang="es-AR" sz="1200" i="0" dirty="0">
                    <a:effectLst/>
                    <a:latin typeface="Times New Roman" panose="02020603050405020304" pitchFamily="18" charset="0"/>
                    <a:ea typeface="Tahoma" panose="020B0604030504040204" pitchFamily="34" charset="0"/>
                    <a:cs typeface="Times New Roman" panose="02020603050405020304" pitchFamily="18" charset="0"/>
                  </a:rPr>
                  <a:t> es función del ingreso medio de los hogares, de la forma de la distribución del ingreso y de la línea de pobreza.</a:t>
                </a:r>
              </a:p>
              <a:p>
                <a:pPr marL="228600" indent="-228600" algn="just">
                  <a:buAutoNum type="arabicParenBoth"/>
                </a:pPr>
                <a:r>
                  <a:rPr lang="es-AR" sz="1200" i="0" dirty="0">
                    <a:effectLst/>
                    <a:latin typeface="Times New Roman" panose="02020603050405020304" pitchFamily="18" charset="0"/>
                    <a:ea typeface="Tahoma" panose="020B0604030504040204" pitchFamily="34" charset="0"/>
                    <a:cs typeface="Times New Roman" panose="02020603050405020304" pitchFamily="18" charset="0"/>
                  </a:rPr>
                  <a:t>Siendo así, el cambio en este indicador se puede denotar como en (4.2), que, a su vez, se puede descomponer como en (4.3), </a:t>
                </a:r>
                <a:r>
                  <a:rPr lang="es-AR" sz="1200" dirty="0">
                    <a:effectLst/>
                    <a:latin typeface="Times New Roman" panose="02020603050405020304" pitchFamily="18" charset="0"/>
                    <a:ea typeface="Calibri" panose="020F0502020204030204" pitchFamily="34" charset="0"/>
                  </a:rPr>
                  <a:t>donde, respectivamente, los términos corresponden al “efecto crecimiento”, al “efecto redistribución” y al “efecto línea”.</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rPr>
                  <a:t>El primero describe el cambio en la pobreza correspondiente al cambio en el ingreso medio (manteniendo constante el nivel de desigualdad y la línea de pobreza), en tanto que el segundo describe el cambio en la pobreza correspondiente al cambio en el nivel de desigualdad (manteniendo constante el ingreso medio y la línea de pobr</a:t>
                </a:r>
                <a:r>
                  <a:rPr lang="es-AR" sz="1200" i="0" dirty="0">
                    <a:effectLst/>
                    <a:latin typeface="Times New Roman" panose="02020603050405020304" pitchFamily="18" charset="0"/>
                    <a:ea typeface="Calibri" panose="020F0502020204030204" pitchFamily="34" charset="0"/>
                  </a:rPr>
                  <a:t>eza). Lo análogo para el efecto línea.</a:t>
                </a:r>
                <a:endParaRPr lang="es-AR" sz="1200" i="0"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indent="-228600" algn="just">
                  <a:buAutoNum type="arabicParenBoth"/>
                </a:pPr>
                <a:r>
                  <a:rPr lang="es-AR" sz="1200" i="0" dirty="0">
                    <a:effectLst/>
                    <a:latin typeface="Times New Roman" panose="02020603050405020304" pitchFamily="18" charset="0"/>
                    <a:ea typeface="Calibri" panose="020F0502020204030204" pitchFamily="34" charset="0"/>
                    <a:cs typeface="Times New Roman" panose="02020603050405020304" pitchFamily="18" charset="0"/>
                  </a:rPr>
                  <a:t>Esto se llevará a cabo mediante la metodología de descomposición de Kolenikov y Shorrocks (2005).</a:t>
                </a:r>
                <a:endParaRPr lang="es-AR" sz="1200" i="0" dirty="0">
                  <a:effectLst/>
                  <a:latin typeface="Times New Roman" panose="02020603050405020304" pitchFamily="18" charset="0"/>
                  <a:ea typeface="Calibri" panose="020F0502020204030204" pitchFamily="34" charset="0"/>
                </a:endParaRPr>
              </a:p>
            </p:txBody>
          </p:sp>
        </mc:Fallback>
      </mc:AlternateContent>
      <p:sp>
        <p:nvSpPr>
          <p:cNvPr id="4" name="Marcador de número de diapositiva 3"/>
          <p:cNvSpPr>
            <a:spLocks noGrp="1"/>
          </p:cNvSpPr>
          <p:nvPr>
            <p:ph type="sldNum" sz="quarter" idx="5"/>
          </p:nvPr>
        </p:nvSpPr>
        <p:spPr/>
        <p:txBody>
          <a:bodyPr/>
          <a:lstStyle/>
          <a:p>
            <a:fld id="{F479C52E-53D7-4F7D-87B2-09C1F709BFF4}" type="slidenum">
              <a:rPr lang="es-AR" smtClean="0"/>
              <a:t>11</a:t>
            </a:fld>
            <a:endParaRPr lang="es-AR" dirty="0"/>
          </a:p>
        </p:txBody>
      </p:sp>
    </p:spTree>
    <p:extLst>
      <p:ext uri="{BB962C8B-B14F-4D97-AF65-F5344CB8AC3E}">
        <p14:creationId xmlns:p14="http://schemas.microsoft.com/office/powerpoint/2010/main" val="210362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Por otro lado, para profundizar sobre el papel de los determinantes sociodemográficos, se estudia el cambio en la pobreza monetaria a partir de la combinación de la metodología anterior con la estrategia de reponderación planteada en DiNardo y otros (1996). Esta combinación metodológica permitiría descomponer los efectos crecimiento, redistribución y línea en “efecto composición” y “efecto estructura”.</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Para empezar, podemos plantear la función </a:t>
                </a:r>
                <a14:m>
                  <m:oMath xmlns:m="http://schemas.openxmlformats.org/officeDocument/2006/math">
                    <m:r>
                      <a:rPr lang="es-AR" sz="1200" b="0" i="1" smtClean="0">
                        <a:effectLst/>
                        <a:latin typeface="Cambria Math" panose="02040503050406030204" pitchFamily="18" charset="0"/>
                        <a:ea typeface="Calibri" panose="020F0502020204030204" pitchFamily="34" charset="0"/>
                        <a:cs typeface="Times New Roman" panose="02020603050405020304" pitchFamily="18" charset="0"/>
                      </a:rPr>
                      <m:t>𝐹</m:t>
                    </m:r>
                  </m:oMath>
                </a14:m>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como la función de distribución que describe</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 la relación entre el ingreso per cápita de la unidad de gasto y un vector de características económicas y sociodemográficas del hogar. A su vez, la variable binaria </a:t>
                </a:r>
                <a14:m>
                  <m:oMath xmlns:m="http://schemas.openxmlformats.org/officeDocument/2006/math">
                    <m:r>
                      <a:rPr lang="es-AR" sz="1200" b="0" i="1" baseline="0" smtClean="0">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es </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indicativa del período.</a:t>
                </a:r>
              </a:p>
              <a:p>
                <a:pPr marL="228600" indent="-228600" algn="just">
                  <a:buAutoNum type="arabicParenBoth"/>
                </a:pP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Siendo así, el cambio en el indicador de pobreza se puede estimar como en la expresión (4.8).</a:t>
                </a:r>
              </a:p>
              <a:p>
                <a:pPr marL="228600" indent="-228600" algn="just">
                  <a:buAutoNum type="arabicParenBoth"/>
                </a:pP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Este cambio, a su vez, puede surgir debido a diferencias en la distribución de las características observadas de los hogares de uno a otro período (es decir, el efecto composición) o a diferencias en la relación entre </a:t>
                </a:r>
                <a14:m>
                  <m:oMath xmlns:m="http://schemas.openxmlformats.org/officeDocument/2006/math">
                    <m:r>
                      <a:rPr lang="es-AR" sz="1200" i="1" smtClean="0">
                        <a:effectLst/>
                        <a:latin typeface="Cambria Math" panose="02040503050406030204" pitchFamily="18" charset="0"/>
                        <a:ea typeface="Times New Roman" panose="02020603050405020304" pitchFamily="18" charset="0"/>
                        <a:cs typeface="Times New Roman" panose="02020603050405020304" pitchFamily="18" charset="0"/>
                      </a:rPr>
                      <m:t>𝑌</m:t>
                    </m:r>
                  </m:oMath>
                </a14:m>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y </a:t>
                </a:r>
                <a14:m>
                  <m:oMath xmlns:m="http://schemas.openxmlformats.org/officeDocument/2006/math">
                    <m:r>
                      <a:rPr lang="es-AR" sz="1200" b="0" i="1" smtClean="0">
                        <a:effectLst/>
                        <a:latin typeface="Cambria Math" panose="02040503050406030204" pitchFamily="18" charset="0"/>
                        <a:ea typeface="Calibri" panose="020F0502020204030204" pitchFamily="34" charset="0"/>
                        <a:cs typeface="Times New Roman" panose="02020603050405020304" pitchFamily="18" charset="0"/>
                      </a:rPr>
                      <m:t>𝑋</m:t>
                    </m:r>
                  </m:oMath>
                </a14:m>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(es decir, el efecto estructura). Esto se puede ver en la expresión (4.10), en donde, luego de estimar el escenario</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 contrafactual,</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el primer término</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 representa el efecto estructura y el segundo término el efecto composición.</a:t>
                </a:r>
                <a:endParaRPr lang="es-A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rPr>
                  <a:t>Por otro lado, para profundizar sobre el papel de los determinantes sociodemográficos, se estudia el cambio en la pobreza monetaria a partir de la combinación de la metodología anterior con la estrategia de reponderación planteada en DiNardo </a:t>
                </a:r>
                <a:r>
                  <a:rPr lang="es-AR" sz="1200" i="1" dirty="0">
                    <a:effectLst/>
                    <a:latin typeface="Times New Roman" panose="02020603050405020304" pitchFamily="18" charset="0"/>
                    <a:ea typeface="Calibri" panose="020F0502020204030204" pitchFamily="34" charset="0"/>
                  </a:rPr>
                  <a:t>et al</a:t>
                </a:r>
                <a:r>
                  <a:rPr lang="es-AR" sz="1200" dirty="0">
                    <a:effectLst/>
                    <a:latin typeface="Times New Roman" panose="02020603050405020304" pitchFamily="18" charset="0"/>
                    <a:ea typeface="Calibri" panose="020F0502020204030204" pitchFamily="34" charset="0"/>
                  </a:rPr>
                  <a:t>. (1996). Esta combinación metodológica permitiría descomponer los efectos crecimiento, redistribución y línea en “efecto composición” y “efecto estructura”.</a:t>
                </a:r>
              </a:p>
              <a:p>
                <a:pPr marL="228600" indent="-228600" algn="just">
                  <a:buAutoNum type="arabicParenBoth"/>
                </a:pPr>
                <a:r>
                  <a:rPr lang="es-AR" sz="1200" dirty="0">
                    <a:effectLst/>
                    <a:latin typeface="Calibri" panose="020F0502020204030204" pitchFamily="34" charset="0"/>
                    <a:ea typeface="Calibri" panose="020F0502020204030204" pitchFamily="34" charset="0"/>
                    <a:cs typeface="Times New Roman" panose="02020603050405020304" pitchFamily="18" charset="0"/>
                  </a:rPr>
                  <a:t>Para empezar, podemos plantear la función </a:t>
                </a:r>
                <a:r>
                  <a:rPr lang="es-AR" sz="1200" b="0" i="0">
                    <a:effectLst/>
                    <a:latin typeface="Cambria Math" panose="02040503050406030204" pitchFamily="18" charset="0"/>
                    <a:ea typeface="Calibri" panose="020F0502020204030204" pitchFamily="34" charset="0"/>
                    <a:cs typeface="Times New Roman" panose="02020603050405020304" pitchFamily="18" charset="0"/>
                  </a:rPr>
                  <a:t>𝐹</a:t>
                </a:r>
                <a:r>
                  <a:rPr lang="es-AR" sz="1200" dirty="0">
                    <a:effectLst/>
                    <a:latin typeface="Calibri" panose="020F0502020204030204" pitchFamily="34" charset="0"/>
                    <a:ea typeface="Calibri" panose="020F0502020204030204" pitchFamily="34" charset="0"/>
                    <a:cs typeface="Times New Roman" panose="02020603050405020304" pitchFamily="18" charset="0"/>
                  </a:rPr>
                  <a:t> como la función de distribución que describe</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la relación entre el ingreso per cápita de la unidad de gasto y un vector de características económicas y sociodemográficas del hogar. A su vez, la variable binaria </a:t>
                </a:r>
                <a:r>
                  <a:rPr lang="es-AR" sz="1200" b="0" i="0" baseline="0">
                    <a:effectLst/>
                    <a:latin typeface="Cambria Math" panose="02040503050406030204" pitchFamily="18" charset="0"/>
                    <a:ea typeface="Calibri" panose="020F0502020204030204" pitchFamily="34" charset="0"/>
                    <a:cs typeface="Times New Roman" panose="02020603050405020304" pitchFamily="18" charset="0"/>
                  </a:rPr>
                  <a:t>𝑡</a:t>
                </a:r>
                <a:r>
                  <a:rPr lang="es-AR" sz="1200" dirty="0">
                    <a:effectLst/>
                    <a:latin typeface="Calibri" panose="020F0502020204030204" pitchFamily="34" charset="0"/>
                    <a:ea typeface="Calibri" panose="020F0502020204030204" pitchFamily="34" charset="0"/>
                    <a:cs typeface="Times New Roman" panose="02020603050405020304" pitchFamily="18" charset="0"/>
                  </a:rPr>
                  <a:t> es una</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variable binaria indicativa del período.</a:t>
                </a:r>
              </a:p>
              <a:p>
                <a:pPr marL="228600" indent="-228600" algn="just">
                  <a:buAutoNum type="arabicParenBoth"/>
                </a:pP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Siendo así, el cambio en el indicador de pobreza se puede estimar como en la expresión (4.8).</a:t>
                </a:r>
              </a:p>
              <a:p>
                <a:pPr marL="228600" indent="-228600" algn="just">
                  <a:buAutoNum type="arabicParenBoth"/>
                </a:pP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Este cambio, a su vez, puede surgir debido a diferencias en la distribución de las características observadas de los hogares de uno a otro período (es decir, el efecto composición) o a diferencias en la relación entre </a:t>
                </a:r>
                <a:r>
                  <a:rPr lang="es-AR" sz="1200" i="0">
                    <a:effectLst/>
                    <a:latin typeface="Cambria Math" panose="02040503050406030204" pitchFamily="18" charset="0"/>
                    <a:ea typeface="Times New Roman" panose="02020603050405020304" pitchFamily="18" charset="0"/>
                    <a:cs typeface="Times New Roman" panose="02020603050405020304" pitchFamily="18" charset="0"/>
                  </a:rPr>
                  <a:t>𝑌</a:t>
                </a:r>
                <a:r>
                  <a:rPr lang="es-AR" sz="1200" dirty="0">
                    <a:effectLst/>
                    <a:latin typeface="Calibri" panose="020F0502020204030204" pitchFamily="34" charset="0"/>
                    <a:ea typeface="Calibri" panose="020F0502020204030204" pitchFamily="34" charset="0"/>
                    <a:cs typeface="Times New Roman" panose="02020603050405020304" pitchFamily="18" charset="0"/>
                  </a:rPr>
                  <a:t> y </a:t>
                </a:r>
                <a:r>
                  <a:rPr lang="es-AR" sz="1200" b="0" i="0">
                    <a:effectLst/>
                    <a:latin typeface="Cambria Math" panose="02040503050406030204" pitchFamily="18" charset="0"/>
                    <a:ea typeface="Calibri" panose="020F0502020204030204" pitchFamily="34" charset="0"/>
                    <a:cs typeface="Times New Roman" panose="02020603050405020304" pitchFamily="18" charset="0"/>
                  </a:rPr>
                  <a:t>𝑋</a:t>
                </a:r>
                <a:r>
                  <a:rPr lang="es-AR" sz="1200" dirty="0">
                    <a:effectLst/>
                    <a:latin typeface="Calibri" panose="020F0502020204030204" pitchFamily="34" charset="0"/>
                    <a:ea typeface="Calibri" panose="020F0502020204030204" pitchFamily="34" charset="0"/>
                    <a:cs typeface="Times New Roman" panose="02020603050405020304" pitchFamily="18" charset="0"/>
                  </a:rPr>
                  <a:t> (es decir, el efecto estructura). Esto se puede ver en la expresión (4.10), en donde, luego de estimar el escenario</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contrafactual,</a:t>
                </a:r>
                <a:r>
                  <a:rPr lang="es-AR" sz="1200" dirty="0">
                    <a:effectLst/>
                    <a:latin typeface="Calibri" panose="020F0502020204030204" pitchFamily="34" charset="0"/>
                    <a:ea typeface="Calibri" panose="020F0502020204030204" pitchFamily="34" charset="0"/>
                    <a:cs typeface="Times New Roman" panose="02020603050405020304" pitchFamily="18" charset="0"/>
                  </a:rPr>
                  <a:t> el primer término</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representa el efecto estructura y el segundo el efecto composición.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mc:Fallback>
      </mc:AlternateContent>
      <p:sp>
        <p:nvSpPr>
          <p:cNvPr id="4" name="Marcador de número de diapositiva 3"/>
          <p:cNvSpPr>
            <a:spLocks noGrp="1"/>
          </p:cNvSpPr>
          <p:nvPr>
            <p:ph type="sldNum" sz="quarter" idx="5"/>
          </p:nvPr>
        </p:nvSpPr>
        <p:spPr/>
        <p:txBody>
          <a:bodyPr/>
          <a:lstStyle/>
          <a:p>
            <a:fld id="{F479C52E-53D7-4F7D-87B2-09C1F709BFF4}" type="slidenum">
              <a:rPr lang="es-AR" smtClean="0"/>
              <a:t>12</a:t>
            </a:fld>
            <a:endParaRPr lang="es-AR" dirty="0"/>
          </a:p>
        </p:txBody>
      </p:sp>
    </p:spTree>
    <p:extLst>
      <p:ext uri="{BB962C8B-B14F-4D97-AF65-F5344CB8AC3E}">
        <p14:creationId xmlns:p14="http://schemas.microsoft.com/office/powerpoint/2010/main" val="458711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Para calcular el nivel de pobreza en el escenario contrafactual, </a:t>
                </a:r>
                <a:r>
                  <a:rPr lang="es-AR" sz="1200" b="0" dirty="0">
                    <a:effectLst/>
                    <a:latin typeface="Times New Roman" panose="02020603050405020304" pitchFamily="18" charset="0"/>
                    <a:ea typeface="Calibri" panose="020F0502020204030204" pitchFamily="34" charset="0"/>
                    <a:cs typeface="Times New Roman" panose="02020603050405020304" pitchFamily="18" charset="0"/>
                  </a:rPr>
                  <a:t>estimamos l</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a distribución contrafactual a través de una estimación de reponderación semiparamétrica, siguiendo a Fortin y otros (2011).</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El proceso, básicamente, consiste en obtener una distribución de características igual a la del período 2, con los parámetros de la distribución del período 1. Para esto, se utiliza el factor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phi</a:t>
                </a:r>
                <a:r>
                  <a:rPr lang="es-AR" sz="1200" i="0" dirty="0">
                    <a:effectLst/>
                    <a:latin typeface="Times New Roman" panose="02020603050405020304" pitchFamily="18" charset="0"/>
                    <a:ea typeface="Calibri" panose="020F0502020204030204" pitchFamily="34" charset="0"/>
                    <a:cs typeface="Times New Roman" panose="02020603050405020304" pitchFamily="18" charset="0"/>
                  </a:rPr>
                  <a:t>, que considera la proporción de individuos del período 2 y la probabilidad condicional de pertenecer al período 2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dadas</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 las características observables. En este trabajo, esta probabilidad se calculó a partir de un modelo </a:t>
                </a:r>
                <a:r>
                  <a:rPr lang="es-AR" sz="1200" i="1" baseline="0" dirty="0">
                    <a:effectLst/>
                    <a:latin typeface="Times New Roman" panose="02020603050405020304" pitchFamily="18" charset="0"/>
                    <a:ea typeface="Calibri" panose="020F0502020204030204" pitchFamily="34" charset="0"/>
                    <a:cs typeface="Times New Roman" panose="02020603050405020304" pitchFamily="18" charset="0"/>
                  </a:rPr>
                  <a:t>logit</a:t>
                </a:r>
                <a:r>
                  <a:rPr lang="es-AR" sz="1200" baseline="0" dirty="0">
                    <a:effectLst/>
                    <a:latin typeface="Times New Roman" panose="02020603050405020304" pitchFamily="18" charset="0"/>
                    <a:ea typeface="Calibri" panose="020F0502020204030204" pitchFamily="34" charset="0"/>
                    <a:cs typeface="Times New Roman" panose="02020603050405020304" pitchFamily="18" charset="0"/>
                  </a:rPr>
                  <a:t>.</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A su vez, las variables explicativas utilizadas en este modelo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logit</a:t>
                </a:r>
                <a:r>
                  <a:rPr lang="es-AR" sz="1200" i="0" dirty="0">
                    <a:effectLst/>
                    <a:latin typeface="Times New Roman" panose="02020603050405020304" pitchFamily="18" charset="0"/>
                    <a:ea typeface="Calibri" panose="020F0502020204030204" pitchFamily="34" charset="0"/>
                    <a:cs typeface="Times New Roman" panose="02020603050405020304" pitchFamily="18" charset="0"/>
                  </a:rPr>
                  <a:t> fueron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el número de miembros en el hogar, el porcentaje de mujeres en el hogar, una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dummy</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que indica si el hogar tiene algún niño menor a 12 años de edad, los años de educación promedio en el hogar,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dummies</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identificadoras de los hogares con jefes mujeres, jefes con 30 años de edad o menos y jefes cuentapropistas. Además, también se incluyeron las tasas de participación laboral femenina y de desempleo en el hogar, los ingresos no laborales en el hogar y, finalmente, una variable binaria para identificar los hogares que reciben ayudas monetarias.</a:t>
                </a:r>
              </a:p>
            </p:txBody>
          </p:sp>
        </mc:Choice>
        <mc:Fallback xmlns="">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Calibri" panose="020F0502020204030204" pitchFamily="34" charset="0"/>
                    <a:ea typeface="Calibri" panose="020F0502020204030204" pitchFamily="34" charset="0"/>
                    <a:cs typeface="Times New Roman" panose="02020603050405020304" pitchFamily="18" charset="0"/>
                  </a:rPr>
                  <a:t>Para calcular el nivel de pobreza en el escenario contrafactual, se estima la distribución contrafactual a través de una estimación de reponderación semiparamétrica, siguiendo a Fortin y otros (2011).</a:t>
                </a:r>
              </a:p>
              <a:p>
                <a:pPr marL="228600" indent="-228600" algn="just">
                  <a:buAutoNum type="arabicParenBoth"/>
                </a:pPr>
                <a:r>
                  <a:rPr lang="es-AR" sz="1200" dirty="0">
                    <a:effectLst/>
                    <a:latin typeface="Calibri" panose="020F0502020204030204" pitchFamily="34" charset="0"/>
                    <a:ea typeface="Calibri" panose="020F0502020204030204" pitchFamily="34" charset="0"/>
                    <a:cs typeface="Times New Roman" panose="02020603050405020304" pitchFamily="18" charset="0"/>
                  </a:rPr>
                  <a:t>El proceso, básicamente, consiste en obtener una distribución de características igual a la del período 2, con los parámetros de la distribución del período 1. Para esto, se utiliza el factor </a:t>
                </a:r>
                <a:r>
                  <a:rPr lang="es-AR" sz="1200" i="1" dirty="0">
                    <a:effectLst/>
                    <a:latin typeface="Calibri" panose="020F0502020204030204" pitchFamily="34" charset="0"/>
                    <a:ea typeface="Calibri" panose="020F0502020204030204" pitchFamily="34" charset="0"/>
                    <a:cs typeface="Times New Roman" panose="02020603050405020304" pitchFamily="18" charset="0"/>
                  </a:rPr>
                  <a:t>phi</a:t>
                </a:r>
                <a:r>
                  <a:rPr lang="es-AR" sz="1200" i="0" dirty="0">
                    <a:effectLst/>
                    <a:latin typeface="Calibri" panose="020F0502020204030204" pitchFamily="34" charset="0"/>
                    <a:ea typeface="Calibri" panose="020F0502020204030204" pitchFamily="34" charset="0"/>
                    <a:cs typeface="Times New Roman" panose="02020603050405020304" pitchFamily="18" charset="0"/>
                  </a:rPr>
                  <a:t>, que considera la proporción de individuos del período 2 y la probabilidad condicional de pertenecer a </a:t>
                </a:r>
                <a:r>
                  <a:rPr lang="es-AR" sz="1200" i="0">
                    <a:effectLst/>
                    <a:latin typeface="Cambria Math" panose="02040503050406030204" pitchFamily="18" charset="0"/>
                    <a:ea typeface="Times New Roman" panose="02020603050405020304" pitchFamily="18" charset="0"/>
                    <a:cs typeface="Times New Roman" panose="02020603050405020304" pitchFamily="18" charset="0"/>
                  </a:rPr>
                  <a:t>𝑡=2</a:t>
                </a:r>
                <a:r>
                  <a:rPr lang="es-AR" sz="1200" dirty="0">
                    <a:effectLst/>
                    <a:latin typeface="Calibri" panose="020F0502020204030204" pitchFamily="34" charset="0"/>
                    <a:ea typeface="Calibri" panose="020F0502020204030204" pitchFamily="34" charset="0"/>
                    <a:cs typeface="Times New Roman" panose="02020603050405020304" pitchFamily="18" charset="0"/>
                  </a:rPr>
                  <a:t> dadas</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las características </a:t>
                </a:r>
                <a:r>
                  <a:rPr lang="es-AR" sz="1200" i="0">
                    <a:effectLst/>
                    <a:latin typeface="Cambria Math" panose="02040503050406030204" pitchFamily="18" charset="0"/>
                    <a:ea typeface="Times New Roman" panose="02020603050405020304" pitchFamily="18" charset="0"/>
                    <a:cs typeface="Times New Roman" panose="02020603050405020304" pitchFamily="18" charset="0"/>
                  </a:rPr>
                  <a:t>𝑋</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 En este trabajo, esta probabilidad se calcula a partir de un modelo </a:t>
                </a:r>
                <a:r>
                  <a:rPr lang="es-AR" sz="1200" i="1" baseline="0" dirty="0">
                    <a:effectLst/>
                    <a:latin typeface="Calibri" panose="020F0502020204030204" pitchFamily="34" charset="0"/>
                    <a:ea typeface="Calibri" panose="020F0502020204030204" pitchFamily="34" charset="0"/>
                    <a:cs typeface="Times New Roman" panose="02020603050405020304" pitchFamily="18" charset="0"/>
                  </a:rPr>
                  <a:t>logit</a:t>
                </a:r>
                <a:r>
                  <a:rPr lang="es-AR" sz="1200" baseline="0" dirty="0">
                    <a:effectLst/>
                    <a:latin typeface="Calibri" panose="020F0502020204030204" pitchFamily="34" charset="0"/>
                    <a:ea typeface="Calibri" panose="020F0502020204030204" pitchFamily="34" charset="0"/>
                    <a:cs typeface="Times New Roman" panose="02020603050405020304" pitchFamily="18" charset="0"/>
                  </a:rPr>
                  <a:t>.</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p:txBody>
          </p:sp>
        </mc:Fallback>
      </mc:AlternateContent>
      <p:sp>
        <p:nvSpPr>
          <p:cNvPr id="4" name="Marcador de número de diapositiva 3"/>
          <p:cNvSpPr>
            <a:spLocks noGrp="1"/>
          </p:cNvSpPr>
          <p:nvPr>
            <p:ph type="sldNum" sz="quarter" idx="5"/>
          </p:nvPr>
        </p:nvSpPr>
        <p:spPr/>
        <p:txBody>
          <a:bodyPr/>
          <a:lstStyle/>
          <a:p>
            <a:fld id="{F479C52E-53D7-4F7D-87B2-09C1F709BFF4}" type="slidenum">
              <a:rPr lang="es-AR" smtClean="0"/>
              <a:t>13</a:t>
            </a:fld>
            <a:endParaRPr lang="es-AR" dirty="0"/>
          </a:p>
        </p:txBody>
      </p:sp>
    </p:spTree>
    <p:extLst>
      <p:ext uri="{BB962C8B-B14F-4D97-AF65-F5344CB8AC3E}">
        <p14:creationId xmlns:p14="http://schemas.microsoft.com/office/powerpoint/2010/main" val="3337885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Una vez que se calcula el factor </a:t>
            </a:r>
            <a:r>
              <a:rPr lang="es-AR" sz="1200" i="1" dirty="0">
                <a:effectLst/>
                <a:latin typeface="Times New Roman" panose="02020603050405020304" pitchFamily="18" charset="0"/>
                <a:ea typeface="Calibri" panose="020F0502020204030204" pitchFamily="34" charset="0"/>
                <a:cs typeface="Times New Roman" panose="02020603050405020304" pitchFamily="18" charset="0"/>
              </a:rPr>
              <a:t>phi</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lo utilizamos en la descomposición KS.</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Esto da como resultado que el cambio en la pobreza, ahora, se puede descomponer como en la expresión (4.12), donde se puede ver que los componentes crecimiento, redistribución y línea se desagregan en efecto composición y efecto estructura.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14</a:t>
            </a:fld>
            <a:endParaRPr lang="es-AR" dirty="0"/>
          </a:p>
        </p:txBody>
      </p:sp>
    </p:spTree>
    <p:extLst>
      <p:ext uri="{BB962C8B-B14F-4D97-AF65-F5344CB8AC3E}">
        <p14:creationId xmlns:p14="http://schemas.microsoft.com/office/powerpoint/2010/main" val="167465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La Figura 5 del trabajo resume los resultados correspondientes a la descomposición KS, para la incidencia de la pobreza y la incidencia de la pobreza extrema.</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el trabajo, también, se considera el período 2005-2015 para tener en cuenta los potenciales efectos del éxodo migratorio de venezolanos hacia Colombia a partir del segundo semestre de 2016 en los resultados de la descomposición.</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Sin embargo, en ambos períodos, se observa algo semejante, y es que la reducción de la pobreza monetaria en Colombia ha estado emparentada, principalmente, con el crecimiento de los ingresos y no tanto con la mejora en su redistribución, con un efecto línea que contrarresta esta caída de la pobreza. </a:t>
            </a: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Por ejemplo, en el caso de la incidencia de la pobreza para el agregado nacional en el período 2002-2018, el efecto crecimiento es alrededor de 9 veces mayor que el efecto redistribución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lo cual es más claro al ver que el ingreso per cápita de la unidad de gasto promedio real aumentó 43 por ciento en este período, mientras que el Gini sólo se redujo alrededor de 10 por ciento.</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Una pequeña comparación entre las áreas geográficas, nos muestra cómo, </a:t>
            </a: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en el caso de la pobreza extrema, tanto el efecto crecimiento como el efecto redistribución son mayores en el área rural</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indicando cómo el crecimiento de los ingresos y la mejora en su redistribución contribuyeron a reducir la pobreza extrema en el área más vulnerable de Colombia en términos de subsistencia mínima.</a:t>
            </a:r>
          </a:p>
          <a:p>
            <a:pPr marL="228600" marR="0" lvl="0" indent="-228600" algn="just" defTabSz="914400" rtl="0" eaLnBrk="1" fontAlgn="auto" latinLnBrk="0" hangingPunct="1">
              <a:lnSpc>
                <a:spcPct val="100000"/>
              </a:lnSpc>
              <a:spcBef>
                <a:spcPts val="0"/>
              </a:spcBef>
              <a:spcAft>
                <a:spcPts val="0"/>
              </a:spcAft>
              <a:buClrTx/>
              <a:buSzTx/>
              <a:buFontTx/>
              <a:buAutoNum type="arabicParenBoth"/>
              <a:tabLst/>
              <a:defRPr/>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Las conclusiones son semejantes al mirar la brecha y la severidad de la pobreza y de la pobreza extrema.</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15</a:t>
            </a:fld>
            <a:endParaRPr lang="es-AR" dirty="0"/>
          </a:p>
        </p:txBody>
      </p:sp>
    </p:spTree>
    <p:extLst>
      <p:ext uri="{BB962C8B-B14F-4D97-AF65-F5344CB8AC3E}">
        <p14:creationId xmlns:p14="http://schemas.microsoft.com/office/powerpoint/2010/main" val="4153580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En la Tabla 5, además de los resultados de la descomposición KS, se muestra la desagregación de cada uno de los contrafactuales de esta descomposición en efecto composición y efecto estructura, para la incidencia de la pobreza.</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Al igual que antes, las conclusiones no son diferentes al hacer el análisis en los distintos períodos considerados.</a:t>
            </a:r>
          </a:p>
          <a:p>
            <a:pPr marL="228600" indent="-228600" algn="just">
              <a:buAutoNum type="arabicParenBoth"/>
            </a:pP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Al mirar el agregado nacional, observamos que el efecto crecimiento se explica, principalmente, por los cambios en las características de los hogares (es decir, el efecto composición), seguido de los cambios en los parámetros (es decir, el efecto estructura).</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Esto indica que los cambios conjuntos de las características sociodemográficas observables de los hogares tuvieron un mayor impacto en el efecto crecimiento que los cambios económicos demarcados por la relación entre el ingreso y estas características.</a:t>
            </a:r>
          </a:p>
          <a:p>
            <a:pPr marL="228600" indent="-228600" algn="just">
              <a:buAutoNum type="arabicParenBoth"/>
            </a:pP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En cambio, en el efecto redistribución, composición y estructura se mueven en dirección contraria.</a:t>
            </a:r>
            <a:r>
              <a:rPr lang="es-AR" sz="1200" b="0" dirty="0">
                <a:effectLst/>
                <a:latin typeface="Times New Roman" panose="02020603050405020304" pitchFamily="18" charset="0"/>
                <a:ea typeface="Calibri" panose="020F0502020204030204" pitchFamily="34" charset="0"/>
                <a:cs typeface="Times New Roman" panose="02020603050405020304" pitchFamily="18" charset="0"/>
              </a:rPr>
              <a:t>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Mientras que el efecto estructura aumenta el impacto de la redistribución sobre la reducción de la pobreza, el efecto composición lo disminuye.</a:t>
            </a:r>
          </a:p>
          <a:p>
            <a:pPr marL="228600" indent="-228600" algn="just">
              <a:buAutoNum type="arabicParenBoth"/>
            </a:pP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Además, el efecto línea se explica, principalmente, por el efecto estructura (apenas contrarrestado por el efecto composición)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lo cual resulta esperable dado que la línea de pobreza es más bien un parámetro y no depende de las características de los hogares.</a:t>
            </a:r>
          </a:p>
          <a:p>
            <a:pPr marL="228600" indent="-228600" algn="just">
              <a:buAutoNum type="arabicParenBoth"/>
            </a:pPr>
            <a:r>
              <a:rPr lang="es-AR" sz="1200" b="1" dirty="0">
                <a:effectLst/>
                <a:latin typeface="Times New Roman" panose="02020603050405020304" pitchFamily="18" charset="0"/>
                <a:ea typeface="Calibri" panose="020F0502020204030204" pitchFamily="34" charset="0"/>
                <a:cs typeface="Times New Roman" panose="02020603050405020304" pitchFamily="18" charset="0"/>
              </a:rPr>
              <a:t>Por último, cuando miramos el impacto de las características y de los parámetros en el cambio total en la pobreza, se puede ver que éste se explica, notablemente, por el efecto composición</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siendo, por ejemplo, 15 veces mayor en el caso del agregado nacional para el período 2002-2018.</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16</a:t>
            </a:fld>
            <a:endParaRPr lang="es-AR" dirty="0"/>
          </a:p>
        </p:txBody>
      </p:sp>
    </p:spTree>
    <p:extLst>
      <p:ext uri="{BB962C8B-B14F-4D97-AF65-F5344CB8AC3E}">
        <p14:creationId xmlns:p14="http://schemas.microsoft.com/office/powerpoint/2010/main" val="2345282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También, </a:t>
            </a:r>
            <a:r>
              <a:rPr lang="es-AR" sz="1200" b="0" dirty="0">
                <a:effectLst/>
                <a:latin typeface="Times New Roman" panose="02020603050405020304" pitchFamily="18" charset="0"/>
                <a:ea typeface="Calibri" panose="020F0502020204030204" pitchFamily="34" charset="0"/>
                <a:cs typeface="Times New Roman" panose="02020603050405020304" pitchFamily="18" charset="0"/>
              </a:rPr>
              <a:t>realizamos</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 una descomposición RIF, para poder calcular la contribución de cada covariable al efecto composición y al efecto estructura.</a:t>
            </a:r>
          </a:p>
          <a:p>
            <a:pPr marL="228600" indent="-228600" algn="just">
              <a:buAutoNum type="arabicParenBoth"/>
            </a:pP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Si bien no se muestran los resultados, se puede mencionar que los años de educación promedio en el hogar, la tasa de desempleo en el hogar y el </a:t>
            </a:r>
            <a:r>
              <a:rPr lang="es-MX" sz="1200" dirty="0">
                <a:effectLst/>
                <a:latin typeface="Times New Roman" panose="02020603050405020304" pitchFamily="18" charset="0"/>
                <a:ea typeface="Calibri" panose="020F0502020204030204" pitchFamily="34" charset="0"/>
                <a:cs typeface="Times New Roman" panose="02020603050405020304" pitchFamily="18" charset="0"/>
              </a:rPr>
              <a:t>número de miembros en el hogar </a:t>
            </a:r>
            <a:r>
              <a:rPr lang="es-AR" sz="1200" dirty="0">
                <a:effectLst/>
                <a:latin typeface="Times New Roman" panose="02020603050405020304" pitchFamily="18" charset="0"/>
                <a:ea typeface="Calibri" panose="020F0502020204030204" pitchFamily="34" charset="0"/>
                <a:cs typeface="Times New Roman" panose="02020603050405020304" pitchFamily="18" charset="0"/>
              </a:rPr>
              <a:t>son las variables más relevantes a la hora de explicar el impacto del efecto composición, mientras que, en el caso del efecto estructura, la variable más relevante parece ser la binaria que indica si el hogar tiene algún niño menor a 12 años de edad.</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17</a:t>
            </a:fld>
            <a:endParaRPr lang="es-AR" dirty="0"/>
          </a:p>
        </p:txBody>
      </p:sp>
    </p:spTree>
    <p:extLst>
      <p:ext uri="{BB962C8B-B14F-4D97-AF65-F5344CB8AC3E}">
        <p14:creationId xmlns:p14="http://schemas.microsoft.com/office/powerpoint/2010/main" val="3261181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rPr>
              <a:t>Bueno, por último, algunos cometarios.</a:t>
            </a:r>
          </a:p>
          <a:p>
            <a:pPr marL="228600" indent="-228600" algn="just">
              <a:spcAft>
                <a:spcPts val="400"/>
              </a:spcAft>
              <a:buFont typeface="Wingdings" panose="05000000000000000000" pitchFamily="2" charset="2"/>
              <a:buAutoNum type="arabicParenBoth"/>
            </a:pPr>
            <a:r>
              <a:rPr lang="es-AR" sz="1200" dirty="0">
                <a:effectLst/>
                <a:latin typeface="Times New Roman" panose="02020603050405020304" pitchFamily="18" charset="0"/>
                <a:ea typeface="Calibri" panose="020F0502020204030204" pitchFamily="34" charset="0"/>
              </a:rPr>
              <a:t>Como principales resultados:</a:t>
            </a:r>
          </a:p>
          <a:p>
            <a:pPr marL="628650" lvl="1" indent="-171450" algn="just">
              <a:spcAft>
                <a:spcPts val="400"/>
              </a:spcAft>
              <a:buFontTx/>
              <a:buChar char="-"/>
            </a:pPr>
            <a:r>
              <a:rPr lang="es-AR" sz="1200" dirty="0">
                <a:effectLst/>
                <a:latin typeface="Times New Roman" panose="02020603050405020304" pitchFamily="18" charset="0"/>
                <a:ea typeface="Calibri" panose="020F0502020204030204" pitchFamily="34" charset="0"/>
              </a:rPr>
              <a:t>Por un lado, se encontró que los efectos crecimiento y redistribución tendieron a reducir la pobreza, en tanto que el efecto línea tendió a incrementarla, patrón que se mantuvo a lo largo de las diferentes áreas geográficas; en todos los casos, el efecto crecimiento fue superior al efecto redistribución.</a:t>
            </a:r>
          </a:p>
          <a:p>
            <a:pPr marL="628650" lvl="1" indent="-171450" algn="just">
              <a:spcAft>
                <a:spcPts val="400"/>
              </a:spcAft>
              <a:buFontTx/>
              <a:buChar char="-"/>
            </a:pPr>
            <a:r>
              <a:rPr lang="es-AR" sz="1200" dirty="0">
                <a:effectLst/>
                <a:latin typeface="Times New Roman" panose="02020603050405020304" pitchFamily="18" charset="0"/>
                <a:ea typeface="Calibri" panose="020F0502020204030204" pitchFamily="34" charset="0"/>
              </a:rPr>
              <a:t>Por otro lado, se obtuvo que </a:t>
            </a:r>
            <a:r>
              <a:rPr lang="es-MX" sz="1200" dirty="0">
                <a:effectLst/>
                <a:latin typeface="Times New Roman" panose="02020603050405020304" pitchFamily="18" charset="0"/>
                <a:ea typeface="Calibri" panose="020F0502020204030204" pitchFamily="34" charset="0"/>
              </a:rPr>
              <a:t>el efecto crecimiento se explicó,</a:t>
            </a:r>
            <a:r>
              <a:rPr lang="es-AR" sz="1200" dirty="0">
                <a:effectLst/>
                <a:latin typeface="Times New Roman" panose="02020603050405020304" pitchFamily="18" charset="0"/>
                <a:ea typeface="Calibri" panose="020F0502020204030204" pitchFamily="34" charset="0"/>
              </a:rPr>
              <a:t> principalmente, </a:t>
            </a:r>
            <a:r>
              <a:rPr lang="es-MX" sz="1200" dirty="0">
                <a:effectLst/>
                <a:latin typeface="Times New Roman" panose="02020603050405020304" pitchFamily="18" charset="0"/>
                <a:ea typeface="Calibri" panose="020F0502020204030204" pitchFamily="34" charset="0"/>
              </a:rPr>
              <a:t>por el cambio en las características sociodemográficas de los hogares y el efecto redistribución por el cambio en los parámetros, en tanto que el cambio total en la pobreza se debió, fundamentalmente, al efecto composición.</a:t>
            </a:r>
          </a:p>
          <a:p>
            <a:pPr marL="0" lvl="0" indent="0" algn="just">
              <a:spcAft>
                <a:spcPts val="400"/>
              </a:spcAft>
              <a:buFontTx/>
              <a:buNone/>
            </a:pPr>
            <a:r>
              <a:rPr lang="es-MX" sz="1200" dirty="0">
                <a:effectLst/>
                <a:latin typeface="Times New Roman" panose="02020603050405020304" pitchFamily="18" charset="0"/>
                <a:cs typeface="Times New Roman" panose="02020603050405020304" pitchFamily="18" charset="0"/>
              </a:rPr>
              <a:t>(3)  Por otra parte, </a:t>
            </a:r>
            <a:r>
              <a:rPr lang="es-MX" sz="1200" b="0" dirty="0">
                <a:effectLst/>
                <a:latin typeface="Times New Roman" panose="02020603050405020304" pitchFamily="18" charset="0"/>
                <a:cs typeface="Times New Roman" panose="02020603050405020304" pitchFamily="18" charset="0"/>
              </a:rPr>
              <a:t>consideramos</a:t>
            </a:r>
            <a:r>
              <a:rPr lang="es-MX" sz="1200" dirty="0">
                <a:effectLst/>
                <a:latin typeface="Times New Roman" panose="02020603050405020304" pitchFamily="18" charset="0"/>
                <a:cs typeface="Times New Roman" panose="02020603050405020304" pitchFamily="18" charset="0"/>
              </a:rPr>
              <a:t> algunas posibles líneas de investigación:</a:t>
            </a:r>
          </a:p>
          <a:p>
            <a:pPr marL="628650" lvl="1" indent="-171450" algn="just">
              <a:spcAft>
                <a:spcPts val="400"/>
              </a:spcAft>
              <a:buFontTx/>
              <a:buChar char="-"/>
            </a:pPr>
            <a:r>
              <a:rPr lang="es-AR" sz="1200" dirty="0">
                <a:effectLst/>
                <a:latin typeface="Times New Roman" panose="02020603050405020304" pitchFamily="18" charset="0"/>
                <a:cs typeface="Times New Roman" panose="02020603050405020304" pitchFamily="18" charset="0"/>
              </a:rPr>
              <a:t>Por ejemplo</a:t>
            </a:r>
            <a:r>
              <a:rPr lang="es-AR" sz="1200" dirty="0">
                <a:effectLst/>
                <a:latin typeface="Times New Roman" panose="02020603050405020304" pitchFamily="18" charset="0"/>
                <a:ea typeface="Calibri" panose="020F0502020204030204" pitchFamily="34" charset="0"/>
              </a:rPr>
              <a:t>, sería relevante analizar el impacto sobre la pobreza de la caída en el salario real provocada por el incremento en la oferta laboral venezolana. Para esto, en primer lugar, es necesario contar con alguna variable indicativa de si el individuo es migrante venezolano y, luego, realizar alguna descomposición desagregada (por ejemplo, RIF) en donde se pueda analizar la importancia de este efecto en particular sobre la pobreza monetaria en Colombia.</a:t>
            </a:r>
          </a:p>
          <a:p>
            <a:pPr marL="628650" lvl="1" indent="-171450" algn="just">
              <a:spcAft>
                <a:spcPts val="400"/>
              </a:spcAft>
              <a:buFontTx/>
              <a:buChar char="-"/>
            </a:pPr>
            <a:r>
              <a:rPr lang="es-AR" sz="1200" dirty="0">
                <a:effectLst/>
                <a:latin typeface="Times New Roman" panose="02020603050405020304" pitchFamily="18" charset="0"/>
                <a:cs typeface="Times New Roman" panose="02020603050405020304" pitchFamily="18" charset="0"/>
              </a:rPr>
              <a:t>También, por ejemplo, se podría explorar cómo obtener las RIF correspondientes a cada uno de los contrafactuales propuestos por la descomposición KS, para luego estudiar la contribución, sobre el cambio en la pobreza monetaria, de cada covariable al efecto composición y al efecto estructura.</a:t>
            </a:r>
            <a:endParaRPr lang="es-MX" sz="1200" dirty="0">
              <a:effectLst/>
              <a:latin typeface="Times New Roman" panose="02020603050405020304" pitchFamily="18" charset="0"/>
              <a:cs typeface="Times New Roman" panose="02020603050405020304" pitchFamily="18" charset="0"/>
            </a:endParaRP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18</a:t>
            </a:fld>
            <a:endParaRPr lang="es-AR" dirty="0"/>
          </a:p>
        </p:txBody>
      </p:sp>
    </p:spTree>
    <p:extLst>
      <p:ext uri="{BB962C8B-B14F-4D97-AF65-F5344CB8AC3E}">
        <p14:creationId xmlns:p14="http://schemas.microsoft.com/office/powerpoint/2010/main" val="3239730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AR" dirty="0">
                <a:latin typeface="Times New Roman" panose="02020603050405020304" pitchFamily="18" charset="0"/>
                <a:cs typeface="Times New Roman" panose="02020603050405020304" pitchFamily="18" charset="0"/>
              </a:rPr>
              <a:t>Bueno, esto fue todo. Muchas gracias por la atención. Nos vemos el lunes.</a:t>
            </a:r>
          </a:p>
        </p:txBody>
      </p:sp>
      <p:sp>
        <p:nvSpPr>
          <p:cNvPr id="4" name="Marcador de número de diapositiva 3"/>
          <p:cNvSpPr>
            <a:spLocks noGrp="1"/>
          </p:cNvSpPr>
          <p:nvPr>
            <p:ph type="sldNum" sz="quarter" idx="5"/>
          </p:nvPr>
        </p:nvSpPr>
        <p:spPr/>
        <p:txBody>
          <a:bodyPr/>
          <a:lstStyle/>
          <a:p>
            <a:fld id="{F479C52E-53D7-4F7D-87B2-09C1F709BFF4}" type="slidenum">
              <a:rPr lang="es-AR" smtClean="0"/>
              <a:t>19</a:t>
            </a:fld>
            <a:endParaRPr lang="es-AR" dirty="0"/>
          </a:p>
        </p:txBody>
      </p:sp>
    </p:spTree>
    <p:extLst>
      <p:ext uri="{BB962C8B-B14F-4D97-AF65-F5344CB8AC3E}">
        <p14:creationId xmlns:p14="http://schemas.microsoft.com/office/powerpoint/2010/main" val="405749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6" name="Holder 6"/>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6" name="Holder 6"/>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7" name="Holder 7"/>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5" name="Holder 5"/>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4" name="Holder 4"/>
          <p:cNvSpPr>
            <a:spLocks noGrp="1"/>
          </p:cNvSpPr>
          <p:nvPr>
            <p:ph type="sldNum" sz="quarter" idx="7"/>
          </p:nvPr>
        </p:nvSpPr>
        <p:spPr/>
        <p:txBody>
          <a:bodyPr lIns="0" tIns="0" rIns="0" bIns="0"/>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0505" y="138430"/>
            <a:ext cx="4149090" cy="55372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218018" y="3348940"/>
            <a:ext cx="991235" cy="100329"/>
          </a:xfrm>
          <a:prstGeom prst="rect">
            <a:avLst/>
          </a:prstGeom>
        </p:spPr>
        <p:txBody>
          <a:bodyPr wrap="square" lIns="0" tIns="0" rIns="0" bIns="0">
            <a:spAutoFit/>
          </a:bodyPr>
          <a:lstStyle>
            <a:lvl1pPr>
              <a:defRPr sz="550" b="0" i="0">
                <a:solidFill>
                  <a:schemeClr val="bg1"/>
                </a:solidFill>
                <a:latin typeface="Times New Roman"/>
                <a:cs typeface="Times New Roman"/>
              </a:defRPr>
            </a:lvl1pPr>
          </a:lstStyle>
          <a:p>
            <a:pPr marL="12700">
              <a:lnSpc>
                <a:spcPts val="655"/>
              </a:lnSpc>
            </a:pPr>
            <a:r>
              <a:rPr spc="70" dirty="0"/>
              <a:t>Prof. </a:t>
            </a:r>
            <a:r>
              <a:rPr spc="75" dirty="0"/>
              <a:t>Mariana</a:t>
            </a:r>
            <a:r>
              <a:rPr spc="-60" dirty="0"/>
              <a:t> </a:t>
            </a:r>
            <a:r>
              <a:rPr spc="65" dirty="0"/>
              <a:t>Marchionni</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5/16/2022</a:t>
            </a:fld>
            <a:endParaRPr lang="en-US" dirty="0"/>
          </a:p>
        </p:txBody>
      </p:sp>
      <p:sp>
        <p:nvSpPr>
          <p:cNvPr id="6" name="Holder 6"/>
          <p:cNvSpPr>
            <a:spLocks noGrp="1"/>
          </p:cNvSpPr>
          <p:nvPr>
            <p:ph type="sldNum" sz="quarter" idx="7"/>
          </p:nvPr>
        </p:nvSpPr>
        <p:spPr>
          <a:xfrm>
            <a:off x="4054538" y="3348940"/>
            <a:ext cx="290829" cy="100329"/>
          </a:xfrm>
          <a:prstGeom prst="rect">
            <a:avLst/>
          </a:prstGeom>
        </p:spPr>
        <p:txBody>
          <a:bodyPr wrap="square" lIns="0" tIns="0" rIns="0" bIns="0">
            <a:spAutoFit/>
          </a:bodyPr>
          <a:lstStyle>
            <a:lvl1pPr>
              <a:defRPr sz="550" b="0" i="0">
                <a:solidFill>
                  <a:schemeClr val="bg1"/>
                </a:solidFill>
                <a:latin typeface="Times New Roman"/>
                <a:cs typeface="Times New Roman"/>
              </a:defRPr>
            </a:lvl1pPr>
          </a:lstStyle>
          <a:p>
            <a:pPr marL="25400">
              <a:lnSpc>
                <a:spcPts val="655"/>
              </a:lnSpc>
            </a:pPr>
            <a:fld id="{81D60167-4931-47E6-BA6A-407CBD079E47}" type="slidenum">
              <a:rPr spc="75" dirty="0"/>
              <a:t>‹Nº›</a:t>
            </a:fld>
            <a:r>
              <a:rPr spc="-60" dirty="0"/>
              <a:t> </a:t>
            </a:r>
            <a:r>
              <a:rPr spc="195" dirty="0"/>
              <a:t>/</a:t>
            </a:r>
            <a:r>
              <a:rPr spc="-55" dirty="0"/>
              <a:t> </a:t>
            </a:r>
            <a:r>
              <a:rPr spc="75" dirty="0"/>
              <a:t>46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mailto:menduinajuan@gmail.com"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endParaRPr sz="1200"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40" name="object 40"/>
          <p:cNvSpPr/>
          <p:nvPr/>
        </p:nvSpPr>
        <p:spPr>
          <a:xfrm>
            <a:off x="148640" y="706763"/>
            <a:ext cx="4320000" cy="540000"/>
          </a:xfrm>
          <a:custGeom>
            <a:avLst/>
            <a:gdLst/>
            <a:ahLst/>
            <a:cxnLst/>
            <a:rect l="l" t="t" r="r" b="b"/>
            <a:pathLst>
              <a:path w="3989704" h="437515">
                <a:moveTo>
                  <a:pt x="3989652" y="0"/>
                </a:moveTo>
                <a:lnTo>
                  <a:pt x="0" y="0"/>
                </a:lnTo>
                <a:lnTo>
                  <a:pt x="0" y="386697"/>
                </a:lnTo>
                <a:lnTo>
                  <a:pt x="4008" y="406422"/>
                </a:lnTo>
                <a:lnTo>
                  <a:pt x="14922" y="422575"/>
                </a:lnTo>
                <a:lnTo>
                  <a:pt x="31075" y="433489"/>
                </a:lnTo>
                <a:lnTo>
                  <a:pt x="50800" y="437498"/>
                </a:lnTo>
                <a:lnTo>
                  <a:pt x="3938852" y="437498"/>
                </a:lnTo>
                <a:lnTo>
                  <a:pt x="3958576" y="433489"/>
                </a:lnTo>
                <a:lnTo>
                  <a:pt x="3974729" y="422575"/>
                </a:lnTo>
                <a:lnTo>
                  <a:pt x="3985644" y="406422"/>
                </a:lnTo>
                <a:lnTo>
                  <a:pt x="3989652" y="386697"/>
                </a:lnTo>
                <a:lnTo>
                  <a:pt x="3989652" y="0"/>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lstStyle/>
          <a:p>
            <a:pPr algn="ctr"/>
            <a:r>
              <a:rPr lang="es-AR" sz="1600" i="1" dirty="0">
                <a:solidFill>
                  <a:schemeClr val="bg1"/>
                </a:solidFill>
                <a:latin typeface="Times New Roman" panose="02020603050405020304" pitchFamily="18" charset="0"/>
                <a:cs typeface="Times New Roman" panose="02020603050405020304" pitchFamily="18" charset="0"/>
              </a:rPr>
              <a:t>Evolución de la pobreza monetaria en Colombia: Un análisis de descomposiciones</a:t>
            </a:r>
          </a:p>
        </p:txBody>
      </p:sp>
      <p:sp>
        <p:nvSpPr>
          <p:cNvPr id="46" name="object 46"/>
          <p:cNvSpPr txBox="1"/>
          <p:nvPr/>
        </p:nvSpPr>
        <p:spPr>
          <a:xfrm>
            <a:off x="501461" y="1515925"/>
            <a:ext cx="3600000" cy="1354858"/>
          </a:xfrm>
          <a:prstGeom prst="rect">
            <a:avLst/>
          </a:prstGeom>
        </p:spPr>
        <p:txBody>
          <a:bodyPr vert="horz" wrap="square" lIns="0" tIns="635" rIns="0" bIns="0" rtlCol="0">
            <a:spAutoFit/>
          </a:bodyPr>
          <a:lstStyle/>
          <a:p>
            <a:pPr marR="5080" algn="ctr"/>
            <a:r>
              <a:rPr lang="es-AR" sz="1000" b="1" spc="-10" dirty="0">
                <a:latin typeface="Times New Roman"/>
                <a:cs typeface="Times New Roman"/>
              </a:rPr>
              <a:t>Tesista:</a:t>
            </a:r>
            <a:r>
              <a:rPr lang="es-AR" sz="1000" spc="-10" dirty="0">
                <a:latin typeface="Times New Roman"/>
                <a:cs typeface="Times New Roman"/>
              </a:rPr>
              <a:t> Juan Menduiña</a:t>
            </a:r>
          </a:p>
          <a:p>
            <a:pPr marR="5080" algn="ctr"/>
            <a:endParaRPr lang="es-AR" sz="1000" spc="-10" dirty="0">
              <a:latin typeface="Times New Roman"/>
              <a:cs typeface="Times New Roman"/>
            </a:endParaRPr>
          </a:p>
          <a:p>
            <a:pPr marR="5080" algn="ctr"/>
            <a:r>
              <a:rPr lang="es-AR" sz="1000" b="1" spc="-10" dirty="0">
                <a:latin typeface="Times New Roman"/>
                <a:cs typeface="Times New Roman"/>
              </a:rPr>
              <a:t>Director:</a:t>
            </a:r>
            <a:r>
              <a:rPr lang="es-AR" sz="1000" spc="-10" dirty="0">
                <a:latin typeface="Times New Roman"/>
                <a:cs typeface="Times New Roman"/>
              </a:rPr>
              <a:t> Javier Alejo</a:t>
            </a:r>
          </a:p>
          <a:p>
            <a:pPr marR="5080" algn="ctr"/>
            <a:r>
              <a:rPr lang="es-AR" sz="1000" b="1" spc="-10" dirty="0">
                <a:latin typeface="Times New Roman"/>
                <a:cs typeface="Times New Roman"/>
              </a:rPr>
              <a:t>Co-Director:</a:t>
            </a:r>
            <a:r>
              <a:rPr lang="es-AR" sz="1000" spc="-10" dirty="0">
                <a:latin typeface="Times New Roman"/>
                <a:cs typeface="Times New Roman"/>
              </a:rPr>
              <a:t> Leonardo Gasparini</a:t>
            </a:r>
          </a:p>
          <a:p>
            <a:pPr marR="5080" algn="ctr"/>
            <a:endParaRPr lang="es-AR" sz="800" spc="-10" dirty="0">
              <a:latin typeface="Times New Roman"/>
              <a:cs typeface="Times New Roman"/>
            </a:endParaRPr>
          </a:p>
          <a:p>
            <a:pPr marR="5080" algn="ctr"/>
            <a:r>
              <a:rPr lang="es-AR" sz="800" spc="5" dirty="0">
                <a:latin typeface="Times New Roman"/>
                <a:cs typeface="Times New Roman"/>
              </a:rPr>
              <a:t>Defensa de Tesis</a:t>
            </a:r>
          </a:p>
          <a:p>
            <a:pPr marR="5080" algn="ctr"/>
            <a:r>
              <a:rPr sz="800" spc="5" dirty="0">
                <a:latin typeface="Times New Roman"/>
                <a:cs typeface="Times New Roman"/>
              </a:rPr>
              <a:t>Maestría </a:t>
            </a:r>
            <a:r>
              <a:rPr sz="800" dirty="0">
                <a:latin typeface="Times New Roman"/>
                <a:cs typeface="Times New Roman"/>
              </a:rPr>
              <a:t>en </a:t>
            </a:r>
            <a:r>
              <a:rPr lang="es-AR" sz="800" spc="-10" dirty="0">
                <a:latin typeface="Times New Roman"/>
                <a:cs typeface="Times New Roman"/>
              </a:rPr>
              <a:t>Economía</a:t>
            </a:r>
          </a:p>
          <a:p>
            <a:pPr marR="5080" algn="ctr"/>
            <a:r>
              <a:rPr lang="es-AR" sz="800" spc="-10" dirty="0">
                <a:latin typeface="Times New Roman"/>
                <a:cs typeface="Times New Roman"/>
              </a:rPr>
              <a:t>Universidad Nacional de La Plata</a:t>
            </a:r>
            <a:endParaRPr lang="es-AR" sz="800" spc="-25" dirty="0">
              <a:latin typeface="Times New Roman"/>
              <a:cs typeface="Times New Roman"/>
            </a:endParaRPr>
          </a:p>
          <a:p>
            <a:pPr marR="5080" algn="ctr"/>
            <a:endParaRPr lang="es-AR" sz="800" spc="-25" dirty="0">
              <a:latin typeface="Times New Roman"/>
              <a:cs typeface="Times New Roman"/>
            </a:endParaRPr>
          </a:p>
          <a:p>
            <a:pPr marR="5080" algn="ctr"/>
            <a:r>
              <a:rPr lang="es-AR" sz="800" spc="-25" dirty="0">
                <a:latin typeface="Times New Roman"/>
                <a:cs typeface="Times New Roman"/>
              </a:rPr>
              <a:t>Mayo 2022</a:t>
            </a:r>
            <a:endParaRPr sz="800" dirty="0">
              <a:latin typeface="Times New Roman"/>
              <a:cs typeface="Times New Roman"/>
            </a:endParaRPr>
          </a:p>
        </p:txBody>
      </p:sp>
      <p:sp>
        <p:nvSpPr>
          <p:cNvPr id="47" name="object 47"/>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8" name="object 48"/>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9" name="object 49"/>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1" name="object 51"/>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 / </a:t>
            </a:r>
            <a:r>
              <a:rPr lang="es-AR" sz="600" spc="195" dirty="0"/>
              <a:t>19</a:t>
            </a:r>
            <a:endParaRPr spc="75"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Contenido de la presentación</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41193" y="1145599"/>
            <a:ext cx="4320000" cy="1169551"/>
          </a:xfrm>
          <a:prstGeom prst="rect">
            <a:avLst/>
          </a:prstGeom>
          <a:noFill/>
        </p:spPr>
        <p:txBody>
          <a:bodyPr wrap="square" rtlCol="0">
            <a:spAutoFit/>
          </a:bodyPr>
          <a:lstStyle/>
          <a:p>
            <a:pPr marL="342900" indent="-342900" algn="just">
              <a:buFont typeface="+mj-lt"/>
              <a:buAutoNum type="arabicParenR"/>
            </a:pPr>
            <a:r>
              <a:rPr lang="es-AR" sz="1400" dirty="0">
                <a:latin typeface="Times New Roman" panose="02020603050405020304" pitchFamily="18" charset="0"/>
                <a:ea typeface="Tahoma" panose="020B0604030504040204" pitchFamily="34" charset="0"/>
                <a:cs typeface="Times New Roman" panose="02020603050405020304" pitchFamily="18" charset="0"/>
              </a:rPr>
              <a:t>Motivación</a:t>
            </a:r>
          </a:p>
          <a:p>
            <a:pPr marL="342900" indent="-342900" algn="just">
              <a:buFont typeface="+mj-lt"/>
              <a:buAutoNum type="arabicParenR"/>
            </a:pPr>
            <a:r>
              <a:rPr lang="es-AR" sz="1400" dirty="0">
                <a:latin typeface="Times New Roman" panose="02020603050405020304" pitchFamily="18" charset="0"/>
                <a:ea typeface="Tahoma" panose="020B0604030504040204" pitchFamily="34" charset="0"/>
                <a:cs typeface="Times New Roman" panose="02020603050405020304" pitchFamily="18" charset="0"/>
              </a:rPr>
              <a:t>Datos y estadísticas descriptivas</a:t>
            </a:r>
          </a:p>
          <a:p>
            <a:pPr marL="342900" indent="-342900" algn="just">
              <a:buFont typeface="+mj-lt"/>
              <a:buAutoNum type="arabicParenR"/>
            </a:pPr>
            <a:r>
              <a:rPr lang="es-AR" sz="1400" dirty="0">
                <a:latin typeface="Times New Roman" panose="02020603050405020304" pitchFamily="18" charset="0"/>
                <a:ea typeface="Tahoma" panose="020B0604030504040204" pitchFamily="34" charset="0"/>
                <a:cs typeface="Times New Roman" panose="02020603050405020304" pitchFamily="18" charset="0"/>
              </a:rPr>
              <a:t>Metodología</a:t>
            </a:r>
          </a:p>
          <a:p>
            <a:pPr marL="342900" indent="-342900" algn="just">
              <a:buFont typeface="+mj-lt"/>
              <a:buAutoNum type="arabicParenR"/>
            </a:pPr>
            <a:r>
              <a:rPr lang="es-AR" sz="1400" dirty="0">
                <a:latin typeface="Times New Roman" panose="02020603050405020304" pitchFamily="18" charset="0"/>
                <a:ea typeface="Tahoma" panose="020B0604030504040204" pitchFamily="34" charset="0"/>
                <a:cs typeface="Times New Roman" panose="02020603050405020304" pitchFamily="18" charset="0"/>
              </a:rPr>
              <a:t>Principales resultados</a:t>
            </a:r>
          </a:p>
          <a:p>
            <a:pPr marL="342900" indent="-342900" algn="just">
              <a:buFont typeface="+mj-lt"/>
              <a:buAutoNum type="arabicParenR"/>
            </a:pPr>
            <a:r>
              <a:rPr lang="es-AR" sz="1400" dirty="0">
                <a:latin typeface="Times New Roman" panose="02020603050405020304" pitchFamily="18" charset="0"/>
                <a:ea typeface="Tahoma" panose="020B0604030504040204" pitchFamily="34" charset="0"/>
                <a:cs typeface="Times New Roman" panose="02020603050405020304" pitchFamily="18" charset="0"/>
              </a:rPr>
              <a:t>Comentarios finales</a:t>
            </a:r>
          </a:p>
        </p:txBody>
      </p:sp>
      <p:sp>
        <p:nvSpPr>
          <p:cNvPr id="91" name="object 47">
            <a:extLst>
              <a:ext uri="{FF2B5EF4-FFF2-40B4-BE49-F238E27FC236}">
                <a16:creationId xmlns:a16="http://schemas.microsoft.com/office/drawing/2014/main" id="{52A4B28A-6522-D53E-1914-2612DB3EEBB4}"/>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92" name="object 48">
            <a:extLst>
              <a:ext uri="{FF2B5EF4-FFF2-40B4-BE49-F238E27FC236}">
                <a16:creationId xmlns:a16="http://schemas.microsoft.com/office/drawing/2014/main" id="{DB969FE3-7415-AD56-0464-CA49952957A3}"/>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93" name="object 49">
            <a:extLst>
              <a:ext uri="{FF2B5EF4-FFF2-40B4-BE49-F238E27FC236}">
                <a16:creationId xmlns:a16="http://schemas.microsoft.com/office/drawing/2014/main" id="{B2049A35-31C5-B5EA-E657-90C2459D2FE1}"/>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94" name="object 51">
            <a:extLst>
              <a:ext uri="{FF2B5EF4-FFF2-40B4-BE49-F238E27FC236}">
                <a16:creationId xmlns:a16="http://schemas.microsoft.com/office/drawing/2014/main" id="{D9343DA9-818D-BEAB-78F7-4091A46F359C}"/>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2 / </a:t>
            </a:r>
            <a:r>
              <a:rPr lang="es-AR" sz="600" spc="195" dirty="0"/>
              <a:t>19</a:t>
            </a:r>
            <a:endParaRPr spc="75" dirty="0"/>
          </a:p>
        </p:txBody>
      </p:sp>
      <p:sp>
        <p:nvSpPr>
          <p:cNvPr id="95" name="object 34">
            <a:extLst>
              <a:ext uri="{FF2B5EF4-FFF2-40B4-BE49-F238E27FC236}">
                <a16:creationId xmlns:a16="http://schemas.microsoft.com/office/drawing/2014/main" id="{7D08BD4D-6B82-C785-DC30-D846B82DBC2E}"/>
              </a:ext>
            </a:extLst>
          </p:cNvPr>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780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Motivación</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800" dirty="0">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595582"/>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 </a:t>
            </a:r>
            <a:r>
              <a:rPr lang="es-AR" sz="1000" b="1" dirty="0">
                <a:latin typeface="Times New Roman" panose="02020603050405020304" pitchFamily="18" charset="0"/>
                <a:ea typeface="Tahoma" panose="020B0604030504040204" pitchFamily="34" charset="0"/>
                <a:cs typeface="Times New Roman" panose="02020603050405020304" pitchFamily="18" charset="0"/>
              </a:rPr>
              <a:t>pobreza monetaria en Colombia se ha reducido</a:t>
            </a:r>
            <a:r>
              <a:rPr lang="es-AR" sz="1000" dirty="0">
                <a:latin typeface="Times New Roman" panose="02020603050405020304" pitchFamily="18" charset="0"/>
                <a:ea typeface="Tahoma" panose="020B0604030504040204" pitchFamily="34" charset="0"/>
                <a:cs typeface="Times New Roman" panose="02020603050405020304" pitchFamily="18" charset="0"/>
              </a:rPr>
              <a:t> de manera significativa en las últimas dos décadas. Sin embargo, su distribución a lo largo de los territorios sigue siendo bastante heterogénea. La diferencia en las tasas de incidencia de la pobreza monetaria entre áreas rurales y ciudades grandes y pequeñas es amplia.</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Debido a estas </a:t>
            </a:r>
            <a:r>
              <a:rPr lang="es-AR" sz="1000" b="1" dirty="0">
                <a:latin typeface="Times New Roman" panose="02020603050405020304" pitchFamily="18" charset="0"/>
                <a:ea typeface="Tahoma" panose="020B0604030504040204" pitchFamily="34" charset="0"/>
                <a:cs typeface="Times New Roman" panose="02020603050405020304" pitchFamily="18" charset="0"/>
              </a:rPr>
              <a:t>heterogeneidades</a:t>
            </a:r>
            <a:r>
              <a:rPr lang="es-AR" sz="1000" dirty="0">
                <a:latin typeface="Times New Roman" panose="02020603050405020304" pitchFamily="18" charset="0"/>
                <a:ea typeface="Tahoma" panose="020B0604030504040204" pitchFamily="34" charset="0"/>
                <a:cs typeface="Times New Roman" panose="02020603050405020304" pitchFamily="18" charset="0"/>
              </a:rPr>
              <a:t>, entender los factores asociados a la dinámica de la pobreza monetaria desde una perspectiva agregada y regional es fundamental para la construcción de la política pública nacional.</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Siendo así, el </a:t>
            </a:r>
            <a:r>
              <a:rPr lang="es-AR" sz="1000" b="1" dirty="0">
                <a:latin typeface="Times New Roman" panose="02020603050405020304" pitchFamily="18" charset="0"/>
                <a:ea typeface="Tahoma" panose="020B0604030504040204" pitchFamily="34" charset="0"/>
                <a:cs typeface="Times New Roman" panose="02020603050405020304" pitchFamily="18" charset="0"/>
              </a:rPr>
              <a:t>objetivo de este trabajo</a:t>
            </a:r>
            <a:r>
              <a:rPr lang="es-AR" sz="1000" dirty="0">
                <a:latin typeface="Times New Roman" panose="02020603050405020304" pitchFamily="18" charset="0"/>
                <a:ea typeface="Tahoma" panose="020B0604030504040204" pitchFamily="34" charset="0"/>
                <a:cs typeface="Times New Roman" panose="02020603050405020304" pitchFamily="18" charset="0"/>
              </a:rPr>
              <a:t> fue</a:t>
            </a:r>
            <a:r>
              <a:rPr lang="es-AR" sz="1000" dirty="0">
                <a:effectLst/>
                <a:latin typeface="Times New Roman" panose="02020603050405020304" pitchFamily="18" charset="0"/>
                <a:ea typeface="Calibri" panose="020F0502020204030204" pitchFamily="34" charset="0"/>
              </a:rPr>
              <a:t> estudiar la influencia que han tenido, por un lado, el crecimiento de los ingresos, los cambios distributivos y la variación de los precios locales y, por otro lado, las características económicas y sociodemográficas de los hogares sobre la evolución de la pobreza monetaria en Colombia durante el período 2002-2018, considerando la heterogeneidad a lo largo del país.</a:t>
            </a:r>
            <a:endParaRPr lang="es-AR" sz="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3" name="object 47">
            <a:extLst>
              <a:ext uri="{FF2B5EF4-FFF2-40B4-BE49-F238E27FC236}">
                <a16:creationId xmlns:a16="http://schemas.microsoft.com/office/drawing/2014/main" id="{FDD38CD5-EC80-0942-D40D-07C07D17A0AC}"/>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4" name="object 48">
            <a:extLst>
              <a:ext uri="{FF2B5EF4-FFF2-40B4-BE49-F238E27FC236}">
                <a16:creationId xmlns:a16="http://schemas.microsoft.com/office/drawing/2014/main" id="{B9FF074A-3AD4-325C-2749-7DCD81A3AF52}"/>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5" name="object 49">
            <a:extLst>
              <a:ext uri="{FF2B5EF4-FFF2-40B4-BE49-F238E27FC236}">
                <a16:creationId xmlns:a16="http://schemas.microsoft.com/office/drawing/2014/main" id="{30982F45-1D91-2A1F-BEED-AD10B190312A}"/>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6" name="object 51">
            <a:extLst>
              <a:ext uri="{FF2B5EF4-FFF2-40B4-BE49-F238E27FC236}">
                <a16:creationId xmlns:a16="http://schemas.microsoft.com/office/drawing/2014/main" id="{57F9C854-E062-DD92-0D91-F70B87CFF039}"/>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3 / </a:t>
            </a:r>
            <a:r>
              <a:rPr lang="es-AR" sz="600" spc="195" dirty="0"/>
              <a:t>19</a:t>
            </a:r>
            <a:endParaRPr spc="75" dirty="0"/>
          </a:p>
        </p:txBody>
      </p:sp>
    </p:spTree>
    <p:extLst>
      <p:ext uri="{BB962C8B-B14F-4D97-AF65-F5344CB8AC3E}">
        <p14:creationId xmlns:p14="http://schemas.microsoft.com/office/powerpoint/2010/main" val="304993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xEl>
                                              <p:pRg st="2" end="2"/>
                                            </p:txEl>
                                          </p:spTgt>
                                        </p:tgtEl>
                                        <p:attrNameLst>
                                          <p:attrName>style.visibility</p:attrName>
                                        </p:attrNameLst>
                                      </p:cBhvr>
                                      <p:to>
                                        <p:strVal val="visible"/>
                                      </p:to>
                                    </p:set>
                                    <p:animEffect transition="in" filter="fade">
                                      <p:cBhvr>
                                        <p:cTn id="12" dur="500"/>
                                        <p:tgtEl>
                                          <p:spTgt spid="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Evolución de la pobreza monetaria</a:t>
            </a: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811026"/>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La información que se utilizará a lo largo de todo el trabajo proviene de los microdatos de la </a:t>
            </a:r>
            <a:r>
              <a:rPr lang="es-AR" sz="1000" b="1" dirty="0">
                <a:latin typeface="Times New Roman" panose="02020603050405020304" pitchFamily="18" charset="0"/>
                <a:ea typeface="Tahoma" panose="020B0604030504040204" pitchFamily="34" charset="0"/>
                <a:cs typeface="Times New Roman" panose="02020603050405020304" pitchFamily="18" charset="0"/>
              </a:rPr>
              <a:t>Encuesta Continua de Hogares (ECH)</a:t>
            </a:r>
            <a:r>
              <a:rPr lang="es-AR" sz="1000" dirty="0">
                <a:latin typeface="Times New Roman" panose="02020603050405020304" pitchFamily="18" charset="0"/>
                <a:ea typeface="Tahoma" panose="020B0604030504040204" pitchFamily="34" charset="0"/>
                <a:cs typeface="Times New Roman" panose="02020603050405020304" pitchFamily="18" charset="0"/>
              </a:rPr>
              <a:t> para el período 2002-2005 y de la </a:t>
            </a:r>
            <a:r>
              <a:rPr lang="es-AR" sz="1000" b="1" dirty="0">
                <a:latin typeface="Times New Roman" panose="02020603050405020304" pitchFamily="18" charset="0"/>
                <a:ea typeface="Tahoma" panose="020B0604030504040204" pitchFamily="34" charset="0"/>
                <a:cs typeface="Times New Roman" panose="02020603050405020304" pitchFamily="18" charset="0"/>
              </a:rPr>
              <a:t>Gran Encuesta Integrada de Hogares (GEIH)</a:t>
            </a:r>
            <a:r>
              <a:rPr lang="es-AR" sz="1000" dirty="0">
                <a:latin typeface="Times New Roman" panose="02020603050405020304" pitchFamily="18" charset="0"/>
                <a:ea typeface="Tahoma" panose="020B0604030504040204" pitchFamily="34" charset="0"/>
                <a:cs typeface="Times New Roman" panose="02020603050405020304" pitchFamily="18" charset="0"/>
              </a:rPr>
              <a:t> para el período 2008-2018, realizadas por el </a:t>
            </a:r>
            <a:r>
              <a:rPr lang="es-AR" sz="1000" b="1" dirty="0">
                <a:latin typeface="Times New Roman" panose="02020603050405020304" pitchFamily="18" charset="0"/>
                <a:ea typeface="Tahoma" panose="020B0604030504040204" pitchFamily="34" charset="0"/>
                <a:cs typeface="Times New Roman" panose="02020603050405020304" pitchFamily="18" charset="0"/>
              </a:rPr>
              <a:t>Departamento Administrativo Nacional de Estadística (DANE)</a:t>
            </a:r>
            <a:r>
              <a:rPr lang="es-AR" sz="1000" dirty="0">
                <a:latin typeface="Times New Roman" panose="02020603050405020304" pitchFamily="18" charset="0"/>
                <a:ea typeface="Tahoma" panose="020B0604030504040204" pitchFamily="34" charset="0"/>
                <a:cs typeface="Times New Roman" panose="02020603050405020304" pitchFamily="18" charset="0"/>
              </a:rPr>
              <a:t>. Las cifras entre 2002 y 2005 están empalmadas tomando como referencia la metodología utilizada por la encuesta que se viene aplicando desde 2006 (la GEIH), trabajo realizado por la </a:t>
            </a:r>
            <a:r>
              <a:rPr lang="es-AR" sz="1000" b="1" dirty="0">
                <a:latin typeface="Times New Roman" panose="02020603050405020304" pitchFamily="18" charset="0"/>
                <a:ea typeface="Tahoma" panose="020B0604030504040204" pitchFamily="34" charset="0"/>
                <a:cs typeface="Times New Roman" panose="02020603050405020304" pitchFamily="18" charset="0"/>
              </a:rPr>
              <a:t>Misión para el Empalme de las Series de Empleo, Pobreza y Desigualdad (MESEP)</a:t>
            </a:r>
            <a:r>
              <a:rPr lang="es-AR" sz="1000"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ea typeface="Tahoma" panose="020B0604030504040204" pitchFamily="34" charset="0"/>
                <a:cs typeface="Times New Roman" panose="02020603050405020304" pitchFamily="18" charset="0"/>
              </a:rPr>
              <a:t>A pesar de que hubo un cambio metodológico entre la ECH y la GEIH, el trabajo de la MESEP hace posible la comparabilidad entre las dos fuentes de datos.</a:t>
            </a:r>
          </a:p>
          <a:p>
            <a:pPr marL="285750" indent="-285750" algn="just">
              <a:spcAft>
                <a:spcPts val="400"/>
              </a:spcAft>
              <a:buFont typeface="Wingdings" panose="05000000000000000000" pitchFamily="2" charset="2"/>
              <a:buChar char="§"/>
            </a:pPr>
            <a:r>
              <a:rPr lang="es-AR" sz="1000" dirty="0">
                <a:latin typeface="Times New Roman" panose="02020603050405020304" pitchFamily="18" charset="0"/>
                <a:cs typeface="Times New Roman" panose="02020603050405020304" pitchFamily="18" charset="0"/>
              </a:rPr>
              <a:t>Finalmente, la </a:t>
            </a:r>
            <a:r>
              <a:rPr lang="es-AR" sz="1000" b="1" dirty="0">
                <a:latin typeface="Times New Roman" panose="02020603050405020304" pitchFamily="18" charset="0"/>
                <a:cs typeface="Times New Roman" panose="02020603050405020304" pitchFamily="18" charset="0"/>
              </a:rPr>
              <a:t>elección de los años 2002 y 2018</a:t>
            </a:r>
            <a:r>
              <a:rPr lang="es-AR" sz="1000" dirty="0">
                <a:latin typeface="Times New Roman" panose="02020603050405020304" pitchFamily="18" charset="0"/>
                <a:cs typeface="Times New Roman" panose="02020603050405020304" pitchFamily="18" charset="0"/>
              </a:rPr>
              <a:t> para realizar los estudios de descomposición se debe a que ambos tienen, por un lado, un crecimiento del PBI per cápita acumulado semejante (alrededor de 2% con los dos respectivos años previos) y, por otro lado, inflaciones anuales relativamente bajas.</a:t>
            </a:r>
          </a:p>
        </p:txBody>
      </p:sp>
      <p:sp>
        <p:nvSpPr>
          <p:cNvPr id="9" name="object 47">
            <a:extLst>
              <a:ext uri="{FF2B5EF4-FFF2-40B4-BE49-F238E27FC236}">
                <a16:creationId xmlns:a16="http://schemas.microsoft.com/office/drawing/2014/main" id="{6D4C1D64-E824-D0CF-4444-423E59A5DA96}"/>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10" name="object 48">
            <a:extLst>
              <a:ext uri="{FF2B5EF4-FFF2-40B4-BE49-F238E27FC236}">
                <a16:creationId xmlns:a16="http://schemas.microsoft.com/office/drawing/2014/main" id="{200BFF1B-6722-4310-63F5-3DED25C25652}"/>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11" name="object 49">
            <a:extLst>
              <a:ext uri="{FF2B5EF4-FFF2-40B4-BE49-F238E27FC236}">
                <a16:creationId xmlns:a16="http://schemas.microsoft.com/office/drawing/2014/main" id="{D0120A52-5F20-83FD-2080-E5B0CBC19FEA}"/>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12" name="object 51">
            <a:extLst>
              <a:ext uri="{FF2B5EF4-FFF2-40B4-BE49-F238E27FC236}">
                <a16:creationId xmlns:a16="http://schemas.microsoft.com/office/drawing/2014/main" id="{04C8B8F4-19D5-7BA7-E23E-70D04870FB4B}"/>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4 / </a:t>
            </a:r>
            <a:r>
              <a:rPr lang="es-AR" sz="600" spc="195" dirty="0"/>
              <a:t>19</a:t>
            </a:r>
            <a:endParaRPr spc="75" dirty="0"/>
          </a:p>
        </p:txBody>
      </p:sp>
    </p:spTree>
    <p:extLst>
      <p:ext uri="{BB962C8B-B14F-4D97-AF65-F5344CB8AC3E}">
        <p14:creationId xmlns:p14="http://schemas.microsoft.com/office/powerpoint/2010/main" val="397324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Evolución de la pobreza monetaria</a:t>
            </a:r>
            <a:endParaRPr sz="800" dirty="0">
              <a:solidFill>
                <a:schemeClr val="bg1"/>
              </a:solidFill>
              <a:latin typeface="Times New Roman" panose="02020603050405020304" pitchFamily="18" charset="0"/>
              <a:cs typeface="Times New Roman" panose="02020603050405020304" pitchFamily="18" charset="0"/>
            </a:endParaRPr>
          </a:p>
        </p:txBody>
      </p:sp>
      <p:sp>
        <p:nvSpPr>
          <p:cNvPr id="39" name="object 47">
            <a:extLst>
              <a:ext uri="{FF2B5EF4-FFF2-40B4-BE49-F238E27FC236}">
                <a16:creationId xmlns:a16="http://schemas.microsoft.com/office/drawing/2014/main" id="{DBB77D56-9422-6BAB-733A-A50A6031B58F}"/>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8B9A364D-F41B-4352-E015-6DF16F2EBED3}"/>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DD5ECEF5-AECD-D8BD-88CE-70085AD0D491}"/>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DCA1F61C-53F7-67DD-D37B-E927E676E868}"/>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5 / </a:t>
            </a:r>
            <a:r>
              <a:rPr lang="es-AR" sz="600" spc="195" dirty="0"/>
              <a:t>19</a:t>
            </a:r>
            <a:endParaRPr spc="75" dirty="0"/>
          </a:p>
        </p:txBody>
      </p:sp>
      <p:pic>
        <p:nvPicPr>
          <p:cNvPr id="3" name="Imagen 2">
            <a:extLst>
              <a:ext uri="{FF2B5EF4-FFF2-40B4-BE49-F238E27FC236}">
                <a16:creationId xmlns:a16="http://schemas.microsoft.com/office/drawing/2014/main" id="{7314D276-5CD4-6FEE-36B5-D4E69E0F32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050" y="415005"/>
            <a:ext cx="3240000" cy="2877314"/>
          </a:xfrm>
          <a:prstGeom prst="rect">
            <a:avLst/>
          </a:prstGeom>
        </p:spPr>
      </p:pic>
    </p:spTree>
    <p:extLst>
      <p:ext uri="{BB962C8B-B14F-4D97-AF65-F5344CB8AC3E}">
        <p14:creationId xmlns:p14="http://schemas.microsoft.com/office/powerpoint/2010/main" val="28598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sp>
        <p:nvSpPr>
          <p:cNvPr id="42" name="CuadroTexto 41">
            <a:extLst>
              <a:ext uri="{FF2B5EF4-FFF2-40B4-BE49-F238E27FC236}">
                <a16:creationId xmlns:a16="http://schemas.microsoft.com/office/drawing/2014/main" id="{23C59BAF-A76F-4ABE-B590-37BF4EF32126}"/>
              </a:ext>
            </a:extLst>
          </p:cNvPr>
          <p:cNvSpPr txBox="1"/>
          <p:nvPr/>
        </p:nvSpPr>
        <p:spPr>
          <a:xfrm>
            <a:off x="141193" y="2417061"/>
            <a:ext cx="4320000" cy="759182"/>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Importante reducción de la pobreza en todo el período, tanto para el agregado nacional como para las áreas urbanas y el área rural.</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La pobreza es notablemente menor en las principales ciudades y el área rural es quien tiene los mayores niveles de pobreza.</a:t>
            </a:r>
          </a:p>
        </p:txBody>
      </p:sp>
      <p:pic>
        <p:nvPicPr>
          <p:cNvPr id="36" name="Imagen 35">
            <a:extLst>
              <a:ext uri="{FF2B5EF4-FFF2-40B4-BE49-F238E27FC236}">
                <a16:creationId xmlns:a16="http://schemas.microsoft.com/office/drawing/2014/main" id="{E6A81AD8-8F02-FE6D-FF9F-571650D3E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93" y="509530"/>
            <a:ext cx="4320000" cy="1836167"/>
          </a:xfrm>
          <a:prstGeom prst="rect">
            <a:avLst/>
          </a:prstGeom>
        </p:spPr>
      </p:pic>
      <p:sp>
        <p:nvSpPr>
          <p:cNvPr id="40" name="object 47">
            <a:extLst>
              <a:ext uri="{FF2B5EF4-FFF2-40B4-BE49-F238E27FC236}">
                <a16:creationId xmlns:a16="http://schemas.microsoft.com/office/drawing/2014/main" id="{DCC02936-EA24-10CC-8F31-DDBE29AFA8EF}"/>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1" name="object 48">
            <a:extLst>
              <a:ext uri="{FF2B5EF4-FFF2-40B4-BE49-F238E27FC236}">
                <a16:creationId xmlns:a16="http://schemas.microsoft.com/office/drawing/2014/main" id="{0595F39B-B5B1-3A00-EF29-52E5420F5F0F}"/>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3" name="object 49">
            <a:extLst>
              <a:ext uri="{FF2B5EF4-FFF2-40B4-BE49-F238E27FC236}">
                <a16:creationId xmlns:a16="http://schemas.microsoft.com/office/drawing/2014/main" id="{390426DE-7EFC-68AD-3C9B-4E5D7B157A65}"/>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4" name="object 51">
            <a:extLst>
              <a:ext uri="{FF2B5EF4-FFF2-40B4-BE49-F238E27FC236}">
                <a16:creationId xmlns:a16="http://schemas.microsoft.com/office/drawing/2014/main" id="{81D40844-25E8-0B98-04B2-27C97CCCBF54}"/>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6 / </a:t>
            </a:r>
            <a:r>
              <a:rPr lang="es-AR" sz="600" spc="195" dirty="0"/>
              <a:t>19</a:t>
            </a:r>
            <a:endParaRPr spc="75" dirty="0"/>
          </a:p>
        </p:txBody>
      </p:sp>
    </p:spTree>
    <p:extLst>
      <p:ext uri="{BB962C8B-B14F-4D97-AF65-F5344CB8AC3E}">
        <p14:creationId xmlns:p14="http://schemas.microsoft.com/office/powerpoint/2010/main" val="164043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sp>
        <p:nvSpPr>
          <p:cNvPr id="42" name="CuadroTexto 41">
            <a:extLst>
              <a:ext uri="{FF2B5EF4-FFF2-40B4-BE49-F238E27FC236}">
                <a16:creationId xmlns:a16="http://schemas.microsoft.com/office/drawing/2014/main" id="{23C59BAF-A76F-4ABE-B590-37BF4EF32126}"/>
              </a:ext>
            </a:extLst>
          </p:cNvPr>
          <p:cNvSpPr txBox="1"/>
          <p:nvPr/>
        </p:nvSpPr>
        <p:spPr>
          <a:xfrm>
            <a:off x="151353" y="2206504"/>
            <a:ext cx="4320000" cy="1066959"/>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Ø"/>
            </a:pPr>
            <a:r>
              <a:rPr lang="es-AR" sz="1000" dirty="0">
                <a:effectLst/>
                <a:latin typeface="Times New Roman" panose="02020603050405020304" pitchFamily="18" charset="0"/>
                <a:ea typeface="Calibri" panose="020F0502020204030204" pitchFamily="34" charset="0"/>
              </a:rPr>
              <a:t>Las mayores reducciones (en puntos porcentuales) en el período 2002-2018 se tienen en el área rural</a:t>
            </a:r>
            <a:r>
              <a:rPr lang="es-AR" sz="1000" dirty="0">
                <a:effectLst/>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Ø"/>
            </a:pPr>
            <a:r>
              <a:rPr lang="es-AR" sz="1000" dirty="0">
                <a:latin typeface="Times New Roman" panose="02020603050405020304" pitchFamily="18" charset="0"/>
                <a:ea typeface="Tahoma" panose="020B0604030504040204" pitchFamily="34" charset="0"/>
                <a:cs typeface="Times New Roman" panose="02020603050405020304" pitchFamily="18" charset="0"/>
              </a:rPr>
              <a:t>En </a:t>
            </a:r>
            <a:r>
              <a:rPr lang="es-AR" sz="1000" dirty="0">
                <a:effectLst/>
                <a:latin typeface="Times New Roman" panose="02020603050405020304" pitchFamily="18" charset="0"/>
                <a:ea typeface="Calibri" panose="020F0502020204030204" pitchFamily="34" charset="0"/>
              </a:rPr>
              <a:t>2018, para el caso de la pobreza, la incidencia en el área rural fue 2,23 veces la de las principales ciudades, en tanto que, para la pobreza extrema, este valor asciende a 5,31. En 2002, estos valores eran 1,70 y 4,43, respectivamente</a:t>
            </a:r>
            <a:r>
              <a:rPr lang="es-AR" sz="1000" dirty="0">
                <a:latin typeface="Times New Roman" panose="02020603050405020304" pitchFamily="18" charset="0"/>
                <a:ea typeface="Tahoma" panose="020B0604030504040204" pitchFamily="34" charset="0"/>
                <a:cs typeface="Times New Roman" panose="02020603050405020304" pitchFamily="18" charset="0"/>
              </a:rPr>
              <a:t>.</a:t>
            </a:r>
          </a:p>
        </p:txBody>
      </p:sp>
      <p:pic>
        <p:nvPicPr>
          <p:cNvPr id="35" name="Imagen 34">
            <a:extLst>
              <a:ext uri="{FF2B5EF4-FFF2-40B4-BE49-F238E27FC236}">
                <a16:creationId xmlns:a16="http://schemas.microsoft.com/office/drawing/2014/main" id="{AC826110-81AA-F09C-4E51-6B8F5B7DF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53" y="511868"/>
            <a:ext cx="4320000" cy="1574518"/>
          </a:xfrm>
          <a:prstGeom prst="rect">
            <a:avLst/>
          </a:prstGeom>
        </p:spPr>
      </p:pic>
      <p:sp>
        <p:nvSpPr>
          <p:cNvPr id="40" name="object 47">
            <a:extLst>
              <a:ext uri="{FF2B5EF4-FFF2-40B4-BE49-F238E27FC236}">
                <a16:creationId xmlns:a16="http://schemas.microsoft.com/office/drawing/2014/main" id="{E23AD323-F066-EF12-2341-8F81AEDCF23F}"/>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1" name="object 48">
            <a:extLst>
              <a:ext uri="{FF2B5EF4-FFF2-40B4-BE49-F238E27FC236}">
                <a16:creationId xmlns:a16="http://schemas.microsoft.com/office/drawing/2014/main" id="{E9333136-54E9-3FB3-1961-4CB2C8FA0AAF}"/>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3" name="object 49">
            <a:extLst>
              <a:ext uri="{FF2B5EF4-FFF2-40B4-BE49-F238E27FC236}">
                <a16:creationId xmlns:a16="http://schemas.microsoft.com/office/drawing/2014/main" id="{4B8C4B80-6A23-FD6E-357C-BEB0799E4BC8}"/>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4" name="object 51">
            <a:extLst>
              <a:ext uri="{FF2B5EF4-FFF2-40B4-BE49-F238E27FC236}">
                <a16:creationId xmlns:a16="http://schemas.microsoft.com/office/drawing/2014/main" id="{F414A295-0611-5532-5789-2E14B5FE5F45}"/>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7 / </a:t>
            </a:r>
            <a:r>
              <a:rPr lang="es-AR" sz="600" spc="195" dirty="0"/>
              <a:t>19</a:t>
            </a:r>
            <a:endParaRPr spc="75" dirty="0"/>
          </a:p>
        </p:txBody>
      </p:sp>
    </p:spTree>
    <p:extLst>
      <p:ext uri="{BB962C8B-B14F-4D97-AF65-F5344CB8AC3E}">
        <p14:creationId xmlns:p14="http://schemas.microsoft.com/office/powerpoint/2010/main" val="475886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pic>
        <p:nvPicPr>
          <p:cNvPr id="36" name="Imagen 35">
            <a:extLst>
              <a:ext uri="{FF2B5EF4-FFF2-40B4-BE49-F238E27FC236}">
                <a16:creationId xmlns:a16="http://schemas.microsoft.com/office/drawing/2014/main" id="{BB375239-FE87-1DFB-BF06-7B88B41BE0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461" y="566026"/>
            <a:ext cx="4320000" cy="2328698"/>
          </a:xfrm>
          <a:prstGeom prst="rect">
            <a:avLst/>
          </a:prstGeom>
        </p:spPr>
      </p:pic>
      <p:sp>
        <p:nvSpPr>
          <p:cNvPr id="39" name="object 47">
            <a:extLst>
              <a:ext uri="{FF2B5EF4-FFF2-40B4-BE49-F238E27FC236}">
                <a16:creationId xmlns:a16="http://schemas.microsoft.com/office/drawing/2014/main" id="{F469DEC7-0576-3EA0-8DA6-78526B189F10}"/>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76F87B07-5FE1-AF58-4084-9D5E54FDA541}"/>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557B609C-14AD-0464-BFDE-AFCB81B29EB0}"/>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2D8A31C0-0740-0814-111B-5C7EB8E1D589}"/>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8 / </a:t>
            </a:r>
            <a:r>
              <a:rPr lang="es-AR" sz="600" spc="195" dirty="0"/>
              <a:t>19</a:t>
            </a:r>
            <a:endParaRPr spc="75" dirty="0"/>
          </a:p>
        </p:txBody>
      </p:sp>
    </p:spTree>
    <p:extLst>
      <p:ext uri="{BB962C8B-B14F-4D97-AF65-F5344CB8AC3E}">
        <p14:creationId xmlns:p14="http://schemas.microsoft.com/office/powerpoint/2010/main" val="3310490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Datos y estadísticas descriptivas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Fuente de datos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Caracterización de los hogares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Evolución de la pobreza monetaria</a:t>
            </a:r>
            <a:endParaRPr sz="800" b="1" dirty="0">
              <a:solidFill>
                <a:schemeClr val="bg1"/>
              </a:solidFill>
              <a:latin typeface="Times New Roman" panose="02020603050405020304" pitchFamily="18" charset="0"/>
              <a:cs typeface="Times New Roman" panose="02020603050405020304" pitchFamily="18" charset="0"/>
            </a:endParaRPr>
          </a:p>
        </p:txBody>
      </p:sp>
      <p:pic>
        <p:nvPicPr>
          <p:cNvPr id="35" name="Imagen 34">
            <a:extLst>
              <a:ext uri="{FF2B5EF4-FFF2-40B4-BE49-F238E27FC236}">
                <a16:creationId xmlns:a16="http://schemas.microsoft.com/office/drawing/2014/main" id="{089B1455-E55B-9E9B-4288-405BF48860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193" y="400200"/>
            <a:ext cx="2982213" cy="2844000"/>
          </a:xfrm>
          <a:prstGeom prst="rect">
            <a:avLst/>
          </a:prstGeom>
        </p:spPr>
      </p:pic>
      <p:sp>
        <p:nvSpPr>
          <p:cNvPr id="39" name="object 47">
            <a:extLst>
              <a:ext uri="{FF2B5EF4-FFF2-40B4-BE49-F238E27FC236}">
                <a16:creationId xmlns:a16="http://schemas.microsoft.com/office/drawing/2014/main" id="{C32D7F4D-7F59-BE75-4C2B-4F8833A923F7}"/>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AEBFBD82-57E2-825C-4B73-5BD4A07CBB80}"/>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A025E4CF-83A7-3833-934F-99545D9BEBF7}"/>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4B41E83E-4A09-33E0-9EBD-F593E38933F9}"/>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9 / </a:t>
            </a:r>
            <a:r>
              <a:rPr lang="es-AR" sz="600" spc="195" dirty="0"/>
              <a:t>19</a:t>
            </a:r>
            <a:endParaRPr spc="75" dirty="0"/>
          </a:p>
        </p:txBody>
      </p:sp>
    </p:spTree>
    <p:extLst>
      <p:ext uri="{BB962C8B-B14F-4D97-AF65-F5344CB8AC3E}">
        <p14:creationId xmlns:p14="http://schemas.microsoft.com/office/powerpoint/2010/main" val="215080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lang="es-AR" sz="800" dirty="0">
              <a:solidFill>
                <a:schemeClr val="bg1"/>
              </a:solidFill>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246769"/>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La metodología para estudiar los cambios en la pobreza monetaria en Colombia se divide en dos partes:</a:t>
            </a:r>
          </a:p>
          <a:p>
            <a:pPr marL="742950" lvl="1" indent="-285750" algn="just">
              <a:spcAft>
                <a:spcPts val="400"/>
              </a:spcAft>
              <a:buFont typeface="+mj-lt"/>
              <a:buAutoNum type="arabicPeriod"/>
            </a:pPr>
            <a:r>
              <a:rPr lang="es-AR" sz="1000" dirty="0">
                <a:latin typeface="Times New Roman" panose="02020603050405020304" pitchFamily="18" charset="0"/>
                <a:ea typeface="Tahoma" panose="020B0604030504040204" pitchFamily="34" charset="0"/>
                <a:cs typeface="Times New Roman" panose="02020603050405020304" pitchFamily="18" charset="0"/>
              </a:rPr>
              <a:t>En primer lugar, se estudian los </a:t>
            </a:r>
            <a:r>
              <a:rPr lang="es-AR" sz="1000" b="1" dirty="0">
                <a:latin typeface="Times New Roman" panose="02020603050405020304" pitchFamily="18" charset="0"/>
                <a:ea typeface="Tahoma" panose="020B0604030504040204" pitchFamily="34" charset="0"/>
                <a:cs typeface="Times New Roman" panose="02020603050405020304" pitchFamily="18" charset="0"/>
              </a:rPr>
              <a:t>determinantes agregados</a:t>
            </a:r>
            <a:r>
              <a:rPr lang="es-AR" sz="1000" dirty="0">
                <a:latin typeface="Times New Roman" panose="02020603050405020304" pitchFamily="18" charset="0"/>
                <a:ea typeface="Tahoma" panose="020B0604030504040204" pitchFamily="34" charset="0"/>
                <a:cs typeface="Times New Roman" panose="02020603050405020304" pitchFamily="18" charset="0"/>
              </a:rPr>
              <a:t> del cambio en la pobreza monetaria, en donde se aplica una descomposición que permite diferenciar entre efecto crecimiento, redistribución y línea de pobreza (Kolenikov y Shorrocks, 2005).</a:t>
            </a:r>
          </a:p>
          <a:p>
            <a:pPr marL="742950" lvl="1" indent="-285750" algn="just">
              <a:spcAft>
                <a:spcPts val="400"/>
              </a:spcAft>
              <a:buFont typeface="+mj-lt"/>
              <a:buAutoNum type="arabicPeriod"/>
            </a:pPr>
            <a:r>
              <a:rPr lang="es-AR" sz="1000" dirty="0">
                <a:latin typeface="Times New Roman" panose="02020603050405020304" pitchFamily="18" charset="0"/>
                <a:ea typeface="Tahoma" panose="020B0604030504040204" pitchFamily="34" charset="0"/>
                <a:cs typeface="Times New Roman" panose="02020603050405020304" pitchFamily="18" charset="0"/>
              </a:rPr>
              <a:t>En segundo lugar, se estudian los </a:t>
            </a:r>
            <a:r>
              <a:rPr lang="es-AR" sz="1000" b="1" dirty="0">
                <a:latin typeface="Times New Roman" panose="02020603050405020304" pitchFamily="18" charset="0"/>
                <a:ea typeface="Tahoma" panose="020B0604030504040204" pitchFamily="34" charset="0"/>
                <a:cs typeface="Times New Roman" panose="02020603050405020304" pitchFamily="18" charset="0"/>
              </a:rPr>
              <a:t>determinantes sociodemográficos</a:t>
            </a:r>
            <a:r>
              <a:rPr lang="es-AR" sz="1000" dirty="0">
                <a:latin typeface="Times New Roman" panose="02020603050405020304" pitchFamily="18" charset="0"/>
                <a:ea typeface="Tahoma" panose="020B0604030504040204" pitchFamily="34" charset="0"/>
                <a:cs typeface="Times New Roman" panose="02020603050405020304" pitchFamily="18" charset="0"/>
              </a:rPr>
              <a:t>, en donde se analiza la relevancia de las características económicas y sociodemográficas de los hogares en el cambio en la pobreza monetaria, a partir de la combinación de la metodología anterior con la estrategia de reponderación planteada en DiNardo </a:t>
            </a:r>
            <a:r>
              <a:rPr lang="es-AR" sz="1000" i="1" dirty="0">
                <a:latin typeface="Times New Roman" panose="02020603050405020304" pitchFamily="18" charset="0"/>
                <a:ea typeface="Tahoma" panose="020B0604030504040204" pitchFamily="34" charset="0"/>
                <a:cs typeface="Times New Roman" panose="02020603050405020304" pitchFamily="18" charset="0"/>
              </a:rPr>
              <a:t>et al.</a:t>
            </a:r>
            <a:r>
              <a:rPr lang="es-AR" sz="1000" dirty="0">
                <a:latin typeface="Times New Roman" panose="02020603050405020304" pitchFamily="18" charset="0"/>
                <a:ea typeface="Tahoma" panose="020B0604030504040204" pitchFamily="34" charset="0"/>
                <a:cs typeface="Times New Roman" panose="02020603050405020304" pitchFamily="18" charset="0"/>
              </a:rPr>
              <a:t> (1996).</a:t>
            </a:r>
          </a:p>
          <a:p>
            <a:pPr marL="284400" indent="-28440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A continuación, se describe cada parte de la metodología.</a:t>
            </a:r>
          </a:p>
        </p:txBody>
      </p:sp>
      <p:sp>
        <p:nvSpPr>
          <p:cNvPr id="39" name="object 47">
            <a:extLst>
              <a:ext uri="{FF2B5EF4-FFF2-40B4-BE49-F238E27FC236}">
                <a16:creationId xmlns:a16="http://schemas.microsoft.com/office/drawing/2014/main" id="{BC8039A3-8EBD-6D2C-F87A-DDDB6498EF35}"/>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376EB97B-6255-3806-B3F8-EEAD601A7024}"/>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C7397F1F-4C2C-616E-59DF-163A39671B2E}"/>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69EBC548-038F-3274-75A1-201BF7D59D81}"/>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10 / </a:t>
            </a:r>
            <a:r>
              <a:rPr lang="es-AR" sz="600" spc="195" dirty="0"/>
              <a:t>19</a:t>
            </a:r>
            <a:endParaRPr spc="75" dirty="0"/>
          </a:p>
        </p:txBody>
      </p:sp>
    </p:spTree>
    <p:extLst>
      <p:ext uri="{BB962C8B-B14F-4D97-AF65-F5344CB8AC3E}">
        <p14:creationId xmlns:p14="http://schemas.microsoft.com/office/powerpoint/2010/main" val="205043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xEl>
                                              <p:pRg st="2" end="2"/>
                                            </p:txEl>
                                          </p:spTgt>
                                        </p:tgtEl>
                                        <p:attrNameLst>
                                          <p:attrName>style.visibility</p:attrName>
                                        </p:attrNameLst>
                                      </p:cBhvr>
                                      <p:to>
                                        <p:strVal val="visible"/>
                                      </p:to>
                                    </p:set>
                                    <p:animEffect transition="in" filter="fade">
                                      <p:cBhvr>
                                        <p:cTn id="12" dur="500"/>
                                        <p:tgtEl>
                                          <p:spTgt spid="3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xEl>
                                              <p:pRg st="3" end="3"/>
                                            </p:txEl>
                                          </p:spTgt>
                                        </p:tgtEl>
                                        <p:attrNameLst>
                                          <p:attrName>style.visibility</p:attrName>
                                        </p:attrNameLst>
                                      </p:cBhvr>
                                      <p:to>
                                        <p:strVal val="visible"/>
                                      </p:to>
                                    </p:set>
                                    <p:animEffect transition="in" filter="fade">
                                      <p:cBhvr>
                                        <p:cTn id="17" dur="500"/>
                                        <p:tgtEl>
                                          <p:spTgt spid="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sociodemográficos</a:t>
            </a: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400657"/>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Los cambios en la pobreza monetaria es posible descomponerlos en factores asociados a los cambios de los ingresos, a los cambios distributivos y a los cambios de la línea de pobreza.</a:t>
                </a:r>
              </a:p>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En particular, el indicador de pobreza</a:t>
                </a:r>
                <a:r>
                  <a:rPr lang="es-AR" sz="1000" dirty="0">
                    <a:effectLst/>
                    <a:ea typeface="Calibri" panose="020F0502020204030204" pitchFamily="34" charset="0"/>
                    <a:cs typeface="Times New Roman" panose="02020603050405020304" pitchFamily="18" charset="0"/>
                  </a:rPr>
                  <a:t> </a:t>
                </a:r>
                <a14:m>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oMath>
                </a14:m>
                <a:r>
                  <a:rPr lang="es-AR" sz="1000" dirty="0">
                    <a:effectLst/>
                    <a:latin typeface="Times New Roman" panose="02020603050405020304" pitchFamily="18" charset="0"/>
                    <a:ea typeface="Calibri" panose="020F0502020204030204" pitchFamily="34" charset="0"/>
                  </a:rPr>
                  <a:t> en un período </a:t>
                </a:r>
                <a14:m>
                  <m:oMath xmlns:m="http://schemas.openxmlformats.org/officeDocument/2006/math">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puede expresarse como:</a:t>
                </a:r>
              </a:p>
              <a:p>
                <a:pPr algn="ctr">
                  <a:spcAft>
                    <a:spcPts val="400"/>
                  </a:spcAft>
                </a:pPr>
                <a14:m>
                  <m:oMath xmlns:m="http://schemas.openxmlformats.org/officeDocument/2006/math">
                    <m:sSub>
                      <m:sSubPr>
                        <m:ctrlPr>
                          <a:rPr lang="es-AR" sz="10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𝐹</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𝑡</m:t>
                            </m:r>
                          </m:sub>
                        </m:sSub>
                      </m:e>
                    </m:d>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𝑡</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𝑡</m:t>
                            </m:r>
                          </m:sub>
                        </m:sSub>
                      </m:e>
                    </m:d>
                  </m:oMath>
                </a14:m>
                <a:r>
                  <a:rPr lang="es-AR" sz="1000" b="1" dirty="0">
                    <a:latin typeface="Times New Roman" panose="02020603050405020304" pitchFamily="18" charset="0"/>
                    <a:ea typeface="Calibri" panose="020F0502020204030204" pitchFamily="34" charset="0"/>
                    <a:cs typeface="Times New Roman" panose="02020603050405020304" pitchFamily="18" charset="0"/>
                  </a:rPr>
                  <a:t>	(4.1)</a:t>
                </a:r>
                <a:endParaRPr lang="es-AR" sz="1000" b="1"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Denotando </a:t>
                </a:r>
                <a14:m>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a:t>
                </a:r>
                <a:r>
                  <a:rPr lang="es-AR" sz="1000" dirty="0">
                    <a:latin typeface="Times New Roman" panose="02020603050405020304" pitchFamily="18" charset="0"/>
                    <a:cs typeface="Times New Roman" panose="02020603050405020304" pitchFamily="18" charset="0"/>
                  </a:rPr>
                  <a:t>al cambio en la pobreza entre el período 1 y 2 y dada la expresión (4.1), el cambio en el indicador de pobreza entre estos dos períodos viene dado por:</a:t>
                </a:r>
              </a:p>
              <a:p>
                <a:pPr algn="ctr">
                  <a:spcAft>
                    <a:spcPts val="400"/>
                  </a:spcAft>
                </a:pPr>
                <a14:m>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b="0" i="1" smtClean="0">
                                <a:latin typeface="Cambria Math" panose="02040503050406030204" pitchFamily="18" charset="0"/>
                                <a:ea typeface="Calibri" panose="020F0502020204030204" pitchFamily="34" charset="0"/>
                                <a:cs typeface="Times New Roman" panose="02020603050405020304" pitchFamily="18" charset="0"/>
                              </a:rPr>
                              <m:t>2</m:t>
                            </m:r>
                          </m:sub>
                        </m:sSub>
                      </m:e>
                    </m:d>
                    <m:r>
                      <a:rPr lang="es-AR" sz="1000" i="1">
                        <a:effectLst/>
                        <a:latin typeface="Cambria Math" panose="02040503050406030204" pitchFamily="18" charset="0"/>
                        <a:ea typeface="Calibri" panose="020F0502020204030204" pitchFamily="34" charset="0"/>
                        <a:cs typeface="Times New Roman" panose="02020603050405020304" pitchFamily="18" charset="0"/>
                      </a:rPr>
                      <m:t>−</m:t>
                    </m:r>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𝜇</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b="0" i="1" smtClean="0">
                                <a:latin typeface="Cambria Math" panose="02040503050406030204" pitchFamily="18" charset="0"/>
                                <a:ea typeface="Calibri" panose="020F0502020204030204" pitchFamily="34" charset="0"/>
                                <a:cs typeface="Times New Roman" panose="02020603050405020304" pitchFamily="18" charset="0"/>
                              </a:rPr>
                              <m:t>𝑧</m:t>
                            </m:r>
                          </m:e>
                          <m:sub>
                            <m:r>
                              <a:rPr lang="es-AR" sz="1000" i="1">
                                <a:latin typeface="Cambria Math" panose="02040503050406030204" pitchFamily="18" charset="0"/>
                                <a:ea typeface="Calibri" panose="020F0502020204030204" pitchFamily="34" charset="0"/>
                                <a:cs typeface="Times New Roman" panose="02020603050405020304" pitchFamily="18" charset="0"/>
                              </a:rPr>
                              <m:t>1</m:t>
                            </m:r>
                          </m:sub>
                        </m:sSub>
                      </m:e>
                    </m:d>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a:t>
                </a:r>
                <a:r>
                  <a:rPr lang="es-AR" sz="1000" dirty="0">
                    <a:latin typeface="Times New Roman" panose="02020603050405020304" pitchFamily="18" charset="0"/>
                    <a:ea typeface="Calibri" panose="020F0502020204030204" pitchFamily="34" charset="0"/>
                    <a:cs typeface="Times New Roman" panose="02020603050405020304" pitchFamily="18" charset="0"/>
                  </a:rPr>
                  <a:t> </a:t>
                </a:r>
                <a:r>
                  <a:rPr lang="es-AR" sz="1000" b="1" dirty="0">
                    <a:latin typeface="Times New Roman" panose="02020603050405020304" pitchFamily="18" charset="0"/>
                    <a:ea typeface="Calibri" panose="020F0502020204030204" pitchFamily="34" charset="0"/>
                    <a:cs typeface="Times New Roman" panose="02020603050405020304" pitchFamily="18" charset="0"/>
                  </a:rPr>
                  <a:t>(4.2)</a:t>
                </a:r>
                <a:endParaRPr lang="es-AR" sz="1000" b="1" dirty="0">
                  <a:latin typeface="Times New Roman" panose="02020603050405020304" pitchFamily="18" charset="0"/>
                  <a:ea typeface="Tahoma" panose="020B0604030504040204" pitchFamily="34" charset="0"/>
                  <a:cs typeface="Times New Roman" panose="02020603050405020304" pitchFamily="18" charset="0"/>
                </a:endParaRPr>
              </a:p>
              <a:p>
                <a:pPr algn="ctr">
                  <a:spcAft>
                    <a:spcPts val="400"/>
                  </a:spcAft>
                </a:pPr>
                <a14:m>
                  <m:oMath xmlns:m="http://schemas.openxmlformats.org/officeDocument/2006/math">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𝑃</m:t>
                    </m:r>
                    <m:r>
                      <a:rPr lang="es-AR" sz="10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𝐶</m:t>
                        </m:r>
                      </m:sub>
                    </m:sSub>
                    <m:r>
                      <a:rPr lang="es-AR" sz="1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0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000" i="1">
                            <a:effectLst/>
                            <a:latin typeface="Cambria Math" panose="02040503050406030204" pitchFamily="18" charset="0"/>
                            <a:ea typeface="Calibri" panose="020F0502020204030204" pitchFamily="34" charset="0"/>
                            <a:cs typeface="Times New Roman" panose="02020603050405020304" pitchFamily="18" charset="0"/>
                          </a:rPr>
                          <m:t>𝑅</m:t>
                        </m:r>
                      </m:sub>
                    </m:sSub>
                    <m:r>
                      <a:rPr lang="es-AR" sz="10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000" i="1">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latin typeface="Cambria Math" panose="02040503050406030204" pitchFamily="18" charset="0"/>
                            <a:ea typeface="Calibri" panose="020F0502020204030204" pitchFamily="34" charset="0"/>
                            <a:cs typeface="Times New Roman" panose="02020603050405020304" pitchFamily="18" charset="0"/>
                          </a:rPr>
                        </m:ctrlPr>
                      </m:sSubPr>
                      <m:e>
                        <m:r>
                          <a:rPr lang="es-AR" sz="1000" i="1">
                            <a:latin typeface="Cambria Math" panose="02040503050406030204" pitchFamily="18" charset="0"/>
                            <a:ea typeface="Calibri" panose="020F0502020204030204" pitchFamily="34" charset="0"/>
                            <a:cs typeface="Times New Roman" panose="02020603050405020304" pitchFamily="18" charset="0"/>
                          </a:rPr>
                          <m:t>𝑃</m:t>
                        </m:r>
                      </m:e>
                      <m:sub>
                        <m:r>
                          <a:rPr lang="es-AR" sz="1000" b="0" i="1" smtClean="0">
                            <a:latin typeface="Cambria Math" panose="02040503050406030204" pitchFamily="18" charset="0"/>
                            <a:ea typeface="Calibri" panose="020F0502020204030204" pitchFamily="34" charset="0"/>
                            <a:cs typeface="Times New Roman" panose="02020603050405020304" pitchFamily="18" charset="0"/>
                          </a:rPr>
                          <m:t>𝐿</m:t>
                        </m:r>
                      </m:sub>
                    </m:sSub>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a:t>
                </a:r>
                <a:r>
                  <a:rPr lang="es-AR" sz="1000" dirty="0">
                    <a:latin typeface="Times New Roman" panose="02020603050405020304" pitchFamily="18" charset="0"/>
                    <a:ea typeface="Calibri" panose="020F0502020204030204" pitchFamily="34" charset="0"/>
                    <a:cs typeface="Times New Roman" panose="02020603050405020304" pitchFamily="18" charset="0"/>
                  </a:rPr>
                  <a:t> </a:t>
                </a:r>
                <a:r>
                  <a:rPr lang="es-AR" sz="1000" b="1" dirty="0">
                    <a:latin typeface="Times New Roman" panose="02020603050405020304" pitchFamily="18" charset="0"/>
                    <a:ea typeface="Calibri" panose="020F0502020204030204" pitchFamily="34" charset="0"/>
                    <a:cs typeface="Times New Roman" panose="02020603050405020304" pitchFamily="18" charset="0"/>
                  </a:rPr>
                  <a:t>(4.3)</a:t>
                </a:r>
              </a:p>
              <a:p>
                <a:pPr marL="284400" indent="-28440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Esta descomposición se llevará a cabo mediante la metodología de Kolenikov y Shorrocks (2005) -KS-.</a:t>
                </a:r>
              </a:p>
            </p:txBody>
          </p:sp>
        </mc:Choice>
        <mc:Fallback xmlns="">
          <p:sp>
            <p:nvSpPr>
              <p:cNvPr id="37" name="CuadroTexto 36">
                <a:extLst>
                  <a:ext uri="{FF2B5EF4-FFF2-40B4-BE49-F238E27FC236}">
                    <a16:creationId xmlns:a16="http://schemas.microsoft.com/office/drawing/2014/main" id="{A62DBF5F-219F-4822-A863-892FB85239E6}"/>
                  </a:ext>
                </a:extLst>
              </p:cNvPr>
              <p:cNvSpPr txBox="1">
                <a:spLocks noRot="1" noChangeAspect="1" noMove="1" noResize="1" noEditPoints="1" noAdjustHandles="1" noChangeArrowheads="1" noChangeShapeType="1" noTextEdit="1"/>
              </p:cNvSpPr>
              <p:nvPr/>
            </p:nvSpPr>
            <p:spPr>
              <a:xfrm>
                <a:off x="151353" y="587375"/>
                <a:ext cx="4320000" cy="2400657"/>
              </a:xfrm>
              <a:prstGeom prst="rect">
                <a:avLst/>
              </a:prstGeom>
              <a:blipFill>
                <a:blip r:embed="rId3"/>
                <a:stretch>
                  <a:fillRect b="-508"/>
                </a:stretch>
              </a:blipFill>
            </p:spPr>
            <p:txBody>
              <a:bodyPr/>
              <a:lstStyle/>
              <a:p>
                <a:r>
                  <a:rPr lang="es-AR">
                    <a:noFill/>
                  </a:rPr>
                  <a:t> </a:t>
                </a:r>
              </a:p>
            </p:txBody>
          </p:sp>
        </mc:Fallback>
      </mc:AlternateContent>
      <p:sp>
        <p:nvSpPr>
          <p:cNvPr id="43" name="object 47">
            <a:extLst>
              <a:ext uri="{FF2B5EF4-FFF2-40B4-BE49-F238E27FC236}">
                <a16:creationId xmlns:a16="http://schemas.microsoft.com/office/drawing/2014/main" id="{5386453E-4AD8-8C86-72E2-A19586455F5C}"/>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4" name="object 48">
            <a:extLst>
              <a:ext uri="{FF2B5EF4-FFF2-40B4-BE49-F238E27FC236}">
                <a16:creationId xmlns:a16="http://schemas.microsoft.com/office/drawing/2014/main" id="{FECC512D-BB83-EF2F-E24D-74787021E9AF}"/>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5" name="object 49">
            <a:extLst>
              <a:ext uri="{FF2B5EF4-FFF2-40B4-BE49-F238E27FC236}">
                <a16:creationId xmlns:a16="http://schemas.microsoft.com/office/drawing/2014/main" id="{10333E13-2D79-CC28-F3EF-165D2D419B42}"/>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6" name="object 51">
            <a:extLst>
              <a:ext uri="{FF2B5EF4-FFF2-40B4-BE49-F238E27FC236}">
                <a16:creationId xmlns:a16="http://schemas.microsoft.com/office/drawing/2014/main" id="{A76FC114-96A6-89DB-102B-C8FAC597C62F}"/>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11 / </a:t>
            </a:r>
            <a:r>
              <a:rPr lang="es-AR" sz="600" spc="195" dirty="0"/>
              <a:t>19</a:t>
            </a:r>
            <a:endParaRPr spc="75" dirty="0"/>
          </a:p>
        </p:txBody>
      </p:sp>
    </p:spTree>
    <p:extLst>
      <p:ext uri="{BB962C8B-B14F-4D97-AF65-F5344CB8AC3E}">
        <p14:creationId xmlns:p14="http://schemas.microsoft.com/office/powerpoint/2010/main" val="121805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7">
                                            <p:txEl>
                                              <p:pRg st="2" end="2"/>
                                            </p:txEl>
                                          </p:spTgt>
                                        </p:tgtEl>
                                        <p:attrNameLst>
                                          <p:attrName>style.visibility</p:attrName>
                                        </p:attrNameLst>
                                      </p:cBhvr>
                                      <p:to>
                                        <p:strVal val="visible"/>
                                      </p:to>
                                    </p:set>
                                    <p:animEffect transition="in" filter="fade">
                                      <p:cBhvr>
                                        <p:cTn id="10" dur="500"/>
                                        <p:tgtEl>
                                          <p:spTgt spid="3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
                                            <p:txEl>
                                              <p:pRg st="3" end="3"/>
                                            </p:txEl>
                                          </p:spTgt>
                                        </p:tgtEl>
                                        <p:attrNameLst>
                                          <p:attrName>style.visibility</p:attrName>
                                        </p:attrNameLst>
                                      </p:cBhvr>
                                      <p:to>
                                        <p:strVal val="visible"/>
                                      </p:to>
                                    </p:set>
                                    <p:animEffect transition="in" filter="fade">
                                      <p:cBhvr>
                                        <p:cTn id="15" dur="500"/>
                                        <p:tgtEl>
                                          <p:spTgt spid="37">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7">
                                            <p:txEl>
                                              <p:pRg st="4" end="4"/>
                                            </p:txEl>
                                          </p:spTgt>
                                        </p:tgtEl>
                                        <p:attrNameLst>
                                          <p:attrName>style.visibility</p:attrName>
                                        </p:attrNameLst>
                                      </p:cBhvr>
                                      <p:to>
                                        <p:strVal val="visible"/>
                                      </p:to>
                                    </p:set>
                                    <p:animEffect transition="in" filter="fade">
                                      <p:cBhvr>
                                        <p:cTn id="18" dur="500"/>
                                        <p:tgtEl>
                                          <p:spTgt spid="37">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7">
                                            <p:txEl>
                                              <p:pRg st="5" end="5"/>
                                            </p:txEl>
                                          </p:spTgt>
                                        </p:tgtEl>
                                        <p:attrNameLst>
                                          <p:attrName>style.visibility</p:attrName>
                                        </p:attrNameLst>
                                      </p:cBhvr>
                                      <p:to>
                                        <p:strVal val="visible"/>
                                      </p:to>
                                    </p:set>
                                    <p:animEffect transition="in" filter="fade">
                                      <p:cBhvr>
                                        <p:cTn id="21" dur="500"/>
                                        <p:tgtEl>
                                          <p:spTgt spid="37">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7">
                                            <p:txEl>
                                              <p:pRg st="6" end="6"/>
                                            </p:txEl>
                                          </p:spTgt>
                                        </p:tgtEl>
                                        <p:attrNameLst>
                                          <p:attrName>style.visibility</p:attrName>
                                        </p:attrNameLst>
                                      </p:cBhvr>
                                      <p:to>
                                        <p:strVal val="visible"/>
                                      </p:to>
                                    </p:set>
                                    <p:animEffect transition="in" filter="fade">
                                      <p:cBhvr>
                                        <p:cTn id="26" dur="500"/>
                                        <p:tgtEl>
                                          <p:spTgt spid="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sociodemográficos</a:t>
            </a: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819233"/>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v"/>
                </a:pPr>
                <a:r>
                  <a:rPr lang="es-AR" sz="900" dirty="0">
                    <a:latin typeface="Times New Roman" panose="02020603050405020304" pitchFamily="18" charset="0"/>
                    <a:ea typeface="Tahoma" panose="020B0604030504040204" pitchFamily="34" charset="0"/>
                    <a:cs typeface="Times New Roman" panose="02020603050405020304" pitchFamily="18" charset="0"/>
                  </a:rPr>
                  <a:t>En esta instancia, se combina la metodología anterior con la estrategia de reponderación planteada en DiNardo </a:t>
                </a:r>
                <a:r>
                  <a:rPr lang="es-AR" sz="900" i="1" dirty="0">
                    <a:latin typeface="Times New Roman" panose="02020603050405020304" pitchFamily="18" charset="0"/>
                    <a:ea typeface="Tahoma" panose="020B0604030504040204" pitchFamily="34" charset="0"/>
                    <a:cs typeface="Times New Roman" panose="02020603050405020304" pitchFamily="18" charset="0"/>
                  </a:rPr>
                  <a:t>et al.</a:t>
                </a:r>
                <a:r>
                  <a:rPr lang="es-AR" sz="900" dirty="0">
                    <a:latin typeface="Times New Roman" panose="02020603050405020304" pitchFamily="18" charset="0"/>
                    <a:ea typeface="Tahoma" panose="020B0604030504040204" pitchFamily="34" charset="0"/>
                    <a:cs typeface="Times New Roman" panose="02020603050405020304" pitchFamily="18" charset="0"/>
                  </a:rPr>
                  <a:t> (1996), lo cual permitiría descomponer los efectos crecimiento, redistribución y línea en </a:t>
                </a:r>
                <a:r>
                  <a:rPr lang="es-AR" sz="900" b="1" dirty="0">
                    <a:latin typeface="Times New Roman" panose="02020603050405020304" pitchFamily="18" charset="0"/>
                    <a:ea typeface="Tahoma" panose="020B0604030504040204" pitchFamily="34" charset="0"/>
                    <a:cs typeface="Times New Roman" panose="02020603050405020304" pitchFamily="18" charset="0"/>
                  </a:rPr>
                  <a:t>“efecto composición”</a:t>
                </a:r>
                <a:r>
                  <a:rPr lang="es-AR" sz="900" dirty="0">
                    <a:latin typeface="Times New Roman" panose="02020603050405020304" pitchFamily="18" charset="0"/>
                    <a:ea typeface="Tahoma" panose="020B0604030504040204" pitchFamily="34" charset="0"/>
                    <a:cs typeface="Times New Roman" panose="02020603050405020304" pitchFamily="18" charset="0"/>
                  </a:rPr>
                  <a:t> y </a:t>
                </a:r>
                <a:r>
                  <a:rPr lang="es-AR" sz="900" b="1" dirty="0">
                    <a:latin typeface="Times New Roman" panose="02020603050405020304" pitchFamily="18" charset="0"/>
                    <a:ea typeface="Tahoma" panose="020B0604030504040204" pitchFamily="34" charset="0"/>
                    <a:cs typeface="Times New Roman" panose="02020603050405020304" pitchFamily="18" charset="0"/>
                  </a:rPr>
                  <a:t>“efecto estructura”</a:t>
                </a:r>
                <a:r>
                  <a:rPr lang="es-AR" sz="900"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v"/>
                </a:pPr>
                <a:r>
                  <a:rPr lang="es-AR" sz="900" dirty="0">
                    <a:latin typeface="Times New Roman" panose="02020603050405020304" pitchFamily="18" charset="0"/>
                    <a:ea typeface="Tahoma" panose="020B0604030504040204" pitchFamily="34" charset="0"/>
                    <a:cs typeface="Times New Roman" panose="02020603050405020304" pitchFamily="18" charset="0"/>
                  </a:rPr>
                  <a:t>La distribución acumulada de </a:t>
                </a:r>
                <a14:m>
                  <m:oMath xmlns:m="http://schemas.openxmlformats.org/officeDocument/2006/math">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𝑌</m:t>
                    </m:r>
                  </m:oMath>
                </a14:m>
                <a:r>
                  <a:rPr lang="es-AR" sz="900" dirty="0">
                    <a:latin typeface="Times New Roman" panose="02020603050405020304" pitchFamily="18" charset="0"/>
                    <a:ea typeface="Tahoma" panose="020B0604030504040204" pitchFamily="34" charset="0"/>
                    <a:cs typeface="Times New Roman" panose="02020603050405020304" pitchFamily="18" charset="0"/>
                  </a:rPr>
                  <a:t>, condicionada a cada período, se puede escribir como:</a:t>
                </a:r>
              </a:p>
              <a:p>
                <a:pPr algn="ctr">
                  <a:spcAft>
                    <a:spcPts val="400"/>
                  </a:spcAft>
                </a:pPr>
                <a14:m>
                  <m:oMath xmlns:m="http://schemas.openxmlformats.org/officeDocument/2006/math">
                    <m:sSub>
                      <m:sSubPr>
                        <m:ctrlP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undOvr"/>
                        <m:subHide m:val="on"/>
                        <m:supHide m:val="on"/>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naryPr>
                      <m:sub/>
                      <m:sup/>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𝐹</m:t>
                            </m:r>
                          </m:e>
                          <m: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𝑘</m:t>
                            </m:r>
                          </m:sub>
                        </m:sSub>
                      </m:e>
                    </m:nary>
                  </m:oMath>
                </a14:m>
                <a:r>
                  <a:rPr lang="es-AR" sz="900" b="1" dirty="0">
                    <a:latin typeface="Times New Roman" panose="02020603050405020304" pitchFamily="18" charset="0"/>
                    <a:ea typeface="Tahoma" panose="020B0604030504040204" pitchFamily="34" charset="0"/>
                    <a:cs typeface="Times New Roman" panose="02020603050405020304" pitchFamily="18" charset="0"/>
                  </a:rPr>
                  <a:t>	(4.7)</a:t>
                </a:r>
              </a:p>
              <a:p>
                <a:pPr marL="284400" indent="-284400" algn="just">
                  <a:spcAft>
                    <a:spcPts val="400"/>
                  </a:spcAft>
                  <a:buFont typeface="Wingdings" panose="05000000000000000000" pitchFamily="2" charset="2"/>
                  <a:buChar char="v"/>
                </a:pPr>
                <a:r>
                  <a:rPr lang="es-AR" sz="900" dirty="0">
                    <a:latin typeface="Times New Roman" panose="02020603050405020304" pitchFamily="18" charset="0"/>
                    <a:ea typeface="Tahoma" panose="020B0604030504040204" pitchFamily="34" charset="0"/>
                    <a:cs typeface="Times New Roman" panose="02020603050405020304" pitchFamily="18" charset="0"/>
                  </a:rPr>
                  <a:t>El cambio en el indicador de pobreza </a:t>
                </a:r>
                <a14:m>
                  <m:oMath xmlns:m="http://schemas.openxmlformats.org/officeDocument/2006/math">
                    <m:r>
                      <a:rPr lang="es-AR" sz="900" b="0" i="1" smtClean="0">
                        <a:latin typeface="Cambria Math" panose="02040503050406030204" pitchFamily="18" charset="0"/>
                        <a:ea typeface="Tahoma" panose="020B0604030504040204" pitchFamily="34" charset="0"/>
                        <a:cs typeface="Times New Roman" panose="02020603050405020304" pitchFamily="18" charset="0"/>
                      </a:rPr>
                      <m:t>𝑃</m:t>
                    </m:r>
                  </m:oMath>
                </a14:m>
                <a:r>
                  <a:rPr lang="es-AR" sz="900" dirty="0">
                    <a:latin typeface="Times New Roman" panose="02020603050405020304" pitchFamily="18" charset="0"/>
                    <a:ea typeface="Tahoma" panose="020B0604030504040204" pitchFamily="34" charset="0"/>
                    <a:cs typeface="Times New Roman" panose="02020603050405020304" pitchFamily="18" charset="0"/>
                  </a:rPr>
                  <a:t> entre los períodos 1 y 2 se puede estimar empleando la distribución acumulada condicional de </a:t>
                </a:r>
                <a14:m>
                  <m:oMath xmlns:m="http://schemas.openxmlformats.org/officeDocument/2006/math">
                    <m:r>
                      <a:rPr lang="es-AR" sz="900" i="1">
                        <a:latin typeface="Cambria Math" panose="02040503050406030204" pitchFamily="18" charset="0"/>
                        <a:ea typeface="Times New Roman" panose="02020603050405020304" pitchFamily="18" charset="0"/>
                        <a:cs typeface="Times New Roman" panose="02020603050405020304" pitchFamily="18" charset="0"/>
                      </a:rPr>
                      <m:t>𝑌</m:t>
                    </m:r>
                  </m:oMath>
                </a14:m>
                <a:r>
                  <a:rPr lang="es-AR" sz="900" dirty="0">
                    <a:latin typeface="Times New Roman" panose="02020603050405020304" pitchFamily="18" charset="0"/>
                    <a:ea typeface="Tahoma" panose="020B0604030504040204" pitchFamily="34" charset="0"/>
                    <a:cs typeface="Times New Roman" panose="02020603050405020304" pitchFamily="18" charset="0"/>
                  </a:rPr>
                  <a:t>:</a:t>
                </a:r>
              </a:p>
              <a:p>
                <a:pPr algn="ctr">
                  <a:spcAft>
                    <a:spcPts val="400"/>
                  </a:spcAft>
                </a:pPr>
                <a14:m>
                  <m:oMath xmlns:m="http://schemas.openxmlformats.org/officeDocument/2006/math">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d>
                  </m:oMath>
                </a14:m>
                <a:r>
                  <a:rPr lang="es-AR" sz="900" dirty="0">
                    <a:latin typeface="Calibri" panose="020F0502020204030204" pitchFamily="34" charset="0"/>
                    <a:ea typeface="Tahoma" panose="020B0604030504040204" pitchFamily="34" charset="0"/>
                    <a:cs typeface="Times New Roman" panose="02020603050405020304" pitchFamily="18" charset="0"/>
                  </a:rPr>
                  <a:t>	</a:t>
                </a:r>
                <a:r>
                  <a:rPr lang="es-AR" sz="900" b="1" dirty="0">
                    <a:latin typeface="Times New Roman" panose="02020603050405020304" pitchFamily="18" charset="0"/>
                    <a:ea typeface="Tahoma" panose="020B0604030504040204" pitchFamily="34" charset="0"/>
                    <a:cs typeface="Times New Roman" panose="02020603050405020304" pitchFamily="18" charset="0"/>
                  </a:rPr>
                  <a:t>(4.8)</a:t>
                </a:r>
              </a:p>
              <a:p>
                <a:pPr marL="284400" indent="-284400" algn="just">
                  <a:spcAft>
                    <a:spcPts val="400"/>
                  </a:spcAft>
                  <a:buFont typeface="Wingdings" panose="05000000000000000000" pitchFamily="2" charset="2"/>
                  <a:buChar char="v"/>
                </a:pPr>
                <a:r>
                  <a:rPr lang="es-AR" sz="900" dirty="0">
                    <a:latin typeface="Times New Roman" panose="02020603050405020304" pitchFamily="18" charset="0"/>
                    <a:ea typeface="Tahoma" panose="020B0604030504040204" pitchFamily="34" charset="0"/>
                    <a:cs typeface="Times New Roman" panose="02020603050405020304" pitchFamily="18" charset="0"/>
                  </a:rPr>
                  <a:t>Una vez obtenido el </a:t>
                </a:r>
                <a:r>
                  <a:rPr lang="es-AR" sz="900" b="1" dirty="0">
                    <a:latin typeface="Times New Roman" panose="02020603050405020304" pitchFamily="18" charset="0"/>
                    <a:ea typeface="Tahoma" panose="020B0604030504040204" pitchFamily="34" charset="0"/>
                    <a:cs typeface="Times New Roman" panose="02020603050405020304" pitchFamily="18" charset="0"/>
                  </a:rPr>
                  <a:t>escenario contrafactual</a:t>
                </a:r>
                <a:r>
                  <a:rPr lang="es-AR" sz="900" dirty="0">
                    <a:latin typeface="Times New Roman" panose="02020603050405020304" pitchFamily="18" charset="0"/>
                    <a:ea typeface="Tahoma" panose="020B0604030504040204" pitchFamily="34" charset="0"/>
                    <a:cs typeface="Times New Roman" panose="02020603050405020304" pitchFamily="18" charset="0"/>
                  </a:rPr>
                  <a:t>, el cambio en el indicador de pobreza se descompone de la siguiente manera:</a:t>
                </a:r>
              </a:p>
              <a:p>
                <a:pPr algn="ctr">
                  <a:spcAft>
                    <a:spcPts val="400"/>
                  </a:spcAft>
                </a:pPr>
                <a14:m>
                  <m:oMath xmlns:m="http://schemas.openxmlformats.org/officeDocument/2006/math">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𝐹</m:t>
                                </m:r>
                              </m:e>
                              <m:sub>
                                <m:sSubSup>
                                  <m:sSubSup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𝑐𝑓</m:t>
                                    </m:r>
                                  </m:sup>
                                </m:sSubSup>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e>
                    </m:d>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𝐹</m:t>
                                </m:r>
                              </m:e>
                              <m:sub>
                                <m:sSubSup>
                                  <m:sSubSup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𝑐𝑓</m:t>
                                    </m:r>
                                  </m:sup>
                                </m:sSubSup>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𝐹</m:t>
                                </m:r>
                              </m:e>
                              <m:sub>
                                <m:sSub>
                                  <m:sSubPr>
                                    <m:ctrlPr>
                                      <a:rPr lang="es-AR" sz="9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900" i="1" smtClean="0">
                                    <a:effectLst/>
                                    <a:latin typeface="Cambria Math" panose="02040503050406030204" pitchFamily="18" charset="0"/>
                                    <a:ea typeface="Times New Roman" panose="02020603050405020304" pitchFamily="18" charset="0"/>
                                    <a:cs typeface="Times New Roman" panose="02020603050405020304" pitchFamily="18" charset="0"/>
                                  </a:rPr>
                                  <m:t>=1</m:t>
                                </m:r>
                              </m:sub>
                            </m:sSub>
                          </m:e>
                        </m:d>
                      </m:e>
                    </m:d>
                  </m:oMath>
                </a14:m>
                <a:r>
                  <a:rPr lang="es-AR" sz="900" dirty="0">
                    <a:latin typeface="Times New Roman" panose="02020603050405020304" pitchFamily="18" charset="0"/>
                    <a:ea typeface="Tahoma" panose="020B0604030504040204" pitchFamily="34" charset="0"/>
                    <a:cs typeface="Times New Roman" panose="02020603050405020304" pitchFamily="18" charset="0"/>
                  </a:rPr>
                  <a:t>,</a:t>
                </a:r>
                <a:r>
                  <a:rPr lang="es-AR" sz="900" b="1" dirty="0">
                    <a:latin typeface="Times New Roman" panose="02020603050405020304" pitchFamily="18" charset="0"/>
                    <a:ea typeface="Tahoma" panose="020B0604030504040204" pitchFamily="34" charset="0"/>
                    <a:cs typeface="Times New Roman" panose="02020603050405020304" pitchFamily="18" charset="0"/>
                  </a:rPr>
                  <a:t> (4.10)</a:t>
                </a:r>
                <a:endParaRPr lang="es-AR" sz="900" dirty="0">
                  <a:latin typeface="Times New Roman" panose="02020603050405020304" pitchFamily="18" charset="0"/>
                  <a:ea typeface="Tahoma" panose="020B0604030504040204" pitchFamily="34" charset="0"/>
                  <a:cs typeface="Times New Roman" panose="02020603050405020304" pitchFamily="18" charset="0"/>
                </a:endParaRPr>
              </a:p>
              <a:p>
                <a:pPr marL="284400" algn="just">
                  <a:spcAft>
                    <a:spcPts val="400"/>
                  </a:spcAft>
                </a:pPr>
                <a:r>
                  <a:rPr lang="es-AR" sz="900" dirty="0">
                    <a:latin typeface="Times New Roman" panose="02020603050405020304" pitchFamily="18" charset="0"/>
                    <a:ea typeface="Tahoma" panose="020B0604030504040204" pitchFamily="34" charset="0"/>
                    <a:cs typeface="Times New Roman" panose="02020603050405020304" pitchFamily="18" charset="0"/>
                  </a:rPr>
                  <a:t>donde </a:t>
                </a:r>
                <a14:m>
                  <m:oMath xmlns:m="http://schemas.openxmlformats.org/officeDocument/2006/math">
                    <m:r>
                      <a:rPr lang="es-AR" sz="900" i="1">
                        <a:latin typeface="Cambria Math" panose="02040503050406030204" pitchFamily="18" charset="0"/>
                      </a:rPr>
                      <m:t>𝑐𝑓</m:t>
                    </m:r>
                  </m:oMath>
                </a14:m>
                <a:r>
                  <a:rPr lang="es-AR" sz="900" dirty="0">
                    <a:latin typeface="Times New Roman" panose="02020603050405020304" pitchFamily="18" charset="0"/>
                    <a:cs typeface="Times New Roman" panose="02020603050405020304" pitchFamily="18" charset="0"/>
                  </a:rPr>
                  <a:t> indica “contrafactual” y representa el nivel de pobreza monetaria que hubiera resultado en </a:t>
                </a:r>
                <a14:m>
                  <m:oMath xmlns:m="http://schemas.openxmlformats.org/officeDocument/2006/math">
                    <m:r>
                      <a:rPr lang="es-AR" sz="900" i="1">
                        <a:latin typeface="Cambria Math" panose="02040503050406030204" pitchFamily="18" charset="0"/>
                      </a:rPr>
                      <m:t>𝑡</m:t>
                    </m:r>
                    <m:r>
                      <a:rPr lang="es-AR" sz="900" i="1">
                        <a:latin typeface="Cambria Math" panose="02040503050406030204" pitchFamily="18" charset="0"/>
                      </a:rPr>
                      <m:t>=1</m:t>
                    </m:r>
                  </m:oMath>
                </a14:m>
                <a:r>
                  <a:rPr lang="es-AR" sz="900" dirty="0">
                    <a:latin typeface="Times New Roman" panose="02020603050405020304" pitchFamily="18" charset="0"/>
                    <a:cs typeface="Times New Roman" panose="02020603050405020304" pitchFamily="18" charset="0"/>
                  </a:rPr>
                  <a:t> si los hogares tuvieran las características de los hogares en </a:t>
                </a:r>
                <a14:m>
                  <m:oMath xmlns:m="http://schemas.openxmlformats.org/officeDocument/2006/math">
                    <m:r>
                      <a:rPr lang="es-AR" sz="900" i="1">
                        <a:latin typeface="Cambria Math" panose="02040503050406030204" pitchFamily="18" charset="0"/>
                      </a:rPr>
                      <m:t>𝑡</m:t>
                    </m:r>
                    <m:r>
                      <a:rPr lang="es-AR" sz="900" i="1">
                        <a:latin typeface="Cambria Math" panose="02040503050406030204" pitchFamily="18" charset="0"/>
                      </a:rPr>
                      <m:t>=2</m:t>
                    </m:r>
                  </m:oMath>
                </a14:m>
                <a:r>
                  <a:rPr lang="es-AR" sz="900" dirty="0">
                    <a:latin typeface="Times New Roman" panose="02020603050405020304" pitchFamily="18" charset="0"/>
                    <a:ea typeface="Tahoma" panose="020B0604030504040204" pitchFamily="34" charset="0"/>
                    <a:cs typeface="Times New Roman" panose="02020603050405020304" pitchFamily="18" charset="0"/>
                  </a:rPr>
                  <a:t>.</a:t>
                </a:r>
              </a:p>
            </p:txBody>
          </p:sp>
        </mc:Choice>
        <mc:Fallback xmlns="">
          <p:sp>
            <p:nvSpPr>
              <p:cNvPr id="37" name="CuadroTexto 36">
                <a:extLst>
                  <a:ext uri="{FF2B5EF4-FFF2-40B4-BE49-F238E27FC236}">
                    <a16:creationId xmlns:a16="http://schemas.microsoft.com/office/drawing/2014/main" id="{A62DBF5F-219F-4822-A863-892FB85239E6}"/>
                  </a:ext>
                </a:extLst>
              </p:cNvPr>
              <p:cNvSpPr txBox="1">
                <a:spLocks noRot="1" noChangeAspect="1" noMove="1" noResize="1" noEditPoints="1" noAdjustHandles="1" noChangeArrowheads="1" noChangeShapeType="1" noTextEdit="1"/>
              </p:cNvSpPr>
              <p:nvPr/>
            </p:nvSpPr>
            <p:spPr>
              <a:xfrm>
                <a:off x="151353" y="587375"/>
                <a:ext cx="4320000" cy="2819233"/>
              </a:xfrm>
              <a:prstGeom prst="rect">
                <a:avLst/>
              </a:prstGeom>
              <a:blipFill>
                <a:blip r:embed="rId3"/>
                <a:stretch>
                  <a:fillRect/>
                </a:stretch>
              </a:blipFill>
            </p:spPr>
            <p:txBody>
              <a:bodyPr/>
              <a:lstStyle/>
              <a:p>
                <a:r>
                  <a:rPr lang="es-AR">
                    <a:noFill/>
                  </a:rPr>
                  <a:t> </a:t>
                </a:r>
              </a:p>
            </p:txBody>
          </p:sp>
        </mc:Fallback>
      </mc:AlternateContent>
      <p:sp>
        <p:nvSpPr>
          <p:cNvPr id="39" name="object 47">
            <a:extLst>
              <a:ext uri="{FF2B5EF4-FFF2-40B4-BE49-F238E27FC236}">
                <a16:creationId xmlns:a16="http://schemas.microsoft.com/office/drawing/2014/main" id="{4DEC3E8F-C0AA-E535-FB8C-D937C3507EA1}"/>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F0524C76-7553-983C-A5D9-4AD3029FCE7A}"/>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E22BE92F-49B5-4F20-600F-1FA3D334100E}"/>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A1ECC05D-E0BA-C74B-B778-5DA2E0D0125D}"/>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12 / </a:t>
            </a:r>
            <a:r>
              <a:rPr lang="es-AR" sz="600" spc="195" dirty="0"/>
              <a:t>19</a:t>
            </a:r>
            <a:endParaRPr spc="75" dirty="0"/>
          </a:p>
        </p:txBody>
      </p:sp>
    </p:spTree>
    <p:extLst>
      <p:ext uri="{BB962C8B-B14F-4D97-AF65-F5344CB8AC3E}">
        <p14:creationId xmlns:p14="http://schemas.microsoft.com/office/powerpoint/2010/main" val="72213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7">
                                            <p:txEl>
                                              <p:pRg st="2" end="2"/>
                                            </p:txEl>
                                          </p:spTgt>
                                        </p:tgtEl>
                                        <p:attrNameLst>
                                          <p:attrName>style.visibility</p:attrName>
                                        </p:attrNameLst>
                                      </p:cBhvr>
                                      <p:to>
                                        <p:strVal val="visible"/>
                                      </p:to>
                                    </p:set>
                                    <p:animEffect transition="in" filter="fade">
                                      <p:cBhvr>
                                        <p:cTn id="10" dur="500"/>
                                        <p:tgtEl>
                                          <p:spTgt spid="3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
                                            <p:txEl>
                                              <p:pRg st="3" end="3"/>
                                            </p:txEl>
                                          </p:spTgt>
                                        </p:tgtEl>
                                        <p:attrNameLst>
                                          <p:attrName>style.visibility</p:attrName>
                                        </p:attrNameLst>
                                      </p:cBhvr>
                                      <p:to>
                                        <p:strVal val="visible"/>
                                      </p:to>
                                    </p:set>
                                    <p:animEffect transition="in" filter="fade">
                                      <p:cBhvr>
                                        <p:cTn id="15" dur="500"/>
                                        <p:tgtEl>
                                          <p:spTgt spid="37">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7">
                                            <p:txEl>
                                              <p:pRg st="4" end="4"/>
                                            </p:txEl>
                                          </p:spTgt>
                                        </p:tgtEl>
                                        <p:attrNameLst>
                                          <p:attrName>style.visibility</p:attrName>
                                        </p:attrNameLst>
                                      </p:cBhvr>
                                      <p:to>
                                        <p:strVal val="visible"/>
                                      </p:to>
                                    </p:set>
                                    <p:animEffect transition="in" filter="fade">
                                      <p:cBhvr>
                                        <p:cTn id="18" dur="500"/>
                                        <p:tgtEl>
                                          <p:spTgt spid="3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xEl>
                                              <p:pRg st="5" end="5"/>
                                            </p:txEl>
                                          </p:spTgt>
                                        </p:tgtEl>
                                        <p:attrNameLst>
                                          <p:attrName>style.visibility</p:attrName>
                                        </p:attrNameLst>
                                      </p:cBhvr>
                                      <p:to>
                                        <p:strVal val="visible"/>
                                      </p:to>
                                    </p:set>
                                    <p:animEffect transition="in" filter="fade">
                                      <p:cBhvr>
                                        <p:cTn id="23" dur="500"/>
                                        <p:tgtEl>
                                          <p:spTgt spid="37">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7">
                                            <p:txEl>
                                              <p:pRg st="6" end="6"/>
                                            </p:txEl>
                                          </p:spTgt>
                                        </p:tgtEl>
                                        <p:attrNameLst>
                                          <p:attrName>style.visibility</p:attrName>
                                        </p:attrNameLst>
                                      </p:cBhvr>
                                      <p:to>
                                        <p:strVal val="visible"/>
                                      </p:to>
                                    </p:set>
                                    <p:animEffect transition="in" filter="fade">
                                      <p:cBhvr>
                                        <p:cTn id="26" dur="500"/>
                                        <p:tgtEl>
                                          <p:spTgt spid="37">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7">
                                            <p:txEl>
                                              <p:pRg st="7" end="7"/>
                                            </p:txEl>
                                          </p:spTgt>
                                        </p:tgtEl>
                                        <p:attrNameLst>
                                          <p:attrName>style.visibility</p:attrName>
                                        </p:attrNameLst>
                                      </p:cBhvr>
                                      <p:to>
                                        <p:strVal val="visible"/>
                                      </p:to>
                                    </p:set>
                                    <p:animEffect transition="in" filter="fade">
                                      <p:cBhvr>
                                        <p:cTn id="29" dur="500"/>
                                        <p:tgtEl>
                                          <p:spTgt spid="3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sociodemográficos</a:t>
            </a: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365712"/>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v"/>
                </a:pPr>
                <a:r>
                  <a:rPr lang="es-AR" sz="1000" dirty="0">
                    <a:effectLst/>
                    <a:latin typeface="Times New Roman" panose="02020603050405020304" pitchFamily="18" charset="0"/>
                    <a:ea typeface="Times New Roman" panose="02020603050405020304" pitchFamily="18" charset="0"/>
                  </a:rPr>
                  <a:t>Para calcular el nivel de pobreza en el escenario contrafactual, </a:t>
                </a:r>
                <a:r>
                  <a:rPr lang="es-AR" sz="1000" dirty="0">
                    <a:effectLst/>
                    <a:latin typeface="Times New Roman" panose="02020603050405020304" pitchFamily="18" charset="0"/>
                    <a:ea typeface="Calibri" panose="020F0502020204030204" pitchFamily="34" charset="0"/>
                  </a:rPr>
                  <a:t>Fortin </a:t>
                </a:r>
                <a:r>
                  <a:rPr lang="es-AR" sz="1000" i="1" dirty="0">
                    <a:effectLst/>
                    <a:latin typeface="Times New Roman" panose="02020603050405020304" pitchFamily="18" charset="0"/>
                    <a:ea typeface="Calibri" panose="020F0502020204030204" pitchFamily="34" charset="0"/>
                  </a:rPr>
                  <a:t>et al</a:t>
                </a:r>
                <a:r>
                  <a:rPr lang="es-AR" sz="1000" dirty="0">
                    <a:effectLst/>
                    <a:latin typeface="Times New Roman" panose="02020603050405020304" pitchFamily="18" charset="0"/>
                    <a:ea typeface="Calibri" panose="020F0502020204030204" pitchFamily="34" charset="0"/>
                  </a:rPr>
                  <a:t>. (2011) proponen estimar la distribución contrafactual a través de una </a:t>
                </a:r>
                <a:r>
                  <a:rPr lang="es-AR" sz="1000" b="1" dirty="0">
                    <a:effectLst/>
                    <a:latin typeface="Times New Roman" panose="02020603050405020304" pitchFamily="18" charset="0"/>
                    <a:ea typeface="Calibri" panose="020F0502020204030204" pitchFamily="34" charset="0"/>
                  </a:rPr>
                  <a:t>estimación de reponderación semiparamétrica</a:t>
                </a:r>
                <a:r>
                  <a:rPr lang="es-AR" sz="1000"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Tahoma" panose="020B0604030504040204" pitchFamily="34" charset="0"/>
                    <a:cs typeface="Times New Roman" panose="02020603050405020304" pitchFamily="18" charset="0"/>
                  </a:rPr>
                  <a:t>El proceso consiste en multiplicar la </a:t>
                </a:r>
                <a:r>
                  <a:rPr lang="es-AR" sz="1000" dirty="0">
                    <a:effectLst/>
                    <a:latin typeface="Times New Roman" panose="02020603050405020304" pitchFamily="18" charset="0"/>
                    <a:ea typeface="Calibri" panose="020F0502020204030204" pitchFamily="34" charset="0"/>
                  </a:rPr>
                  <a:t>distribución de características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𝐹</m:t>
                        </m:r>
                      </m:e>
                      <m:sub>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s-AR" sz="1000" dirty="0">
                    <a:effectLst/>
                    <a:latin typeface="Times New Roman" panose="02020603050405020304" pitchFamily="18" charset="0"/>
                    <a:ea typeface="Times New Roman" panose="02020603050405020304" pitchFamily="18" charset="0"/>
                  </a:rPr>
                  <a:t> por un factor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𝛷</m:t>
                    </m:r>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e>
                    </m:d>
                  </m:oMath>
                </a14:m>
                <a:r>
                  <a:rPr lang="es-AR" sz="1000" dirty="0">
                    <a:effectLst/>
                    <a:latin typeface="Times New Roman" panose="02020603050405020304" pitchFamily="18" charset="0"/>
                    <a:ea typeface="Times New Roman" panose="02020603050405020304" pitchFamily="18" charset="0"/>
                  </a:rPr>
                  <a:t> con la intención de obtener una distribución de características igual a la del período 2,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𝐹</m:t>
                        </m:r>
                      </m:e>
                      <m:sub>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=2</m:t>
                        </m:r>
                      </m:sub>
                    </m:sSub>
                  </m:oMath>
                </a14:m>
                <a:r>
                  <a:rPr lang="es-AR" sz="1000" dirty="0">
                    <a:effectLst/>
                    <a:latin typeface="Times New Roman" panose="02020603050405020304" pitchFamily="18" charset="0"/>
                    <a:ea typeface="Times New Roman" panose="02020603050405020304" pitchFamily="18" charset="0"/>
                  </a:rPr>
                  <a:t>.</a:t>
                </a:r>
                <a:r>
                  <a:rPr lang="es-AR" sz="1000" dirty="0">
                    <a:effectLst/>
                    <a:latin typeface="Times New Roman" panose="02020603050405020304" pitchFamily="18" charset="0"/>
                    <a:ea typeface="Calibri" panose="020F0502020204030204" pitchFamily="34" charset="0"/>
                  </a:rPr>
                  <a:t> </a:t>
                </a:r>
                <a:r>
                  <a:rPr lang="es-AR" sz="1000" dirty="0">
                    <a:effectLst/>
                    <a:latin typeface="Times New Roman" panose="02020603050405020304" pitchFamily="18" charset="0"/>
                    <a:ea typeface="Times New Roman" panose="02020603050405020304" pitchFamily="18" charset="0"/>
                  </a:rPr>
                  <a:t>El </a:t>
                </a:r>
                <a:r>
                  <a:rPr lang="es-AR" sz="1000" b="1" dirty="0">
                    <a:effectLst/>
                    <a:latin typeface="Times New Roman" panose="02020603050405020304" pitchFamily="18" charset="0"/>
                    <a:ea typeface="Times New Roman" panose="02020603050405020304" pitchFamily="18" charset="0"/>
                  </a:rPr>
                  <a:t>ponderador </a:t>
                </a:r>
                <a14:m>
                  <m:oMath xmlns:m="http://schemas.openxmlformats.org/officeDocument/2006/math">
                    <m:r>
                      <a:rPr lang="es-AR" sz="1000" b="1" i="1">
                        <a:effectLst/>
                        <a:latin typeface="Cambria Math" panose="02040503050406030204" pitchFamily="18" charset="0"/>
                        <a:ea typeface="Times New Roman" panose="02020603050405020304" pitchFamily="18" charset="0"/>
                        <a:cs typeface="Times New Roman" panose="02020603050405020304" pitchFamily="18" charset="0"/>
                      </a:rPr>
                      <m:t>𝜱</m:t>
                    </m:r>
                    <m:r>
                      <a:rPr lang="es-AR" sz="1000" b="1"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b="1" i="1">
                        <a:effectLst/>
                        <a:latin typeface="Cambria Math" panose="02040503050406030204" pitchFamily="18" charset="0"/>
                        <a:ea typeface="Times New Roman" panose="02020603050405020304" pitchFamily="18" charset="0"/>
                        <a:cs typeface="Times New Roman" panose="02020603050405020304" pitchFamily="18" charset="0"/>
                      </a:rPr>
                      <m:t>𝑿</m:t>
                    </m:r>
                    <m:r>
                      <a:rPr lang="es-AR" sz="1000" b="1"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s-AR" sz="1000" dirty="0">
                    <a:effectLst/>
                    <a:latin typeface="Times New Roman" panose="02020603050405020304" pitchFamily="18" charset="0"/>
                    <a:ea typeface="Times New Roman" panose="02020603050405020304" pitchFamily="18" charset="0"/>
                  </a:rPr>
                  <a:t> es igual a:</a:t>
                </a:r>
              </a:p>
              <a:p>
                <a:pPr algn="ctr">
                  <a:spcAft>
                    <a:spcPts val="400"/>
                  </a:spcAft>
                </a:pPr>
                <a14:m>
                  <m:oMath xmlns:m="http://schemas.openxmlformats.org/officeDocument/2006/math">
                    <m:r>
                      <a:rPr lang="es-AR" sz="1000" i="1" smtClean="0">
                        <a:effectLst/>
                        <a:latin typeface="Cambria Math" panose="02040503050406030204" pitchFamily="18" charset="0"/>
                        <a:ea typeface="Times New Roman" panose="02020603050405020304" pitchFamily="18" charset="0"/>
                        <a:cs typeface="Times New Roman" panose="02020603050405020304" pitchFamily="18" charset="0"/>
                      </a:rPr>
                      <m:t>𝛷</m:t>
                    </m:r>
                    <m:r>
                      <a:rPr lang="es-AR" sz="10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smtClean="0">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1−</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m:t>
                        </m:r>
                      </m:num>
                      <m:den>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m:t>
                        </m:r>
                      </m:den>
                    </m:f>
                    <m:f>
                      <m:f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𝑝𝑟𝑜𝑏</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=2|</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1−</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𝑝𝑟𝑜𝑏</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=2|</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den>
                    </m:f>
                  </m:oMath>
                </a14:m>
                <a:r>
                  <a:rPr lang="es-AR" sz="1000" dirty="0">
                    <a:latin typeface="Times New Roman" panose="02020603050405020304" pitchFamily="18" charset="0"/>
                    <a:ea typeface="Tahoma" panose="020B0604030504040204" pitchFamily="34" charset="0"/>
                    <a:cs typeface="Times New Roman" panose="02020603050405020304" pitchFamily="18" charset="0"/>
                  </a:rPr>
                  <a:t>,	</a:t>
                </a:r>
                <a:r>
                  <a:rPr lang="es-AR" sz="1000" b="1" dirty="0">
                    <a:latin typeface="Times New Roman" panose="02020603050405020304" pitchFamily="18" charset="0"/>
                    <a:ea typeface="Tahoma" panose="020B0604030504040204" pitchFamily="34" charset="0"/>
                    <a:cs typeface="Times New Roman" panose="02020603050405020304" pitchFamily="18" charset="0"/>
                  </a:rPr>
                  <a:t>(4.11)</a:t>
                </a:r>
              </a:p>
              <a:p>
                <a:pPr marL="284400" algn="just">
                  <a:spcAft>
                    <a:spcPts val="400"/>
                  </a:spcAft>
                </a:pPr>
                <a:r>
                  <a:rPr lang="es-AR" sz="1000" dirty="0">
                    <a:effectLst/>
                    <a:latin typeface="Times New Roman" panose="02020603050405020304" pitchFamily="18" charset="0"/>
                    <a:ea typeface="Times New Roman" panose="02020603050405020304" pitchFamily="18" charset="0"/>
                    <a:cs typeface="Times New Roman" panose="02020603050405020304" pitchFamily="18" charset="0"/>
                  </a:rPr>
                  <a:t>donde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m:t>
                    </m:r>
                  </m:oMath>
                </a14:m>
                <a:r>
                  <a:rPr lang="es-AR" sz="1000" dirty="0">
                    <a:effectLst/>
                    <a:latin typeface="Times New Roman" panose="02020603050405020304" pitchFamily="18" charset="0"/>
                    <a:ea typeface="Times New Roman" panose="02020603050405020304" pitchFamily="18" charset="0"/>
                    <a:cs typeface="Times New Roman" panose="02020603050405020304" pitchFamily="18" charset="0"/>
                  </a:rPr>
                  <a:t> es la proporción de individuos en el período 2 y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𝑝𝑟𝑜𝑏</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=2 | </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s-AR" sz="1000" dirty="0">
                    <a:effectLst/>
                    <a:latin typeface="Times New Roman" panose="02020603050405020304" pitchFamily="18" charset="0"/>
                    <a:ea typeface="Times New Roman" panose="02020603050405020304" pitchFamily="18" charset="0"/>
                    <a:cs typeface="Times New Roman" panose="02020603050405020304" pitchFamily="18" charset="0"/>
                  </a:rPr>
                  <a:t> es la probabilidad condicional de pertenecer a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s-AR" sz="1000" dirty="0">
                    <a:effectLst/>
                    <a:latin typeface="Times New Roman" panose="02020603050405020304" pitchFamily="18" charset="0"/>
                    <a:ea typeface="Times New Roman" panose="02020603050405020304" pitchFamily="18" charset="0"/>
                    <a:cs typeface="Times New Roman" panose="02020603050405020304" pitchFamily="18" charset="0"/>
                  </a:rPr>
                  <a:t> dadas las características </a:t>
                </a:r>
                <a14:m>
                  <m:oMath xmlns:m="http://schemas.openxmlformats.org/officeDocument/2006/math">
                    <m:r>
                      <a:rPr lang="es-AR" sz="1000" i="1">
                        <a:effectLst/>
                        <a:latin typeface="Cambria Math" panose="02040503050406030204" pitchFamily="18" charset="0"/>
                        <a:ea typeface="Times New Roman" panose="02020603050405020304" pitchFamily="18" charset="0"/>
                        <a:cs typeface="Times New Roman" panose="02020603050405020304" pitchFamily="18" charset="0"/>
                      </a:rPr>
                      <m:t>𝑋</m:t>
                    </m:r>
                  </m:oMath>
                </a14:m>
                <a:r>
                  <a:rPr lang="es-AR" sz="1000" dirty="0">
                    <a:effectLst/>
                    <a:latin typeface="Times New Roman" panose="02020603050405020304" pitchFamily="18" charset="0"/>
                    <a:ea typeface="Times New Roman" panose="02020603050405020304" pitchFamily="18" charset="0"/>
                    <a:cs typeface="Times New Roman" panose="02020603050405020304" pitchFamily="18" charset="0"/>
                  </a:rPr>
                  <a:t>. Esa última probabilidad</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se calcula a partir de un modelo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logit</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donde la variable dependiente es una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dummy </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indicativa de la pertenencia del hogar al período 2</a:t>
                </a:r>
                <a:r>
                  <a:rPr lang="es-AR" sz="1000" dirty="0">
                    <a:latin typeface="Times New Roman" panose="02020603050405020304" pitchFamily="18" charset="0"/>
                    <a:ea typeface="Calibri" panose="020F0502020204030204" pitchFamily="34" charset="0"/>
                    <a:cs typeface="Times New Roman" panose="02020603050405020304" pitchFamily="18" charset="0"/>
                  </a:rPr>
                  <a:t>.</a:t>
                </a:r>
                <a:endParaRPr lang="es-AR" sz="1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7" name="CuadroTexto 36">
                <a:extLst>
                  <a:ext uri="{FF2B5EF4-FFF2-40B4-BE49-F238E27FC236}">
                    <a16:creationId xmlns:a16="http://schemas.microsoft.com/office/drawing/2014/main" id="{A62DBF5F-219F-4822-A863-892FB85239E6}"/>
                  </a:ext>
                </a:extLst>
              </p:cNvPr>
              <p:cNvSpPr txBox="1">
                <a:spLocks noRot="1" noChangeAspect="1" noMove="1" noResize="1" noEditPoints="1" noAdjustHandles="1" noChangeArrowheads="1" noChangeShapeType="1" noTextEdit="1"/>
              </p:cNvSpPr>
              <p:nvPr/>
            </p:nvSpPr>
            <p:spPr>
              <a:xfrm>
                <a:off x="151353" y="587375"/>
                <a:ext cx="4320000" cy="2365712"/>
              </a:xfrm>
              <a:prstGeom prst="rect">
                <a:avLst/>
              </a:prstGeom>
              <a:blipFill>
                <a:blip r:embed="rId3"/>
                <a:stretch>
                  <a:fillRect b="-515"/>
                </a:stretch>
              </a:blipFill>
            </p:spPr>
            <p:txBody>
              <a:bodyPr/>
              <a:lstStyle/>
              <a:p>
                <a:r>
                  <a:rPr lang="es-AR">
                    <a:noFill/>
                  </a:rPr>
                  <a:t> </a:t>
                </a:r>
              </a:p>
            </p:txBody>
          </p:sp>
        </mc:Fallback>
      </mc:AlternateContent>
      <p:sp>
        <p:nvSpPr>
          <p:cNvPr id="39" name="object 47">
            <a:extLst>
              <a:ext uri="{FF2B5EF4-FFF2-40B4-BE49-F238E27FC236}">
                <a16:creationId xmlns:a16="http://schemas.microsoft.com/office/drawing/2014/main" id="{33BB6A11-2E52-77E9-1634-3022A08E9061}"/>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83E38961-DA78-3496-503B-C13B7D39BE87}"/>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822B6D15-6F69-7B4C-28E2-27F1826D3ACB}"/>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DD9251C0-7032-DF43-D049-82A85B386AA2}"/>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13 / </a:t>
            </a:r>
            <a:r>
              <a:rPr lang="es-AR" sz="600" spc="195" dirty="0"/>
              <a:t>19</a:t>
            </a:r>
            <a:endParaRPr spc="75" dirty="0"/>
          </a:p>
        </p:txBody>
      </p:sp>
    </p:spTree>
    <p:extLst>
      <p:ext uri="{BB962C8B-B14F-4D97-AF65-F5344CB8AC3E}">
        <p14:creationId xmlns:p14="http://schemas.microsoft.com/office/powerpoint/2010/main" val="215261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7">
                                            <p:txEl>
                                              <p:pRg st="2" end="2"/>
                                            </p:txEl>
                                          </p:spTgt>
                                        </p:tgtEl>
                                        <p:attrNameLst>
                                          <p:attrName>style.visibility</p:attrName>
                                        </p:attrNameLst>
                                      </p:cBhvr>
                                      <p:to>
                                        <p:strVal val="visible"/>
                                      </p:to>
                                    </p:set>
                                    <p:animEffect transition="in" filter="fade">
                                      <p:cBhvr>
                                        <p:cTn id="10" dur="500"/>
                                        <p:tgtEl>
                                          <p:spTgt spid="3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7">
                                            <p:txEl>
                                              <p:pRg st="3" end="3"/>
                                            </p:txEl>
                                          </p:spTgt>
                                        </p:tgtEl>
                                        <p:attrNameLst>
                                          <p:attrName>style.visibility</p:attrName>
                                        </p:attrNameLst>
                                      </p:cBhvr>
                                      <p:to>
                                        <p:strVal val="visible"/>
                                      </p:to>
                                    </p:set>
                                    <p:animEffect transition="in" filter="fade">
                                      <p:cBhvr>
                                        <p:cTn id="13" dur="500"/>
                                        <p:tgtEl>
                                          <p:spTgt spid="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Metodología</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sociodemográficos</a:t>
            </a:r>
          </a:p>
        </p:txBody>
      </p:sp>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112694"/>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cs typeface="Times New Roman" panose="02020603050405020304" pitchFamily="18" charset="0"/>
                  </a:rPr>
                  <a:t>Una </a:t>
                </a:r>
                <a:r>
                  <a:rPr lang="es-AR" sz="1000">
                    <a:latin typeface="Times New Roman" panose="02020603050405020304" pitchFamily="18" charset="0"/>
                    <a:cs typeface="Times New Roman" panose="02020603050405020304" pitchFamily="18" charset="0"/>
                  </a:rPr>
                  <a:t>vez calculado </a:t>
                </a:r>
                <a:r>
                  <a:rPr lang="es-AR" sz="1000" dirty="0">
                    <a:latin typeface="Times New Roman" panose="02020603050405020304" pitchFamily="18" charset="0"/>
                    <a:cs typeface="Times New Roman" panose="02020603050405020304" pitchFamily="18" charset="0"/>
                  </a:rPr>
                  <a:t>el factor </a:t>
                </a:r>
                <a14:m>
                  <m:oMath xmlns:m="http://schemas.openxmlformats.org/officeDocument/2006/math">
                    <m:r>
                      <a:rPr lang="es-AR" sz="1000" i="1">
                        <a:latin typeface="Cambria Math" panose="02040503050406030204" pitchFamily="18" charset="0"/>
                      </a:rPr>
                      <m:t>𝛷</m:t>
                    </m:r>
                    <m:r>
                      <a:rPr lang="es-AR" sz="1000" i="1">
                        <a:latin typeface="Cambria Math" panose="02040503050406030204" pitchFamily="18" charset="0"/>
                      </a:rPr>
                      <m:t>(</m:t>
                    </m:r>
                    <m:r>
                      <a:rPr lang="es-AR" sz="1000" i="1">
                        <a:latin typeface="Cambria Math" panose="02040503050406030204" pitchFamily="18" charset="0"/>
                      </a:rPr>
                      <m:t>𝑋</m:t>
                    </m:r>
                    <m:r>
                      <a:rPr lang="es-AR" sz="1000" i="1" smtClean="0">
                        <a:latin typeface="Cambria Math" panose="02040503050406030204" pitchFamily="18" charset="0"/>
                      </a:rPr>
                      <m:t>)</m:t>
                    </m:r>
                  </m:oMath>
                </a14:m>
                <a:r>
                  <a:rPr lang="es-AR" sz="1000" dirty="0">
                    <a:latin typeface="Times New Roman" panose="02020603050405020304" pitchFamily="18" charset="0"/>
                    <a:cs typeface="Times New Roman" panose="02020603050405020304" pitchFamily="18" charset="0"/>
                  </a:rPr>
                  <a:t>, se utiliza en la descomposición KS.</a:t>
                </a:r>
              </a:p>
              <a:p>
                <a:pPr marL="285750" indent="-285750" algn="just">
                  <a:spcAft>
                    <a:spcPts val="400"/>
                  </a:spcAft>
                  <a:buFont typeface="Wingdings" panose="05000000000000000000" pitchFamily="2" charset="2"/>
                  <a:buChar char="v"/>
                </a:pPr>
                <a:r>
                  <a:rPr lang="es-AR" sz="1000" dirty="0">
                    <a:latin typeface="Times New Roman" panose="02020603050405020304" pitchFamily="18" charset="0"/>
                    <a:ea typeface="Calibri" panose="020F0502020204030204" pitchFamily="34" charset="0"/>
                    <a:cs typeface="Times New Roman" panose="02020603050405020304" pitchFamily="18" charset="0"/>
                  </a:rPr>
                  <a:t>Lo que se busca con esta combinación metodológica es descomponer el cambio en la pobreza entre el período 1 y 2 en los siguientes componentes:</a:t>
                </a:r>
              </a:p>
              <a:p>
                <a:pPr algn="just">
                  <a:spcAft>
                    <a:spcPts val="400"/>
                  </a:spcAft>
                </a:pPr>
                <a:endParaRPr lang="es-AR" sz="1000" dirty="0">
                  <a:latin typeface="Times New Roman" panose="02020603050405020304" pitchFamily="18" charset="0"/>
                  <a:ea typeface="Calibri" panose="020F0502020204030204" pitchFamily="34" charset="0"/>
                  <a:cs typeface="Times New Roman" panose="02020603050405020304" pitchFamily="18" charset="0"/>
                </a:endParaRPr>
              </a:p>
              <a:p>
                <a:pPr algn="ctr">
                  <a:spcAft>
                    <a:spcPts val="400"/>
                  </a:spcAft>
                </a:pPr>
                <a14:m>
                  <m:oMath xmlns:m="http://schemas.openxmlformats.org/officeDocument/2006/math">
                    <m:r>
                      <a:rPr lang="es-AR" sz="1000" i="1">
                        <a:latin typeface="Cambria Math" panose="02040503050406030204" pitchFamily="18" charset="0"/>
                      </a:rPr>
                      <m:t>∆</m:t>
                    </m:r>
                    <m:r>
                      <a:rPr lang="es-AR" sz="1000" i="1">
                        <a:latin typeface="Cambria Math" panose="02040503050406030204" pitchFamily="18" charset="0"/>
                      </a:rPr>
                      <m:t>𝑃</m:t>
                    </m:r>
                    <m:r>
                      <a:rPr lang="es-AR" sz="1000" i="1">
                        <a:latin typeface="Cambria Math" panose="02040503050406030204" pitchFamily="18" charset="0"/>
                      </a:rPr>
                      <m:t>=</m:t>
                    </m:r>
                    <m:d>
                      <m:dPr>
                        <m:ctrlPr>
                          <a:rPr lang="es-AR" sz="1000" i="1">
                            <a:latin typeface="Cambria Math" panose="02040503050406030204" pitchFamily="18" charset="0"/>
                          </a:rPr>
                        </m:ctrlPr>
                      </m:dPr>
                      <m:e>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𝐶</m:t>
                            </m:r>
                          </m:sub>
                          <m:sup>
                            <m:r>
                              <a:rPr lang="es-AR" sz="1000" i="1">
                                <a:latin typeface="Cambria Math" panose="02040503050406030204" pitchFamily="18" charset="0"/>
                              </a:rPr>
                              <m:t>𝐸</m:t>
                            </m:r>
                            <m:r>
                              <a:rPr lang="es-AR" sz="1000" b="0" i="1" smtClean="0">
                                <a:latin typeface="Cambria Math" panose="02040503050406030204" pitchFamily="18" charset="0"/>
                              </a:rPr>
                              <m:t>𝐶</m:t>
                            </m:r>
                          </m:sup>
                        </m:sSubSup>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𝐶</m:t>
                            </m:r>
                          </m:sub>
                          <m:sup>
                            <m:r>
                              <a:rPr lang="es-AR" sz="1000" i="1">
                                <a:latin typeface="Cambria Math" panose="02040503050406030204" pitchFamily="18" charset="0"/>
                              </a:rPr>
                              <m:t>𝐸</m:t>
                            </m:r>
                            <m:r>
                              <a:rPr lang="es-AR" sz="1000" b="0" i="1" smtClean="0">
                                <a:latin typeface="Cambria Math" panose="02040503050406030204" pitchFamily="18" charset="0"/>
                              </a:rPr>
                              <m:t>𝐸</m:t>
                            </m:r>
                          </m:sup>
                        </m:sSubSup>
                      </m:e>
                    </m:d>
                    <m:r>
                      <a:rPr lang="es-AR" sz="1000" i="1">
                        <a:latin typeface="Cambria Math" panose="02040503050406030204" pitchFamily="18" charset="0"/>
                      </a:rPr>
                      <m:t>+</m:t>
                    </m:r>
                    <m:d>
                      <m:dPr>
                        <m:ctrlPr>
                          <a:rPr lang="es-AR" sz="1000" i="1">
                            <a:latin typeface="Cambria Math" panose="02040503050406030204" pitchFamily="18" charset="0"/>
                          </a:rPr>
                        </m:ctrlPr>
                      </m:dPr>
                      <m:e>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𝑅</m:t>
                            </m:r>
                          </m:sub>
                          <m:sup>
                            <m:r>
                              <a:rPr lang="es-AR" sz="1000" i="1">
                                <a:latin typeface="Cambria Math" panose="02040503050406030204" pitchFamily="18" charset="0"/>
                              </a:rPr>
                              <m:t>𝐸</m:t>
                            </m:r>
                            <m:r>
                              <a:rPr lang="es-AR" sz="1000" b="0" i="1" smtClean="0">
                                <a:latin typeface="Cambria Math" panose="02040503050406030204" pitchFamily="18" charset="0"/>
                              </a:rPr>
                              <m:t>𝐶</m:t>
                            </m:r>
                          </m:sup>
                        </m:sSubSup>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𝑅</m:t>
                            </m:r>
                          </m:sub>
                          <m:sup>
                            <m:r>
                              <a:rPr lang="es-AR" sz="1000" i="1">
                                <a:latin typeface="Cambria Math" panose="02040503050406030204" pitchFamily="18" charset="0"/>
                              </a:rPr>
                              <m:t>𝐸</m:t>
                            </m:r>
                            <m:r>
                              <a:rPr lang="es-AR" sz="1000" b="0" i="1" smtClean="0">
                                <a:latin typeface="Cambria Math" panose="02040503050406030204" pitchFamily="18" charset="0"/>
                              </a:rPr>
                              <m:t>𝐸</m:t>
                            </m:r>
                          </m:sup>
                        </m:sSubSup>
                      </m:e>
                    </m:d>
                    <m:r>
                      <a:rPr lang="es-AR" sz="1000" i="1">
                        <a:latin typeface="Cambria Math" panose="02040503050406030204" pitchFamily="18" charset="0"/>
                      </a:rPr>
                      <m:t>+</m:t>
                    </m:r>
                    <m:d>
                      <m:dPr>
                        <m:ctrlPr>
                          <a:rPr lang="es-AR" sz="1000" i="1">
                            <a:latin typeface="Cambria Math" panose="02040503050406030204" pitchFamily="18" charset="0"/>
                          </a:rPr>
                        </m:ctrlPr>
                      </m:dPr>
                      <m:e>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𝐿</m:t>
                            </m:r>
                          </m:sub>
                          <m:sup>
                            <m:r>
                              <a:rPr lang="es-AR" sz="1000" i="1">
                                <a:latin typeface="Cambria Math" panose="02040503050406030204" pitchFamily="18" charset="0"/>
                              </a:rPr>
                              <m:t>𝐸</m:t>
                            </m:r>
                            <m:r>
                              <a:rPr lang="es-AR" sz="1000" b="0" i="1" smtClean="0">
                                <a:latin typeface="Cambria Math" panose="02040503050406030204" pitchFamily="18" charset="0"/>
                              </a:rPr>
                              <m:t>𝐶</m:t>
                            </m:r>
                          </m:sup>
                        </m:sSubSup>
                        <m:r>
                          <a:rPr lang="es-AR" sz="1000" i="1">
                            <a:latin typeface="Cambria Math" panose="02040503050406030204" pitchFamily="18" charset="0"/>
                          </a:rPr>
                          <m:t>+∆</m:t>
                        </m:r>
                        <m:sSubSup>
                          <m:sSubSupPr>
                            <m:ctrlPr>
                              <a:rPr lang="es-AR" sz="1000" i="1">
                                <a:latin typeface="Cambria Math" panose="02040503050406030204" pitchFamily="18" charset="0"/>
                              </a:rPr>
                            </m:ctrlPr>
                          </m:sSubSupPr>
                          <m:e>
                            <m:r>
                              <a:rPr lang="es-AR" sz="1000" i="1">
                                <a:latin typeface="Cambria Math" panose="02040503050406030204" pitchFamily="18" charset="0"/>
                              </a:rPr>
                              <m:t>𝑃</m:t>
                            </m:r>
                          </m:e>
                          <m:sub>
                            <m:r>
                              <a:rPr lang="es-AR" sz="1000" i="1">
                                <a:latin typeface="Cambria Math" panose="02040503050406030204" pitchFamily="18" charset="0"/>
                              </a:rPr>
                              <m:t>𝐿</m:t>
                            </m:r>
                          </m:sub>
                          <m:sup>
                            <m:r>
                              <a:rPr lang="es-AR" sz="1000" i="1">
                                <a:latin typeface="Cambria Math" panose="02040503050406030204" pitchFamily="18" charset="0"/>
                              </a:rPr>
                              <m:t>𝐸</m:t>
                            </m:r>
                            <m:r>
                              <a:rPr lang="es-AR" sz="1000" b="0" i="1" smtClean="0">
                                <a:latin typeface="Cambria Math" panose="02040503050406030204" pitchFamily="18" charset="0"/>
                              </a:rPr>
                              <m:t>𝐸</m:t>
                            </m:r>
                          </m:sup>
                        </m:sSubSup>
                      </m:e>
                    </m:d>
                  </m:oMath>
                </a14:m>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a:t>
                </a:r>
                <a:r>
                  <a:rPr lang="es-AR" sz="1000" b="1" dirty="0">
                    <a:effectLst/>
                    <a:latin typeface="Times New Roman" panose="02020603050405020304" pitchFamily="18" charset="0"/>
                    <a:ea typeface="Calibri" panose="020F0502020204030204" pitchFamily="34" charset="0"/>
                    <a:cs typeface="Times New Roman" panose="02020603050405020304" pitchFamily="18" charset="0"/>
                  </a:rPr>
                  <a:t>(4.12)</a:t>
                </a:r>
                <a:endParaRPr lang="es-AR" sz="1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400"/>
                  </a:spcAft>
                </a:pPr>
                <a:endParaRPr lang="es-AR"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284400" algn="just">
                  <a:spcAft>
                    <a:spcPts val="400"/>
                  </a:spcAft>
                </a:pPr>
                <a:r>
                  <a:rPr lang="es-AR" sz="1000" dirty="0">
                    <a:latin typeface="Times New Roman" panose="02020603050405020304" pitchFamily="18" charset="0"/>
                    <a:cs typeface="Times New Roman" panose="02020603050405020304" pitchFamily="18" charset="0"/>
                  </a:rPr>
                  <a:t>donde </a:t>
                </a:r>
                <a14:m>
                  <m:oMath xmlns:m="http://schemas.openxmlformats.org/officeDocument/2006/math">
                    <m:r>
                      <a:rPr lang="es-AR" sz="1000" i="1">
                        <a:latin typeface="Cambria Math" panose="02040503050406030204" pitchFamily="18" charset="0"/>
                      </a:rPr>
                      <m:t>𝐸𝐶</m:t>
                    </m:r>
                  </m:oMath>
                </a14:m>
                <a:r>
                  <a:rPr lang="es-AR" sz="1000" dirty="0">
                    <a:latin typeface="Times New Roman" panose="02020603050405020304" pitchFamily="18" charset="0"/>
                    <a:cs typeface="Times New Roman" panose="02020603050405020304" pitchFamily="18" charset="0"/>
                  </a:rPr>
                  <a:t> y </a:t>
                </a:r>
                <a14:m>
                  <m:oMath xmlns:m="http://schemas.openxmlformats.org/officeDocument/2006/math">
                    <m:r>
                      <a:rPr lang="es-AR" sz="1000" i="1">
                        <a:latin typeface="Cambria Math" panose="02040503050406030204" pitchFamily="18" charset="0"/>
                      </a:rPr>
                      <m:t>𝐸𝐸</m:t>
                    </m:r>
                  </m:oMath>
                </a14:m>
                <a:r>
                  <a:rPr lang="es-AR" sz="1000" dirty="0">
                    <a:latin typeface="Times New Roman" panose="02020603050405020304" pitchFamily="18" charset="0"/>
                    <a:cs typeface="Times New Roman" panose="02020603050405020304" pitchFamily="18" charset="0"/>
                  </a:rPr>
                  <a:t> indican efecto composición y efecto estructura, respectivamente.</a:t>
                </a:r>
              </a:p>
              <a:p>
                <a:pPr marL="284400" indent="-284400" algn="just">
                  <a:spcAft>
                    <a:spcPts val="400"/>
                  </a:spcAft>
                  <a:buFont typeface="Wingdings" panose="05000000000000000000" pitchFamily="2" charset="2"/>
                  <a:buChar char="v"/>
                </a:pPr>
                <a:r>
                  <a:rPr lang="es-AR" sz="1000" dirty="0">
                    <a:latin typeface="Times New Roman" panose="02020603050405020304" pitchFamily="18" charset="0"/>
                    <a:cs typeface="Times New Roman" panose="02020603050405020304" pitchFamily="18" charset="0"/>
                  </a:rPr>
                  <a:t>Siendo así, ahora, cada uno de los componentes de la descomposición KS (crecimiento, redistribución y línea) se desagrega en efecto composición y efecto estructura.</a:t>
                </a:r>
                <a:endParaRPr lang="es-AR" sz="10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7" name="CuadroTexto 36">
                <a:extLst>
                  <a:ext uri="{FF2B5EF4-FFF2-40B4-BE49-F238E27FC236}">
                    <a16:creationId xmlns:a16="http://schemas.microsoft.com/office/drawing/2014/main" id="{A62DBF5F-219F-4822-A863-892FB85239E6}"/>
                  </a:ext>
                </a:extLst>
              </p:cNvPr>
              <p:cNvSpPr txBox="1">
                <a:spLocks noRot="1" noChangeAspect="1" noMove="1" noResize="1" noEditPoints="1" noAdjustHandles="1" noChangeArrowheads="1" noChangeShapeType="1" noTextEdit="1"/>
              </p:cNvSpPr>
              <p:nvPr/>
            </p:nvSpPr>
            <p:spPr>
              <a:xfrm>
                <a:off x="151353" y="587375"/>
                <a:ext cx="4320000" cy="2112694"/>
              </a:xfrm>
              <a:prstGeom prst="rect">
                <a:avLst/>
              </a:prstGeom>
              <a:blipFill>
                <a:blip r:embed="rId3"/>
                <a:stretch>
                  <a:fillRect b="-576"/>
                </a:stretch>
              </a:blipFill>
            </p:spPr>
            <p:txBody>
              <a:bodyPr/>
              <a:lstStyle/>
              <a:p>
                <a:r>
                  <a:rPr lang="es-AR">
                    <a:noFill/>
                  </a:rPr>
                  <a:t> </a:t>
                </a:r>
              </a:p>
            </p:txBody>
          </p:sp>
        </mc:Fallback>
      </mc:AlternateContent>
      <p:sp>
        <p:nvSpPr>
          <p:cNvPr id="39" name="object 47">
            <a:extLst>
              <a:ext uri="{FF2B5EF4-FFF2-40B4-BE49-F238E27FC236}">
                <a16:creationId xmlns:a16="http://schemas.microsoft.com/office/drawing/2014/main" id="{8A8BEEAB-DF3B-ED61-5BC4-3572D5FF7EF6}"/>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F61F41F8-7791-1A8D-4EAD-7258B9F2E18B}"/>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72E720A7-626E-F9A0-DBA8-85BA376FC73D}"/>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402EE348-37F7-13EE-4A1A-045EBA5DFC1A}"/>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14 / </a:t>
            </a:r>
            <a:r>
              <a:rPr lang="es-AR" sz="600" spc="195" dirty="0"/>
              <a:t>19</a:t>
            </a:r>
            <a:endParaRPr spc="75" dirty="0"/>
          </a:p>
        </p:txBody>
      </p:sp>
    </p:spTree>
    <p:extLst>
      <p:ext uri="{BB962C8B-B14F-4D97-AF65-F5344CB8AC3E}">
        <p14:creationId xmlns:p14="http://schemas.microsoft.com/office/powerpoint/2010/main" val="33316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7">
                                            <p:txEl>
                                              <p:pRg st="3" end="3"/>
                                            </p:txEl>
                                          </p:spTgt>
                                        </p:tgtEl>
                                        <p:attrNameLst>
                                          <p:attrName>style.visibility</p:attrName>
                                        </p:attrNameLst>
                                      </p:cBhvr>
                                      <p:to>
                                        <p:strVal val="visible"/>
                                      </p:to>
                                    </p:set>
                                    <p:animEffect transition="in" filter="fade">
                                      <p:cBhvr>
                                        <p:cTn id="10" dur="500"/>
                                        <p:tgtEl>
                                          <p:spTgt spid="3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7">
                                            <p:txEl>
                                              <p:pRg st="5" end="5"/>
                                            </p:txEl>
                                          </p:spTgt>
                                        </p:tgtEl>
                                        <p:attrNameLst>
                                          <p:attrName>style.visibility</p:attrName>
                                        </p:attrNameLst>
                                      </p:cBhvr>
                                      <p:to>
                                        <p:strVal val="visible"/>
                                      </p:to>
                                    </p:set>
                                    <p:animEffect transition="in" filter="fade">
                                      <p:cBhvr>
                                        <p:cTn id="13" dur="500"/>
                                        <p:tgtEl>
                                          <p:spTgt spid="37">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xEl>
                                              <p:pRg st="6" end="6"/>
                                            </p:txEl>
                                          </p:spTgt>
                                        </p:tgtEl>
                                        <p:attrNameLst>
                                          <p:attrName>style.visibility</p:attrName>
                                        </p:attrNameLst>
                                      </p:cBhvr>
                                      <p:to>
                                        <p:strVal val="visible"/>
                                      </p:to>
                                    </p:set>
                                    <p:animEffect transition="in" filter="fade">
                                      <p:cBhvr>
                                        <p:cTn id="16" dur="500"/>
                                        <p:tgtEl>
                                          <p:spTgt spid="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Font typeface="+mj-lt"/>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Font typeface="+mj-lt"/>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sociodemográficos</a:t>
            </a:r>
          </a:p>
        </p:txBody>
      </p:sp>
      <p:pic>
        <p:nvPicPr>
          <p:cNvPr id="35" name="Imagen 34">
            <a:extLst>
              <a:ext uri="{FF2B5EF4-FFF2-40B4-BE49-F238E27FC236}">
                <a16:creationId xmlns:a16="http://schemas.microsoft.com/office/drawing/2014/main" id="{293F42A0-6DDD-9BF1-A041-D4E94C8198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53" y="549305"/>
            <a:ext cx="4320000" cy="2362140"/>
          </a:xfrm>
          <a:prstGeom prst="rect">
            <a:avLst/>
          </a:prstGeom>
        </p:spPr>
      </p:pic>
      <p:sp>
        <p:nvSpPr>
          <p:cNvPr id="46" name="object 47">
            <a:extLst>
              <a:ext uri="{FF2B5EF4-FFF2-40B4-BE49-F238E27FC236}">
                <a16:creationId xmlns:a16="http://schemas.microsoft.com/office/drawing/2014/main" id="{F46FB4D5-BD36-4EA1-FD51-CFAD78E182AE}"/>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50" name="object 48">
            <a:extLst>
              <a:ext uri="{FF2B5EF4-FFF2-40B4-BE49-F238E27FC236}">
                <a16:creationId xmlns:a16="http://schemas.microsoft.com/office/drawing/2014/main" id="{2837D349-09A1-5332-3443-729F9A4B1033}"/>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52" name="object 49">
            <a:extLst>
              <a:ext uri="{FF2B5EF4-FFF2-40B4-BE49-F238E27FC236}">
                <a16:creationId xmlns:a16="http://schemas.microsoft.com/office/drawing/2014/main" id="{56B11C25-72B9-60E0-9111-A79D4F74FA0D}"/>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53" name="object 51">
            <a:extLst>
              <a:ext uri="{FF2B5EF4-FFF2-40B4-BE49-F238E27FC236}">
                <a16:creationId xmlns:a16="http://schemas.microsoft.com/office/drawing/2014/main" id="{6A98812A-5A50-B23B-7D27-CF93B5D25EC6}"/>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15 / </a:t>
            </a:r>
            <a:r>
              <a:rPr lang="es-AR" sz="600" spc="195" dirty="0"/>
              <a:t>19</a:t>
            </a:r>
            <a:endParaRPr spc="75" dirty="0"/>
          </a:p>
        </p:txBody>
      </p:sp>
    </p:spTree>
    <p:extLst>
      <p:ext uri="{BB962C8B-B14F-4D97-AF65-F5344CB8AC3E}">
        <p14:creationId xmlns:p14="http://schemas.microsoft.com/office/powerpoint/2010/main" val="161375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Font typeface="+mj-lt"/>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Font typeface="+mj-lt"/>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sociodemográficos</a:t>
            </a:r>
          </a:p>
        </p:txBody>
      </p:sp>
      <p:pic>
        <p:nvPicPr>
          <p:cNvPr id="35" name="Imagen 34">
            <a:extLst>
              <a:ext uri="{FF2B5EF4-FFF2-40B4-BE49-F238E27FC236}">
                <a16:creationId xmlns:a16="http://schemas.microsoft.com/office/drawing/2014/main" id="{F6D7E293-C063-F73F-D7D9-981932F28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228" y="365566"/>
            <a:ext cx="3538465" cy="2844000"/>
          </a:xfrm>
          <a:prstGeom prst="rect">
            <a:avLst/>
          </a:prstGeom>
        </p:spPr>
      </p:pic>
      <p:sp>
        <p:nvSpPr>
          <p:cNvPr id="41" name="object 47">
            <a:extLst>
              <a:ext uri="{FF2B5EF4-FFF2-40B4-BE49-F238E27FC236}">
                <a16:creationId xmlns:a16="http://schemas.microsoft.com/office/drawing/2014/main" id="{A7E3C6A6-0B34-0982-6226-C18EEF3C114B}"/>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2" name="object 48">
            <a:extLst>
              <a:ext uri="{FF2B5EF4-FFF2-40B4-BE49-F238E27FC236}">
                <a16:creationId xmlns:a16="http://schemas.microsoft.com/office/drawing/2014/main" id="{4B1FC4C1-F62D-1C90-436A-104E05AC7B9A}"/>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3" name="object 49">
            <a:extLst>
              <a:ext uri="{FF2B5EF4-FFF2-40B4-BE49-F238E27FC236}">
                <a16:creationId xmlns:a16="http://schemas.microsoft.com/office/drawing/2014/main" id="{1E4A47E9-F4EA-06A9-54B2-159136B7B3F7}"/>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4" name="object 51">
            <a:extLst>
              <a:ext uri="{FF2B5EF4-FFF2-40B4-BE49-F238E27FC236}">
                <a16:creationId xmlns:a16="http://schemas.microsoft.com/office/drawing/2014/main" id="{A01C770F-6D1C-6CF4-5568-D734281E9161}"/>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16 / </a:t>
            </a:r>
            <a:r>
              <a:rPr lang="es-AR" sz="600" spc="195" dirty="0"/>
              <a:t>19</a:t>
            </a:r>
            <a:endParaRPr spc="75" dirty="0"/>
          </a:p>
        </p:txBody>
      </p:sp>
    </p:spTree>
    <p:extLst>
      <p:ext uri="{BB962C8B-B14F-4D97-AF65-F5344CB8AC3E}">
        <p14:creationId xmlns:p14="http://schemas.microsoft.com/office/powerpoint/2010/main" val="1421387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Resultados</a:t>
            </a:r>
            <a:endParaRPr b="1"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pPr marL="228600" indent="-228600">
              <a:buFont typeface="+mj-lt"/>
              <a:buAutoNum type="arabicPeriod"/>
            </a:pPr>
            <a:r>
              <a:rPr lang="es-AR" sz="800" dirty="0">
                <a:solidFill>
                  <a:schemeClr val="bg1"/>
                </a:solidFill>
                <a:latin typeface="Times New Roman" panose="02020603050405020304" pitchFamily="18" charset="0"/>
                <a:cs typeface="Times New Roman" panose="02020603050405020304" pitchFamily="18" charset="0"/>
              </a:rPr>
              <a:t>Determinantes agregados</a:t>
            </a:r>
          </a:p>
          <a:p>
            <a:pPr marL="228600" indent="-228600">
              <a:buFont typeface="+mj-lt"/>
              <a:buAutoNum type="arabicPeriod"/>
            </a:pPr>
            <a:r>
              <a:rPr lang="es-AR" sz="800" b="1" dirty="0">
                <a:solidFill>
                  <a:schemeClr val="bg1"/>
                </a:solidFill>
                <a:latin typeface="Times New Roman" panose="02020603050405020304" pitchFamily="18" charset="0"/>
                <a:cs typeface="Times New Roman" panose="02020603050405020304" pitchFamily="18" charset="0"/>
              </a:rPr>
              <a:t>Determinantes sociodemográficos</a:t>
            </a: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1733808"/>
          </a:xfrm>
          <a:prstGeom prst="rect">
            <a:avLst/>
          </a:prstGeom>
          <a:noFill/>
        </p:spPr>
        <p:txBody>
          <a:bodyPr wrap="square" rtlCol="0">
            <a:spAutoFit/>
          </a:bodyPr>
          <a:lstStyle/>
          <a:p>
            <a:pPr marL="284400" indent="-284400" algn="just">
              <a:spcAft>
                <a:spcPts val="400"/>
              </a:spcAft>
              <a:buFont typeface="Wingdings" panose="05000000000000000000" pitchFamily="2" charset="2"/>
              <a:buChar char="v"/>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Adicionalmente, en el Apéndice A del trabajo, a modo de complementario, se realiza una </a:t>
            </a:r>
            <a:r>
              <a:rPr lang="es-AR" sz="1000" b="1" dirty="0">
                <a:effectLst/>
                <a:latin typeface="Times New Roman" panose="02020603050405020304" pitchFamily="18" charset="0"/>
                <a:ea typeface="Calibri" panose="020F0502020204030204" pitchFamily="34" charset="0"/>
                <a:cs typeface="Times New Roman" panose="02020603050405020304" pitchFamily="18" charset="0"/>
              </a:rPr>
              <a:t>descomposición RIF</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(Fortin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et al.</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2011) para el período 2002-2018, para calcular la contribución, sobre el cambio en la pobreza monetaria, de cada covariable al efecto composición y al efecto estructura.</a:t>
            </a:r>
          </a:p>
          <a:p>
            <a:pPr marL="284400" indent="-284400" algn="just">
              <a:spcAft>
                <a:spcPts val="400"/>
              </a:spcAft>
              <a:buFont typeface="Wingdings" panose="05000000000000000000" pitchFamily="2" charset="2"/>
              <a:buChar char="v"/>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Variables como los años de educación promedio en el hogar, la tasa de desempleo en el hogar y el número de miembros en el hogar son las más relevantes a la hora de explicar el impacto del efecto composición. En el caso del efecto estructura, la variable más relevante parece ser la </a:t>
            </a:r>
            <a:r>
              <a:rPr lang="es-AR" sz="1000" i="1" dirty="0">
                <a:effectLst/>
                <a:latin typeface="Times New Roman" panose="02020603050405020304" pitchFamily="18" charset="0"/>
                <a:ea typeface="Calibri" panose="020F0502020204030204" pitchFamily="34" charset="0"/>
                <a:cs typeface="Times New Roman" panose="02020603050405020304" pitchFamily="18" charset="0"/>
              </a:rPr>
              <a:t>dummy</a:t>
            </a: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 que indica si el hogar tiene algún niño menor a 12 años de edad.</a:t>
            </a:r>
          </a:p>
          <a:p>
            <a:pPr marL="284400" indent="-284400" algn="just">
              <a:spcAft>
                <a:spcPts val="400"/>
              </a:spcAft>
              <a:buFont typeface="Wingdings" panose="05000000000000000000" pitchFamily="2" charset="2"/>
              <a:buChar char="v"/>
            </a:pPr>
            <a:endParaRPr lang="es-AR" sz="1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3" name="object 47">
            <a:extLst>
              <a:ext uri="{FF2B5EF4-FFF2-40B4-BE49-F238E27FC236}">
                <a16:creationId xmlns:a16="http://schemas.microsoft.com/office/drawing/2014/main" id="{71F99DE0-14B1-6AD1-A800-AB94BB55EFE1}"/>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4" name="object 48">
            <a:extLst>
              <a:ext uri="{FF2B5EF4-FFF2-40B4-BE49-F238E27FC236}">
                <a16:creationId xmlns:a16="http://schemas.microsoft.com/office/drawing/2014/main" id="{50A5A54F-2A5E-379C-28E3-C9D44C884BDD}"/>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5" name="object 49">
            <a:extLst>
              <a:ext uri="{FF2B5EF4-FFF2-40B4-BE49-F238E27FC236}">
                <a16:creationId xmlns:a16="http://schemas.microsoft.com/office/drawing/2014/main" id="{7CCC2644-B90A-1544-0DC1-BD1B4612D7AD}"/>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6" name="object 51">
            <a:extLst>
              <a:ext uri="{FF2B5EF4-FFF2-40B4-BE49-F238E27FC236}">
                <a16:creationId xmlns:a16="http://schemas.microsoft.com/office/drawing/2014/main" id="{C140AC59-A8DC-2FDF-ABD8-6D575EAEB9B8}"/>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17 / </a:t>
            </a:r>
            <a:r>
              <a:rPr lang="es-AR" sz="600" spc="195" dirty="0"/>
              <a:t>19</a:t>
            </a:r>
            <a:endParaRPr spc="75" dirty="0"/>
          </a:p>
        </p:txBody>
      </p:sp>
    </p:spTree>
    <p:extLst>
      <p:ext uri="{BB962C8B-B14F-4D97-AF65-F5344CB8AC3E}">
        <p14:creationId xmlns:p14="http://schemas.microsoft.com/office/powerpoint/2010/main" val="2469128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1" end="1"/>
                                            </p:txEl>
                                          </p:spTgt>
                                        </p:tgtEl>
                                        <p:attrNameLst>
                                          <p:attrName>style.visibility</p:attrName>
                                        </p:attrNameLst>
                                      </p:cBhvr>
                                      <p:to>
                                        <p:strVal val="visible"/>
                                      </p:to>
                                    </p:set>
                                    <p:animEffect transition="in" filter="fade">
                                      <p:cBhvr>
                                        <p:cTn id="7" dur="500"/>
                                        <p:tgtEl>
                                          <p:spTgt spid="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1"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r>
              <a:rPr lang="es-AR" sz="1200" b="1" dirty="0">
                <a:solidFill>
                  <a:schemeClr val="bg1"/>
                </a:solidFill>
                <a:latin typeface="Times New Roman" panose="02020603050405020304" pitchFamily="18" charset="0"/>
                <a:cs typeface="Times New Roman" panose="02020603050405020304" pitchFamily="18" charset="0"/>
              </a:rPr>
              <a:t>Comentarios finales</a:t>
            </a:r>
            <a:endParaRPr sz="1600" b="1" dirty="0">
              <a:solidFill>
                <a:schemeClr val="bg1"/>
              </a:solidFill>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A62DBF5F-219F-4822-A863-892FB85239E6}"/>
              </a:ext>
            </a:extLst>
          </p:cNvPr>
          <p:cNvSpPr txBox="1"/>
          <p:nvPr/>
        </p:nvSpPr>
        <p:spPr>
          <a:xfrm>
            <a:off x="151353" y="587375"/>
            <a:ext cx="4320000" cy="2569934"/>
          </a:xfrm>
          <a:prstGeom prst="rect">
            <a:avLst/>
          </a:prstGeom>
          <a:noFill/>
        </p:spPr>
        <p:txBody>
          <a:bodyPr wrap="square" rtlCol="0">
            <a:spAutoFit/>
          </a:bodyPr>
          <a:lstStyle/>
          <a:p>
            <a:pPr marL="285750" indent="-285750" algn="just">
              <a:spcAft>
                <a:spcPts val="400"/>
              </a:spcAft>
              <a:buFont typeface="Wingdings" panose="05000000000000000000" pitchFamily="2" charset="2"/>
              <a:buChar char="q"/>
            </a:pPr>
            <a:r>
              <a:rPr lang="es-AR" sz="1000" b="1" dirty="0">
                <a:latin typeface="Times New Roman" panose="02020603050405020304" pitchFamily="18" charset="0"/>
                <a:ea typeface="Calibri" panose="020F0502020204030204" pitchFamily="34" charset="0"/>
                <a:cs typeface="Times New Roman" panose="02020603050405020304" pitchFamily="18" charset="0"/>
              </a:rPr>
              <a:t>Principales resultados:</a:t>
            </a:r>
          </a:p>
          <a:p>
            <a:pPr marL="742950" lvl="1" indent="-285750" algn="just">
              <a:spcAft>
                <a:spcPts val="400"/>
              </a:spcAft>
              <a:buFont typeface="+mj-lt"/>
              <a:buAutoNum type="arabicPeriod"/>
            </a:pPr>
            <a:r>
              <a:rPr lang="es-AR" sz="1000" dirty="0">
                <a:latin typeface="Times New Roman" panose="02020603050405020304" pitchFamily="18" charset="0"/>
                <a:ea typeface="Calibri" panose="020F0502020204030204" pitchFamily="34" charset="0"/>
                <a:cs typeface="Times New Roman" panose="02020603050405020304" pitchFamily="18" charset="0"/>
              </a:rPr>
              <a:t>Efectos crecimiento y redistribución redujeron la pobreza, efecto línea tendió a incrementarla.</a:t>
            </a:r>
          </a:p>
          <a:p>
            <a:pPr marL="742950" lvl="1" indent="-285750" algn="just">
              <a:spcAft>
                <a:spcPts val="400"/>
              </a:spcAft>
              <a:buFont typeface="+mj-lt"/>
              <a:buAutoNum type="arabicPeriod"/>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Efecto crecimiento se explicó, principalmente, por el efecto composición. Efecto redistribución por el efecto estructura. El cambio total en la pobreza por el efecto composición.</a:t>
            </a:r>
          </a:p>
          <a:p>
            <a:pPr marL="285750" indent="-285750" algn="just">
              <a:spcAft>
                <a:spcPts val="400"/>
              </a:spcAft>
              <a:buFont typeface="Wingdings" panose="05000000000000000000" pitchFamily="2" charset="2"/>
              <a:buChar char="q"/>
            </a:pPr>
            <a:r>
              <a:rPr lang="es-AR" sz="1000" b="1" dirty="0">
                <a:effectLst/>
                <a:latin typeface="Times New Roman" panose="02020603050405020304" pitchFamily="18" charset="0"/>
                <a:ea typeface="Calibri" panose="020F0502020204030204" pitchFamily="34" charset="0"/>
                <a:cs typeface="Times New Roman" panose="02020603050405020304" pitchFamily="18" charset="0"/>
              </a:rPr>
              <a:t>Posibles líneas de investigación:</a:t>
            </a:r>
          </a:p>
          <a:p>
            <a:pPr marL="742950" lvl="1" indent="-285750" algn="just">
              <a:spcAft>
                <a:spcPts val="400"/>
              </a:spcAft>
              <a:buFont typeface="+mj-lt"/>
              <a:buAutoNum type="arabicPeriod"/>
            </a:pPr>
            <a:r>
              <a:rPr lang="es-AR" sz="1000" dirty="0">
                <a:effectLst/>
                <a:latin typeface="Times New Roman" panose="02020603050405020304" pitchFamily="18" charset="0"/>
                <a:ea typeface="Calibri" panose="020F0502020204030204" pitchFamily="34" charset="0"/>
                <a:cs typeface="Times New Roman" panose="02020603050405020304" pitchFamily="18" charset="0"/>
              </a:rPr>
              <a:t>Estudiar los e</a:t>
            </a:r>
            <a:r>
              <a:rPr lang="es-AR" sz="1000" dirty="0">
                <a:effectLst/>
                <a:latin typeface="Times New Roman" panose="02020603050405020304" pitchFamily="18" charset="0"/>
                <a:ea typeface="Calibri" panose="020F0502020204030204" pitchFamily="34" charset="0"/>
              </a:rPr>
              <a:t>fectos de la migración venezolana sobre los niveles de pobreza monetaria en Colombia.</a:t>
            </a:r>
          </a:p>
          <a:p>
            <a:pPr marL="742950" lvl="1" indent="-285750" algn="just">
              <a:spcAft>
                <a:spcPts val="400"/>
              </a:spcAft>
              <a:buFont typeface="+mj-lt"/>
              <a:buAutoNum type="arabicPeriod"/>
            </a:pPr>
            <a:r>
              <a:rPr lang="es-AR" sz="1000" dirty="0">
                <a:latin typeface="Times New Roman" panose="02020603050405020304" pitchFamily="18" charset="0"/>
                <a:ea typeface="Times New Roman" panose="02020603050405020304" pitchFamily="18" charset="0"/>
              </a:rPr>
              <a:t>Estudiar la contribución, sobre el cambio en la pobreza monetaria, de cada covariable al efecto composición y al efecto estructura, para cada uno de los componentes de la descomposición KS, explorando cómo obtener las RIF correspondientes a cada uno de estos contrafactuales.</a:t>
            </a:r>
            <a:endParaRPr lang="es-AR"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spcAft>
                <a:spcPts val="400"/>
              </a:spcAft>
              <a:buFont typeface="Wingdings" panose="05000000000000000000" pitchFamily="2" charset="2"/>
              <a:buChar char="§"/>
            </a:pPr>
            <a:endParaRPr lang="es-AR" sz="1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1" name="object 47">
            <a:extLst>
              <a:ext uri="{FF2B5EF4-FFF2-40B4-BE49-F238E27FC236}">
                <a16:creationId xmlns:a16="http://schemas.microsoft.com/office/drawing/2014/main" id="{87648916-E889-F7F1-D47D-F6B8454759D4}"/>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2" name="object 48">
            <a:extLst>
              <a:ext uri="{FF2B5EF4-FFF2-40B4-BE49-F238E27FC236}">
                <a16:creationId xmlns:a16="http://schemas.microsoft.com/office/drawing/2014/main" id="{CA0A87B6-EF21-E48C-4328-0425F8A09E02}"/>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3" name="object 49">
            <a:extLst>
              <a:ext uri="{FF2B5EF4-FFF2-40B4-BE49-F238E27FC236}">
                <a16:creationId xmlns:a16="http://schemas.microsoft.com/office/drawing/2014/main" id="{8CB32D01-0664-DDF4-AC80-49CB6DF87C56}"/>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4" name="object 51">
            <a:extLst>
              <a:ext uri="{FF2B5EF4-FFF2-40B4-BE49-F238E27FC236}">
                <a16:creationId xmlns:a16="http://schemas.microsoft.com/office/drawing/2014/main" id="{EEF3753F-DA5D-AD02-9A67-64943F718EFD}"/>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18 / </a:t>
            </a:r>
            <a:r>
              <a:rPr lang="es-AR" sz="600" spc="195" dirty="0"/>
              <a:t>19</a:t>
            </a:r>
            <a:endParaRPr spc="75" dirty="0"/>
          </a:p>
        </p:txBody>
      </p:sp>
      <p:sp>
        <p:nvSpPr>
          <p:cNvPr id="45" name="object 34">
            <a:extLst>
              <a:ext uri="{FF2B5EF4-FFF2-40B4-BE49-F238E27FC236}">
                <a16:creationId xmlns:a16="http://schemas.microsoft.com/office/drawing/2014/main" id="{B6A20B20-248D-8031-1812-19EEADBCD58D}"/>
              </a:ext>
            </a:extLst>
          </p:cNvPr>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280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fade">
                                      <p:cBhvr>
                                        <p:cTn id="7" dur="500"/>
                                        <p:tgtEl>
                                          <p:spTgt spid="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xEl>
                                              <p:pRg st="1" end="1"/>
                                            </p:txEl>
                                          </p:spTgt>
                                        </p:tgtEl>
                                        <p:attrNameLst>
                                          <p:attrName>style.visibility</p:attrName>
                                        </p:attrNameLst>
                                      </p:cBhvr>
                                      <p:to>
                                        <p:strVal val="visible"/>
                                      </p:to>
                                    </p:set>
                                    <p:animEffect transition="in" filter="fade">
                                      <p:cBhvr>
                                        <p:cTn id="12" dur="500"/>
                                        <p:tgtEl>
                                          <p:spTgt spid="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xEl>
                                              <p:pRg st="2" end="2"/>
                                            </p:txEl>
                                          </p:spTgt>
                                        </p:tgtEl>
                                        <p:attrNameLst>
                                          <p:attrName>style.visibility</p:attrName>
                                        </p:attrNameLst>
                                      </p:cBhvr>
                                      <p:to>
                                        <p:strVal val="visible"/>
                                      </p:to>
                                    </p:set>
                                    <p:animEffect transition="in" filter="fade">
                                      <p:cBhvr>
                                        <p:cTn id="17" dur="500"/>
                                        <p:tgtEl>
                                          <p:spTgt spid="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xEl>
                                              <p:pRg st="3" end="3"/>
                                            </p:txEl>
                                          </p:spTgt>
                                        </p:tgtEl>
                                        <p:attrNameLst>
                                          <p:attrName>style.visibility</p:attrName>
                                        </p:attrNameLst>
                                      </p:cBhvr>
                                      <p:to>
                                        <p:strVal val="visible"/>
                                      </p:to>
                                    </p:set>
                                    <p:animEffect transition="in" filter="fade">
                                      <p:cBhvr>
                                        <p:cTn id="22" dur="500"/>
                                        <p:tgtEl>
                                          <p:spTgt spid="3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xEl>
                                              <p:pRg st="4" end="4"/>
                                            </p:txEl>
                                          </p:spTgt>
                                        </p:tgtEl>
                                        <p:attrNameLst>
                                          <p:attrName>style.visibility</p:attrName>
                                        </p:attrNameLst>
                                      </p:cBhvr>
                                      <p:to>
                                        <p:strVal val="visible"/>
                                      </p:to>
                                    </p:set>
                                    <p:animEffect transition="in" filter="fade">
                                      <p:cBhvr>
                                        <p:cTn id="27" dur="500"/>
                                        <p:tgtEl>
                                          <p:spTgt spid="3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xEl>
                                              <p:pRg st="5" end="5"/>
                                            </p:txEl>
                                          </p:spTgt>
                                        </p:tgtEl>
                                        <p:attrNameLst>
                                          <p:attrName>style.visibility</p:attrName>
                                        </p:attrNameLst>
                                      </p:cBhvr>
                                      <p:to>
                                        <p:strVal val="visible"/>
                                      </p:to>
                                    </p:set>
                                    <p:animEffect transition="in" filter="fade">
                                      <p:cBhvr>
                                        <p:cTn id="32" dur="500"/>
                                        <p:tgtEl>
                                          <p:spTgt spid="3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object 32"/>
          <p:cNvSpPr/>
          <p:nvPr/>
        </p:nvSpPr>
        <p:spPr>
          <a:xfrm>
            <a:off x="0"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000000"/>
          </a:solidFill>
          <a:effectLst>
            <a:outerShdw blurRad="50800" dist="38100" dir="2700000" algn="tl" rotWithShape="0">
              <a:prstClr val="black">
                <a:alpha val="40000"/>
              </a:prstClr>
            </a:outerShdw>
          </a:effectLst>
        </p:spPr>
        <p:txBody>
          <a:bodyPr wrap="square" lIns="0" tIns="0" rIns="0" bIns="0" rtlCol="0" anchor="ctr"/>
          <a:lstStyle/>
          <a:p>
            <a:pPr algn="ctr"/>
            <a:endParaRPr lang="es-AR" sz="1200" dirty="0">
              <a:solidFill>
                <a:schemeClr val="bg1"/>
              </a:solidFill>
              <a:latin typeface="Times New Roman" panose="02020603050405020304" pitchFamily="18" charset="0"/>
              <a:cs typeface="Times New Roman" panose="02020603050405020304" pitchFamily="18" charset="0"/>
            </a:endParaRPr>
          </a:p>
        </p:txBody>
      </p:sp>
      <p:sp>
        <p:nvSpPr>
          <p:cNvPr id="34" name="object 34"/>
          <p:cNvSpPr/>
          <p:nvPr/>
        </p:nvSpPr>
        <p:spPr>
          <a:xfrm>
            <a:off x="2308639" y="0"/>
            <a:ext cx="2307600" cy="360000"/>
          </a:xfrm>
          <a:custGeom>
            <a:avLst/>
            <a:gdLst/>
            <a:ahLst/>
            <a:cxnLst/>
            <a:rect l="l" t="t" r="r" b="b"/>
            <a:pathLst>
              <a:path w="2304415" h="308610">
                <a:moveTo>
                  <a:pt x="0" y="308495"/>
                </a:moveTo>
                <a:lnTo>
                  <a:pt x="2303995" y="308495"/>
                </a:lnTo>
                <a:lnTo>
                  <a:pt x="2303995" y="0"/>
                </a:lnTo>
                <a:lnTo>
                  <a:pt x="0" y="0"/>
                </a:lnTo>
                <a:lnTo>
                  <a:pt x="0" y="308495"/>
                </a:lnTo>
                <a:close/>
              </a:path>
            </a:pathLst>
          </a:custGeom>
          <a:solidFill>
            <a:srgbClr val="3333B2"/>
          </a:solidFill>
          <a:effectLst>
            <a:outerShdw blurRad="50800" dist="38100" dir="2700000" algn="tl" rotWithShape="0">
              <a:prstClr val="black">
                <a:alpha val="40000"/>
              </a:prstClr>
            </a:outerShdw>
          </a:effectLst>
        </p:spPr>
        <p:txBody>
          <a:bodyPr wrap="square" lIns="0" tIns="0" rIns="0" bIns="0" rtlCol="0" anchor="ctr"/>
          <a:lstStyle/>
          <a:p>
            <a:endParaRPr sz="1000" dirty="0">
              <a:latin typeface="Times New Roman" panose="02020603050405020304" pitchFamily="18" charset="0"/>
              <a:cs typeface="Times New Roman" panose="02020603050405020304" pitchFamily="18" charset="0"/>
            </a:endParaRPr>
          </a:p>
        </p:txBody>
      </p:sp>
      <p:sp>
        <p:nvSpPr>
          <p:cNvPr id="35" name="CuadroTexto 34">
            <a:extLst>
              <a:ext uri="{FF2B5EF4-FFF2-40B4-BE49-F238E27FC236}">
                <a16:creationId xmlns:a16="http://schemas.microsoft.com/office/drawing/2014/main" id="{4676201D-06F6-49ED-96B9-ACA1F950613C}"/>
              </a:ext>
            </a:extLst>
          </p:cNvPr>
          <p:cNvSpPr txBox="1"/>
          <p:nvPr/>
        </p:nvSpPr>
        <p:spPr>
          <a:xfrm>
            <a:off x="150341" y="1480580"/>
            <a:ext cx="4320000" cy="969496"/>
          </a:xfrm>
          <a:prstGeom prst="rect">
            <a:avLst/>
          </a:prstGeom>
          <a:noFill/>
        </p:spPr>
        <p:txBody>
          <a:bodyPr wrap="square" rtlCol="0">
            <a:spAutoFit/>
          </a:bodyPr>
          <a:lstStyle/>
          <a:p>
            <a:pPr algn="ctr">
              <a:spcAft>
                <a:spcPts val="200"/>
              </a:spcAft>
            </a:pPr>
            <a:r>
              <a:rPr lang="es-AR" sz="1400" b="1" dirty="0">
                <a:latin typeface="Times New Roman" panose="02020603050405020304" pitchFamily="18" charset="0"/>
                <a:ea typeface="Times New Roman" panose="02020603050405020304" pitchFamily="18" charset="0"/>
              </a:rPr>
              <a:t>¡ MUCHAS GRACIAS !</a:t>
            </a:r>
          </a:p>
          <a:p>
            <a:pPr algn="ctr">
              <a:spcAft>
                <a:spcPts val="200"/>
              </a:spcAft>
            </a:pPr>
            <a:endParaRPr lang="es-AR" sz="1400" dirty="0">
              <a:latin typeface="Times New Roman" panose="02020603050405020304" pitchFamily="18" charset="0"/>
              <a:ea typeface="Times New Roman" panose="02020603050405020304" pitchFamily="18" charset="0"/>
            </a:endParaRPr>
          </a:p>
          <a:p>
            <a:pPr algn="ctr">
              <a:spcAft>
                <a:spcPts val="200"/>
              </a:spcAft>
            </a:pPr>
            <a:r>
              <a:rPr lang="es-AR" sz="1200" dirty="0">
                <a:latin typeface="Times New Roman" panose="02020603050405020304" pitchFamily="18" charset="0"/>
                <a:ea typeface="Times New Roman" panose="02020603050405020304" pitchFamily="18" charset="0"/>
              </a:rPr>
              <a:t>Juan Menduiña</a:t>
            </a:r>
          </a:p>
          <a:p>
            <a:pPr algn="ctr">
              <a:spcAft>
                <a:spcPts val="200"/>
              </a:spcAft>
            </a:pPr>
            <a:r>
              <a:rPr lang="es-AR" sz="1000" dirty="0">
                <a:effectLst/>
                <a:latin typeface="Times New Roman" panose="02020603050405020304" pitchFamily="18" charset="0"/>
                <a:ea typeface="Times New Roman" panose="02020603050405020304" pitchFamily="18" charset="0"/>
                <a:hlinkClick r:id="rId3"/>
              </a:rPr>
              <a:t>menduinajuan@gmail.com</a:t>
            </a:r>
            <a:endParaRPr lang="es-AR" sz="1000" dirty="0">
              <a:effectLst/>
              <a:latin typeface="Times New Roman" panose="02020603050405020304" pitchFamily="18" charset="0"/>
              <a:ea typeface="Times New Roman" panose="02020603050405020304" pitchFamily="18" charset="0"/>
            </a:endParaRPr>
          </a:p>
        </p:txBody>
      </p:sp>
      <p:sp>
        <p:nvSpPr>
          <p:cNvPr id="39" name="object 47">
            <a:extLst>
              <a:ext uri="{FF2B5EF4-FFF2-40B4-BE49-F238E27FC236}">
                <a16:creationId xmlns:a16="http://schemas.microsoft.com/office/drawing/2014/main" id="{B21BA7C6-EA13-23E2-4510-EF2C0946F4AA}"/>
              </a:ext>
            </a:extLst>
          </p:cNvPr>
          <p:cNvSpPr/>
          <p:nvPr/>
        </p:nvSpPr>
        <p:spPr>
          <a:xfrm>
            <a:off x="0"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000000"/>
          </a:solidFill>
        </p:spPr>
        <p:txBody>
          <a:bodyPr wrap="square" lIns="0" tIns="0" rIns="0" bIns="0" rtlCol="0"/>
          <a:lstStyle/>
          <a:p>
            <a:endParaRPr dirty="0"/>
          </a:p>
        </p:txBody>
      </p:sp>
      <p:sp>
        <p:nvSpPr>
          <p:cNvPr id="40" name="object 48">
            <a:extLst>
              <a:ext uri="{FF2B5EF4-FFF2-40B4-BE49-F238E27FC236}">
                <a16:creationId xmlns:a16="http://schemas.microsoft.com/office/drawing/2014/main" id="{61BC24C1-1702-BC1B-0FA3-C244FC669440}"/>
              </a:ext>
            </a:extLst>
          </p:cNvPr>
          <p:cNvSpPr/>
          <p:nvPr/>
        </p:nvSpPr>
        <p:spPr>
          <a:xfrm>
            <a:off x="2308639" y="3352986"/>
            <a:ext cx="2307600" cy="108000"/>
          </a:xfrm>
          <a:custGeom>
            <a:avLst/>
            <a:gdLst/>
            <a:ahLst/>
            <a:cxnLst/>
            <a:rect l="l" t="t" r="r" b="b"/>
            <a:pathLst>
              <a:path w="2304415" h="122554">
                <a:moveTo>
                  <a:pt x="0" y="122389"/>
                </a:moveTo>
                <a:lnTo>
                  <a:pt x="2303995" y="122389"/>
                </a:lnTo>
                <a:lnTo>
                  <a:pt x="2303995" y="0"/>
                </a:lnTo>
                <a:lnTo>
                  <a:pt x="0" y="0"/>
                </a:lnTo>
                <a:lnTo>
                  <a:pt x="0" y="122389"/>
                </a:lnTo>
                <a:close/>
              </a:path>
            </a:pathLst>
          </a:custGeom>
          <a:solidFill>
            <a:srgbClr val="3333B2"/>
          </a:solidFill>
        </p:spPr>
        <p:txBody>
          <a:bodyPr wrap="square" lIns="0" tIns="0" rIns="0" bIns="0" rtlCol="0"/>
          <a:lstStyle/>
          <a:p>
            <a:endParaRPr dirty="0"/>
          </a:p>
        </p:txBody>
      </p:sp>
      <p:sp>
        <p:nvSpPr>
          <p:cNvPr id="41" name="object 49">
            <a:extLst>
              <a:ext uri="{FF2B5EF4-FFF2-40B4-BE49-F238E27FC236}">
                <a16:creationId xmlns:a16="http://schemas.microsoft.com/office/drawing/2014/main" id="{38EB109D-FF62-6767-19E8-09784B076D7B}"/>
              </a:ext>
            </a:extLst>
          </p:cNvPr>
          <p:cNvSpPr txBox="1">
            <a:spLocks noGrp="1"/>
          </p:cNvSpPr>
          <p:nvPr>
            <p:ph type="ftr" sz="quarter" idx="5"/>
          </p:nvPr>
        </p:nvSpPr>
        <p:spPr>
          <a:xfrm>
            <a:off x="1317404" y="3358648"/>
            <a:ext cx="991235" cy="89768"/>
          </a:xfrm>
          <a:prstGeom prst="rect">
            <a:avLst/>
          </a:prstGeom>
        </p:spPr>
        <p:txBody>
          <a:bodyPr vert="horz" wrap="square" lIns="0" tIns="0" rIns="0" bIns="0" rtlCol="0">
            <a:spAutoFit/>
          </a:bodyPr>
          <a:lstStyle/>
          <a:p>
            <a:pPr marL="12700" algn="ctr">
              <a:lnSpc>
                <a:spcPts val="655"/>
              </a:lnSpc>
            </a:pPr>
            <a:r>
              <a:rPr lang="es-AR" sz="600" spc="70" dirty="0"/>
              <a:t>Juan Menduiña</a:t>
            </a:r>
            <a:endParaRPr sz="600" spc="65" dirty="0"/>
          </a:p>
        </p:txBody>
      </p:sp>
      <p:sp>
        <p:nvSpPr>
          <p:cNvPr id="42" name="object 51">
            <a:extLst>
              <a:ext uri="{FF2B5EF4-FFF2-40B4-BE49-F238E27FC236}">
                <a16:creationId xmlns:a16="http://schemas.microsoft.com/office/drawing/2014/main" id="{0F4741BD-2A40-7FAA-33F6-F1615BD7871E}"/>
              </a:ext>
            </a:extLst>
          </p:cNvPr>
          <p:cNvSpPr txBox="1">
            <a:spLocks noGrp="1"/>
          </p:cNvSpPr>
          <p:nvPr>
            <p:ph type="sldNum" sz="quarter" idx="7"/>
          </p:nvPr>
        </p:nvSpPr>
        <p:spPr>
          <a:xfrm>
            <a:off x="4155838" y="3358648"/>
            <a:ext cx="461440" cy="89768"/>
          </a:xfrm>
          <a:prstGeom prst="rect">
            <a:avLst/>
          </a:prstGeom>
        </p:spPr>
        <p:txBody>
          <a:bodyPr vert="horz" wrap="square" lIns="0" tIns="0" rIns="0" bIns="0" rtlCol="0">
            <a:spAutoFit/>
          </a:bodyPr>
          <a:lstStyle/>
          <a:p>
            <a:pPr marL="25400" algn="ctr">
              <a:lnSpc>
                <a:spcPts val="655"/>
              </a:lnSpc>
            </a:pPr>
            <a:r>
              <a:rPr lang="es-AR" sz="600" spc="75" dirty="0"/>
              <a:t>19 / </a:t>
            </a:r>
            <a:r>
              <a:rPr lang="es-AR" sz="600" spc="195" dirty="0"/>
              <a:t>19</a:t>
            </a:r>
            <a:endParaRPr spc="75" dirty="0"/>
          </a:p>
        </p:txBody>
      </p:sp>
    </p:spTree>
    <p:extLst>
      <p:ext uri="{BB962C8B-B14F-4D97-AF65-F5344CB8AC3E}">
        <p14:creationId xmlns:p14="http://schemas.microsoft.com/office/powerpoint/2010/main" val="3497029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5326</TotalTime>
  <Words>4816</Words>
  <Application>Microsoft Office PowerPoint</Application>
  <PresentationFormat>Personalizado</PresentationFormat>
  <Paragraphs>240</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Calibri</vt:lpstr>
      <vt:lpstr>Cambria Math</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Menduiña</dc:creator>
  <cp:lastModifiedBy>Juan Ignacio Menduiña</cp:lastModifiedBy>
  <cp:revision>672</cp:revision>
  <dcterms:created xsi:type="dcterms:W3CDTF">2020-05-19T00:55:13Z</dcterms:created>
  <dcterms:modified xsi:type="dcterms:W3CDTF">2022-05-16T13:08:00Z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2019-08-01T00:00:00Z</vt:filetime>
  </property>
  <property fmtid="{D5CDD505-2E9C-101B-9397-08002B2CF9AE}" pid="3" name="Creator">
    <vt:lpwstr>LaTeX with Beamer class</vt:lpwstr>
  </property>
  <property fmtid="{D5CDD505-2E9C-101B-9397-08002B2CF9AE}" pid="4" name="LastSaved">
    <vt:filetime>2020-05-19T00:00:00Z</vt:filetime>
  </property>
</Properties>
</file>